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92" r:id="rId2"/>
    <p:sldId id="276" r:id="rId3"/>
    <p:sldId id="290" r:id="rId4"/>
    <p:sldId id="261" r:id="rId5"/>
    <p:sldId id="303" r:id="rId6"/>
    <p:sldId id="311" r:id="rId7"/>
    <p:sldId id="298" r:id="rId8"/>
    <p:sldId id="293" r:id="rId9"/>
    <p:sldId id="283" r:id="rId10"/>
    <p:sldId id="304" r:id="rId11"/>
    <p:sldId id="282" r:id="rId12"/>
    <p:sldId id="287" r:id="rId13"/>
    <p:sldId id="305" r:id="rId14"/>
    <p:sldId id="306" r:id="rId15"/>
    <p:sldId id="307" r:id="rId16"/>
    <p:sldId id="294" r:id="rId17"/>
    <p:sldId id="299" r:id="rId18"/>
    <p:sldId id="309" r:id="rId19"/>
    <p:sldId id="310" r:id="rId20"/>
    <p:sldId id="319" r:id="rId21"/>
    <p:sldId id="312" r:id="rId22"/>
    <p:sldId id="300" r:id="rId23"/>
    <p:sldId id="313" r:id="rId24"/>
    <p:sldId id="314" r:id="rId25"/>
    <p:sldId id="318" r:id="rId26"/>
    <p:sldId id="321" r:id="rId27"/>
    <p:sldId id="308" r:id="rId28"/>
    <p:sldId id="322" r:id="rId29"/>
    <p:sldId id="315" r:id="rId30"/>
    <p:sldId id="316" r:id="rId31"/>
    <p:sldId id="317" r:id="rId32"/>
    <p:sldId id="295" r:id="rId33"/>
    <p:sldId id="281" r:id="rId34"/>
    <p:sldId id="320" r:id="rId35"/>
    <p:sldId id="324" r:id="rId36"/>
    <p:sldId id="273" r:id="rId37"/>
  </p:sldIdLst>
  <p:sldSz cx="9144000" cy="5143500" type="screen16x9"/>
  <p:notesSz cx="9144000" cy="51435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8A7F2-04B2-46C6-CEEB-768004FC526A}" v="480" dt="2025-01-14T16:28:57.913"/>
    <p1510:client id="{28C0B537-2BA8-B83E-3DA1-66C5F837B3F5}" v="15" dt="2025-01-14T09:30:12.711"/>
    <p1510:client id="{2DEF6C62-B744-41DB-F274-60DBC8F4E77B}" v="304" dt="2025-01-14T09:09:18.380"/>
    <p1510:client id="{31E8ED7B-F0DC-5D6F-3EAF-52AF70E2B962}" v="225" dt="2025-01-14T17:24:54.090"/>
    <p1510:client id="{45DB416A-9D2A-6ECC-7A4C-3200267B65BC}" v="10" dt="2025-01-14T18:58:49.429"/>
    <p1510:client id="{5F74D5CB-A1FB-5BD7-B911-6862BFF96281}" v="26" dt="2025-01-14T20:11:54.527"/>
    <p1510:client id="{65C688FA-9073-9DC1-D399-86D8B0A0EC82}" v="22" dt="2025-01-14T18:39:12.041"/>
    <p1510:client id="{68EAD68B-96A9-B32B-A166-89B7D62418A6}" v="81" dt="2025-01-14T13:31:52.885"/>
    <p1510:client id="{6AD7F139-5E39-8772-B07E-69E77E16E31F}" v="373" dt="2025-01-14T18:45:53.800"/>
    <p1510:client id="{7A68A902-2ACD-1CAF-E86A-3736EDB8A16B}" v="232" dt="2025-01-14T15:52:56.095"/>
    <p1510:client id="{80928E30-3A77-6DAC-289F-8090B85E0B23}" v="3" dt="2025-01-14T19:07:09.948"/>
    <p1510:client id="{875CBE9B-4515-11BA-6C9A-87CE1F79D175}" v="4" dt="2025-01-14T18:46:20.616"/>
    <p1510:client id="{8A14DC1E-8067-09A0-E586-E56AB045ADB7}" v="22" dt="2025-01-14T10:48:43.365"/>
    <p1510:client id="{9ACA7160-295C-4ADA-84F3-B1EEA3E3FF0B}" v="55" dt="2025-01-14T19:38:57.395"/>
    <p1510:client id="{9C217298-47AE-BD24-5E40-EDEC022BD410}" v="4" dt="2025-01-14T20:07:18.758"/>
    <p1510:client id="{A0C5E859-5BB3-FE82-BC79-304A6B990C12}" v="506" dt="2025-01-14T10:18:33.785"/>
    <p1510:client id="{A5489AAA-4ECF-5DCA-EF99-C0F9F2F145BC}" v="549" dt="2025-01-14T10:38:54.157"/>
    <p1510:client id="{B49C7AFA-28AE-2B17-E4A7-23C6896D4704}" v="408" dt="2025-01-14T18:37:23.912"/>
    <p1510:client id="{B4DBC5B1-D441-252F-0892-F746276356AD}" v="557" dt="2025-01-14T10:52:18.584"/>
    <p1510:client id="{B8F0BAAE-1E1D-E7F9-D4E5-473131A3CE5B}" v="956" dt="2025-01-14T11:17:09.698"/>
    <p1510:client id="{B9545B4E-1DC9-B160-FDE6-F16956ACAC6C}" v="35" dt="2025-01-14T19:04:38.256"/>
    <p1510:client id="{D31E8AE0-EAD8-540D-13ED-65C65349B4BD}" v="113" dt="2025-01-16T08:20:39.821"/>
    <p1510:client id="{D5447AA0-CAA8-91E9-2C4C-DA2790ED40A3}" v="2" dt="2025-01-14T09:30:36.030"/>
    <p1510:client id="{DA1581FC-2F1C-8EE8-448E-E104610D3EAD}" v="1315" dt="2025-01-14T11:28:51.173"/>
    <p1510:client id="{E4142245-ABA0-F97F-083C-08D7835408D0}" v="4" dt="2025-01-14T19:01:14.428"/>
    <p1510:client id="{F339FE4D-14E6-8DF1-A6BE-F441D05A53B2}" v="33" dt="2025-01-14T09:46:00.4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2518A5-4E0D-402D-9FA3-7036149162D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108F733-A09A-4277-841B-12A43FFBA159}">
      <dgm:prSet/>
      <dgm:spPr/>
      <dgm:t>
        <a:bodyPr/>
        <a:lstStyle/>
        <a:p>
          <a:pPr rtl="0"/>
          <a:r>
            <a:rPr lang="it-IT" dirty="0" err="1">
              <a:latin typeface="Gill Sans MT" panose="020B0502020104020203" pitchFamily="34" charset="0"/>
            </a:rPr>
            <a:t>Introduction</a:t>
          </a:r>
          <a:endParaRPr lang="en-US" dirty="0">
            <a:latin typeface="Gill Sans MT" panose="020B0502020104020203" pitchFamily="34" charset="0"/>
          </a:endParaRPr>
        </a:p>
      </dgm:t>
    </dgm:pt>
    <dgm:pt modelId="{9322C2B1-7F10-4E97-9CA5-43F479D96A9F}" type="parTrans" cxnId="{DF4D45F6-A69F-4426-84D3-09C7BA1087F0}">
      <dgm:prSet/>
      <dgm:spPr/>
      <dgm:t>
        <a:bodyPr/>
        <a:lstStyle/>
        <a:p>
          <a:endParaRPr lang="en-US"/>
        </a:p>
      </dgm:t>
    </dgm:pt>
    <dgm:pt modelId="{AD20D677-7F97-47A9-B7CE-C933B0917D41}" type="sibTrans" cxnId="{DF4D45F6-A69F-4426-84D3-09C7BA1087F0}">
      <dgm:prSet/>
      <dgm:spPr/>
      <dgm:t>
        <a:bodyPr/>
        <a:lstStyle/>
        <a:p>
          <a:endParaRPr lang="en-US"/>
        </a:p>
      </dgm:t>
    </dgm:pt>
    <dgm:pt modelId="{7404313A-FCE1-4714-A09E-88CD111DEAB5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Data </a:t>
          </a:r>
          <a:r>
            <a:rPr lang="it-IT" dirty="0" err="1">
              <a:latin typeface="Gill Sans MT" panose="020B0502020104020203" pitchFamily="34" charset="0"/>
            </a:rPr>
            <a:t>Overview</a:t>
          </a:r>
          <a:endParaRPr lang="it-IT" dirty="0">
            <a:latin typeface="Gill Sans MT" panose="020B0502020104020203" pitchFamily="34" charset="0"/>
          </a:endParaRPr>
        </a:p>
      </dgm:t>
    </dgm:pt>
    <dgm:pt modelId="{AE9C14AA-8AAE-4AEC-8690-6FDC96A634E7}" type="parTrans" cxnId="{2C848349-7E68-49ED-972A-3B17A69D0662}">
      <dgm:prSet/>
      <dgm:spPr/>
      <dgm:t>
        <a:bodyPr/>
        <a:lstStyle/>
        <a:p>
          <a:endParaRPr lang="en-US"/>
        </a:p>
      </dgm:t>
    </dgm:pt>
    <dgm:pt modelId="{7D9E78F9-6C43-4FFF-96D2-1E8250E5102A}" type="sibTrans" cxnId="{2C848349-7E68-49ED-972A-3B17A69D0662}">
      <dgm:prSet/>
      <dgm:spPr/>
      <dgm:t>
        <a:bodyPr/>
        <a:lstStyle/>
        <a:p>
          <a:endParaRPr lang="en-US"/>
        </a:p>
      </dgm:t>
    </dgm:pt>
    <dgm:pt modelId="{53D5092B-DFC9-4C82-8E3A-73799C5F4698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NER Model</a:t>
          </a:r>
          <a:endParaRPr lang="en-US" dirty="0">
            <a:latin typeface="Gill Sans MT" panose="020B0502020104020203" pitchFamily="34" charset="0"/>
          </a:endParaRPr>
        </a:p>
      </dgm:t>
    </dgm:pt>
    <dgm:pt modelId="{1A93C0B7-A171-484D-AFE9-91CAF880C97E}" type="parTrans" cxnId="{8099B7FF-DB0C-42A9-80AE-30EA76ED31EA}">
      <dgm:prSet/>
      <dgm:spPr/>
      <dgm:t>
        <a:bodyPr/>
        <a:lstStyle/>
        <a:p>
          <a:endParaRPr lang="en-US"/>
        </a:p>
      </dgm:t>
    </dgm:pt>
    <dgm:pt modelId="{4DB0651D-E11A-48AC-893D-A38383647C04}" type="sibTrans" cxnId="{8099B7FF-DB0C-42A9-80AE-30EA76ED31EA}">
      <dgm:prSet/>
      <dgm:spPr/>
      <dgm:t>
        <a:bodyPr/>
        <a:lstStyle/>
        <a:p>
          <a:endParaRPr lang="en-US"/>
        </a:p>
      </dgm:t>
    </dgm:pt>
    <dgm:pt modelId="{3B9AAFE3-2976-4676-8A29-3AC3744E9ABA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Data </a:t>
          </a:r>
          <a:r>
            <a:rPr lang="it-IT" dirty="0" err="1">
              <a:latin typeface="Gill Sans MT" panose="020B0502020104020203" pitchFamily="34" charset="0"/>
            </a:rPr>
            <a:t>Augmentation</a:t>
          </a:r>
          <a:endParaRPr lang="en-US" dirty="0">
            <a:latin typeface="Gill Sans MT" panose="020B0502020104020203" pitchFamily="34" charset="0"/>
          </a:endParaRPr>
        </a:p>
      </dgm:t>
    </dgm:pt>
    <dgm:pt modelId="{C4345FF8-DAB9-4F6D-BEAB-F4768E11F222}" type="parTrans" cxnId="{C7B9CF75-E5AB-40BC-B07C-D40E6675C9A6}">
      <dgm:prSet/>
      <dgm:spPr/>
      <dgm:t>
        <a:bodyPr/>
        <a:lstStyle/>
        <a:p>
          <a:endParaRPr lang="en-US"/>
        </a:p>
      </dgm:t>
    </dgm:pt>
    <dgm:pt modelId="{03DD4589-A84F-4BC2-AD45-17FFBB03E0A6}" type="sibTrans" cxnId="{C7B9CF75-E5AB-40BC-B07C-D40E6675C9A6}">
      <dgm:prSet/>
      <dgm:spPr/>
      <dgm:t>
        <a:bodyPr/>
        <a:lstStyle/>
        <a:p>
          <a:endParaRPr lang="en-US"/>
        </a:p>
      </dgm:t>
    </dgm:pt>
    <dgm:pt modelId="{7A608B82-38D5-4A8E-A8A8-D12D8361E90F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RE Model</a:t>
          </a:r>
        </a:p>
      </dgm:t>
    </dgm:pt>
    <dgm:pt modelId="{90300C84-A12F-4664-8344-2E3805C38165}" type="parTrans" cxnId="{BDE2C32E-7932-4476-9C33-285CA5529649}">
      <dgm:prSet/>
      <dgm:spPr/>
      <dgm:t>
        <a:bodyPr/>
        <a:lstStyle/>
        <a:p>
          <a:endParaRPr lang="en-US"/>
        </a:p>
      </dgm:t>
    </dgm:pt>
    <dgm:pt modelId="{45B86B6E-E887-4DDE-9531-B9F7514C79F4}" type="sibTrans" cxnId="{BDE2C32E-7932-4476-9C33-285CA5529649}">
      <dgm:prSet/>
      <dgm:spPr/>
      <dgm:t>
        <a:bodyPr/>
        <a:lstStyle/>
        <a:p>
          <a:endParaRPr lang="en-US"/>
        </a:p>
      </dgm:t>
    </dgm:pt>
    <dgm:pt modelId="{E08A924F-C163-435C-8680-031F79FE78D8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Model Evaluation</a:t>
          </a:r>
        </a:p>
      </dgm:t>
    </dgm:pt>
    <dgm:pt modelId="{B7EE4A2C-4D71-4C7A-AEBD-D50247AB7666}" type="parTrans" cxnId="{66914892-5A34-40BA-9746-8ADC2298A719}">
      <dgm:prSet/>
      <dgm:spPr/>
      <dgm:t>
        <a:bodyPr/>
        <a:lstStyle/>
        <a:p>
          <a:endParaRPr lang="en-US"/>
        </a:p>
      </dgm:t>
    </dgm:pt>
    <dgm:pt modelId="{EA6ACFF6-3180-4F7D-B991-D18C765C4A5C}" type="sibTrans" cxnId="{66914892-5A34-40BA-9746-8ADC2298A719}">
      <dgm:prSet/>
      <dgm:spPr/>
      <dgm:t>
        <a:bodyPr/>
        <a:lstStyle/>
        <a:p>
          <a:endParaRPr lang="en-US"/>
        </a:p>
      </dgm:t>
    </dgm:pt>
    <dgm:pt modelId="{988F5488-A203-40EC-BDC6-B42CB4AECF9A}" type="pres">
      <dgm:prSet presAssocID="{F92518A5-4E0D-402D-9FA3-7036149162D0}" presName="vert0" presStyleCnt="0">
        <dgm:presLayoutVars>
          <dgm:dir/>
          <dgm:animOne val="branch"/>
          <dgm:animLvl val="lvl"/>
        </dgm:presLayoutVars>
      </dgm:prSet>
      <dgm:spPr/>
    </dgm:pt>
    <dgm:pt modelId="{D1D7DC89-64E1-4A11-B475-A4E11FC05423}" type="pres">
      <dgm:prSet presAssocID="{E108F733-A09A-4277-841B-12A43FFBA159}" presName="thickLine" presStyleLbl="alignNode1" presStyleIdx="0" presStyleCnt="6"/>
      <dgm:spPr/>
    </dgm:pt>
    <dgm:pt modelId="{1FFC386E-B11B-4A1E-B476-179A5CBEE2C2}" type="pres">
      <dgm:prSet presAssocID="{E108F733-A09A-4277-841B-12A43FFBA159}" presName="horz1" presStyleCnt="0"/>
      <dgm:spPr/>
    </dgm:pt>
    <dgm:pt modelId="{7AB626CE-126C-410E-8ACA-11D68B7BFF21}" type="pres">
      <dgm:prSet presAssocID="{E108F733-A09A-4277-841B-12A43FFBA159}" presName="tx1" presStyleLbl="revTx" presStyleIdx="0" presStyleCnt="6"/>
      <dgm:spPr/>
    </dgm:pt>
    <dgm:pt modelId="{8FDE7545-D130-45DC-AB95-312A9349C7FE}" type="pres">
      <dgm:prSet presAssocID="{E108F733-A09A-4277-841B-12A43FFBA159}" presName="vert1" presStyleCnt="0"/>
      <dgm:spPr/>
    </dgm:pt>
    <dgm:pt modelId="{E2374BFC-C1B0-4C6F-8636-016093BB1186}" type="pres">
      <dgm:prSet presAssocID="{7404313A-FCE1-4714-A09E-88CD111DEAB5}" presName="thickLine" presStyleLbl="alignNode1" presStyleIdx="1" presStyleCnt="6"/>
      <dgm:spPr/>
    </dgm:pt>
    <dgm:pt modelId="{1792EAC7-FC3B-4374-B2FA-DB82AD998290}" type="pres">
      <dgm:prSet presAssocID="{7404313A-FCE1-4714-A09E-88CD111DEAB5}" presName="horz1" presStyleCnt="0"/>
      <dgm:spPr/>
    </dgm:pt>
    <dgm:pt modelId="{793176B3-75BA-4F41-B5FE-CA9468E15A85}" type="pres">
      <dgm:prSet presAssocID="{7404313A-FCE1-4714-A09E-88CD111DEAB5}" presName="tx1" presStyleLbl="revTx" presStyleIdx="1" presStyleCnt="6"/>
      <dgm:spPr/>
    </dgm:pt>
    <dgm:pt modelId="{480EB5D1-6B00-4E5F-9C55-4FA1B5EB7BB4}" type="pres">
      <dgm:prSet presAssocID="{7404313A-FCE1-4714-A09E-88CD111DEAB5}" presName="vert1" presStyleCnt="0"/>
      <dgm:spPr/>
    </dgm:pt>
    <dgm:pt modelId="{DAE942C9-B6EE-46B6-B0E5-224759E20D1E}" type="pres">
      <dgm:prSet presAssocID="{53D5092B-DFC9-4C82-8E3A-73799C5F4698}" presName="thickLine" presStyleLbl="alignNode1" presStyleIdx="2" presStyleCnt="6"/>
      <dgm:spPr/>
    </dgm:pt>
    <dgm:pt modelId="{08FACC7B-9E5E-4405-9DA6-4BDB9D514878}" type="pres">
      <dgm:prSet presAssocID="{53D5092B-DFC9-4C82-8E3A-73799C5F4698}" presName="horz1" presStyleCnt="0"/>
      <dgm:spPr/>
    </dgm:pt>
    <dgm:pt modelId="{2ABF4439-26CB-48C3-A110-D9C31C0AD07B}" type="pres">
      <dgm:prSet presAssocID="{53D5092B-DFC9-4C82-8E3A-73799C5F4698}" presName="tx1" presStyleLbl="revTx" presStyleIdx="2" presStyleCnt="6"/>
      <dgm:spPr/>
    </dgm:pt>
    <dgm:pt modelId="{5A34580F-A950-430D-A36C-9A95927ABF06}" type="pres">
      <dgm:prSet presAssocID="{53D5092B-DFC9-4C82-8E3A-73799C5F4698}" presName="vert1" presStyleCnt="0"/>
      <dgm:spPr/>
    </dgm:pt>
    <dgm:pt modelId="{90032318-E746-4592-A02C-F8E18F9DE133}" type="pres">
      <dgm:prSet presAssocID="{3B9AAFE3-2976-4676-8A29-3AC3744E9ABA}" presName="thickLine" presStyleLbl="alignNode1" presStyleIdx="3" presStyleCnt="6"/>
      <dgm:spPr/>
    </dgm:pt>
    <dgm:pt modelId="{C644E65D-CD62-4CC8-BA11-C0653AB01727}" type="pres">
      <dgm:prSet presAssocID="{3B9AAFE3-2976-4676-8A29-3AC3744E9ABA}" presName="horz1" presStyleCnt="0"/>
      <dgm:spPr/>
    </dgm:pt>
    <dgm:pt modelId="{7F0F54F7-9F7B-45DD-A1D2-A93E7100D731}" type="pres">
      <dgm:prSet presAssocID="{3B9AAFE3-2976-4676-8A29-3AC3744E9ABA}" presName="tx1" presStyleLbl="revTx" presStyleIdx="3" presStyleCnt="6"/>
      <dgm:spPr/>
    </dgm:pt>
    <dgm:pt modelId="{EDACDCB8-6713-4252-B5FB-95D816F633EE}" type="pres">
      <dgm:prSet presAssocID="{3B9AAFE3-2976-4676-8A29-3AC3744E9ABA}" presName="vert1" presStyleCnt="0"/>
      <dgm:spPr/>
    </dgm:pt>
    <dgm:pt modelId="{2238FAAD-F38B-4182-A7ED-2C0CFB80B353}" type="pres">
      <dgm:prSet presAssocID="{7A608B82-38D5-4A8E-A8A8-D12D8361E90F}" presName="thickLine" presStyleLbl="alignNode1" presStyleIdx="4" presStyleCnt="6"/>
      <dgm:spPr/>
    </dgm:pt>
    <dgm:pt modelId="{3062AC00-1C07-4B35-8D48-866277DF0126}" type="pres">
      <dgm:prSet presAssocID="{7A608B82-38D5-4A8E-A8A8-D12D8361E90F}" presName="horz1" presStyleCnt="0"/>
      <dgm:spPr/>
    </dgm:pt>
    <dgm:pt modelId="{C52A4A07-180A-48F7-A6E3-62D94EEFEDCA}" type="pres">
      <dgm:prSet presAssocID="{7A608B82-38D5-4A8E-A8A8-D12D8361E90F}" presName="tx1" presStyleLbl="revTx" presStyleIdx="4" presStyleCnt="6"/>
      <dgm:spPr/>
    </dgm:pt>
    <dgm:pt modelId="{D7C805F8-6643-45B8-B4F0-E35FC9161194}" type="pres">
      <dgm:prSet presAssocID="{7A608B82-38D5-4A8E-A8A8-D12D8361E90F}" presName="vert1" presStyleCnt="0"/>
      <dgm:spPr/>
    </dgm:pt>
    <dgm:pt modelId="{1CCDE934-D83E-4968-B318-6B56F3F38406}" type="pres">
      <dgm:prSet presAssocID="{E08A924F-C163-435C-8680-031F79FE78D8}" presName="thickLine" presStyleLbl="alignNode1" presStyleIdx="5" presStyleCnt="6"/>
      <dgm:spPr/>
    </dgm:pt>
    <dgm:pt modelId="{8F4A7B43-1B56-4C1B-8A83-BCFDDE76B59D}" type="pres">
      <dgm:prSet presAssocID="{E08A924F-C163-435C-8680-031F79FE78D8}" presName="horz1" presStyleCnt="0"/>
      <dgm:spPr/>
    </dgm:pt>
    <dgm:pt modelId="{46AAC4F3-7621-4039-8E98-9912AEFCA0EA}" type="pres">
      <dgm:prSet presAssocID="{E08A924F-C163-435C-8680-031F79FE78D8}" presName="tx1" presStyleLbl="revTx" presStyleIdx="5" presStyleCnt="6"/>
      <dgm:spPr/>
    </dgm:pt>
    <dgm:pt modelId="{14388CE9-50AD-4A2B-8127-3012A84CE7EA}" type="pres">
      <dgm:prSet presAssocID="{E08A924F-C163-435C-8680-031F79FE78D8}" presName="vert1" presStyleCnt="0"/>
      <dgm:spPr/>
    </dgm:pt>
  </dgm:ptLst>
  <dgm:cxnLst>
    <dgm:cxn modelId="{08B1950E-C8CF-4542-AC4C-1336D4BA66CA}" type="presOf" srcId="{7404313A-FCE1-4714-A09E-88CD111DEAB5}" destId="{793176B3-75BA-4F41-B5FE-CA9468E15A85}" srcOrd="0" destOrd="0" presId="urn:microsoft.com/office/officeart/2008/layout/LinedList"/>
    <dgm:cxn modelId="{722EA714-2846-454F-8E41-A08372C4B264}" type="presOf" srcId="{53D5092B-DFC9-4C82-8E3A-73799C5F4698}" destId="{2ABF4439-26CB-48C3-A110-D9C31C0AD07B}" srcOrd="0" destOrd="0" presId="urn:microsoft.com/office/officeart/2008/layout/LinedList"/>
    <dgm:cxn modelId="{BDE2C32E-7932-4476-9C33-285CA5529649}" srcId="{F92518A5-4E0D-402D-9FA3-7036149162D0}" destId="{7A608B82-38D5-4A8E-A8A8-D12D8361E90F}" srcOrd="4" destOrd="0" parTransId="{90300C84-A12F-4664-8344-2E3805C38165}" sibTransId="{45B86B6E-E887-4DDE-9531-B9F7514C79F4}"/>
    <dgm:cxn modelId="{2C848349-7E68-49ED-972A-3B17A69D0662}" srcId="{F92518A5-4E0D-402D-9FA3-7036149162D0}" destId="{7404313A-FCE1-4714-A09E-88CD111DEAB5}" srcOrd="1" destOrd="0" parTransId="{AE9C14AA-8AAE-4AEC-8690-6FDC96A634E7}" sibTransId="{7D9E78F9-6C43-4FFF-96D2-1E8250E5102A}"/>
    <dgm:cxn modelId="{C7B9CF75-E5AB-40BC-B07C-D40E6675C9A6}" srcId="{F92518A5-4E0D-402D-9FA3-7036149162D0}" destId="{3B9AAFE3-2976-4676-8A29-3AC3744E9ABA}" srcOrd="3" destOrd="0" parTransId="{C4345FF8-DAB9-4F6D-BEAB-F4768E11F222}" sibTransId="{03DD4589-A84F-4BC2-AD45-17FFBB03E0A6}"/>
    <dgm:cxn modelId="{206C4856-B442-4B4D-B98B-C6013CDBCC96}" type="presOf" srcId="{E08A924F-C163-435C-8680-031F79FE78D8}" destId="{46AAC4F3-7621-4039-8E98-9912AEFCA0EA}" srcOrd="0" destOrd="0" presId="urn:microsoft.com/office/officeart/2008/layout/LinedList"/>
    <dgm:cxn modelId="{66914892-5A34-40BA-9746-8ADC2298A719}" srcId="{F92518A5-4E0D-402D-9FA3-7036149162D0}" destId="{E08A924F-C163-435C-8680-031F79FE78D8}" srcOrd="5" destOrd="0" parTransId="{B7EE4A2C-4D71-4C7A-AEBD-D50247AB7666}" sibTransId="{EA6ACFF6-3180-4F7D-B991-D18C765C4A5C}"/>
    <dgm:cxn modelId="{14295DB8-4979-4721-A9B1-CAF3F6DC09AC}" type="presOf" srcId="{F92518A5-4E0D-402D-9FA3-7036149162D0}" destId="{988F5488-A203-40EC-BDC6-B42CB4AECF9A}" srcOrd="0" destOrd="0" presId="urn:microsoft.com/office/officeart/2008/layout/LinedList"/>
    <dgm:cxn modelId="{D5DA0AD8-566F-469E-BBA8-D66FA24885B7}" type="presOf" srcId="{3B9AAFE3-2976-4676-8A29-3AC3744E9ABA}" destId="{7F0F54F7-9F7B-45DD-A1D2-A93E7100D731}" srcOrd="0" destOrd="0" presId="urn:microsoft.com/office/officeart/2008/layout/LinedList"/>
    <dgm:cxn modelId="{D7E2B5E6-7796-460F-B604-D3F6404D854E}" type="presOf" srcId="{E108F733-A09A-4277-841B-12A43FFBA159}" destId="{7AB626CE-126C-410E-8ACA-11D68B7BFF21}" srcOrd="0" destOrd="0" presId="urn:microsoft.com/office/officeart/2008/layout/LinedList"/>
    <dgm:cxn modelId="{DF4D45F6-A69F-4426-84D3-09C7BA1087F0}" srcId="{F92518A5-4E0D-402D-9FA3-7036149162D0}" destId="{E108F733-A09A-4277-841B-12A43FFBA159}" srcOrd="0" destOrd="0" parTransId="{9322C2B1-7F10-4E97-9CA5-43F479D96A9F}" sibTransId="{AD20D677-7F97-47A9-B7CE-C933B0917D41}"/>
    <dgm:cxn modelId="{CB5650F8-926C-4936-905F-B0B483164A7B}" type="presOf" srcId="{7A608B82-38D5-4A8E-A8A8-D12D8361E90F}" destId="{C52A4A07-180A-48F7-A6E3-62D94EEFEDCA}" srcOrd="0" destOrd="0" presId="urn:microsoft.com/office/officeart/2008/layout/LinedList"/>
    <dgm:cxn modelId="{8099B7FF-DB0C-42A9-80AE-30EA76ED31EA}" srcId="{F92518A5-4E0D-402D-9FA3-7036149162D0}" destId="{53D5092B-DFC9-4C82-8E3A-73799C5F4698}" srcOrd="2" destOrd="0" parTransId="{1A93C0B7-A171-484D-AFE9-91CAF880C97E}" sibTransId="{4DB0651D-E11A-48AC-893D-A38383647C04}"/>
    <dgm:cxn modelId="{C784AD46-5A68-4058-B341-6EA8D1B2C3E3}" type="presParOf" srcId="{988F5488-A203-40EC-BDC6-B42CB4AECF9A}" destId="{D1D7DC89-64E1-4A11-B475-A4E11FC05423}" srcOrd="0" destOrd="0" presId="urn:microsoft.com/office/officeart/2008/layout/LinedList"/>
    <dgm:cxn modelId="{A7795D6C-E211-4293-A3D9-32729125837A}" type="presParOf" srcId="{988F5488-A203-40EC-BDC6-B42CB4AECF9A}" destId="{1FFC386E-B11B-4A1E-B476-179A5CBEE2C2}" srcOrd="1" destOrd="0" presId="urn:microsoft.com/office/officeart/2008/layout/LinedList"/>
    <dgm:cxn modelId="{EC3844F0-8F2C-4FF7-A9EB-2F60F7E6FC82}" type="presParOf" srcId="{1FFC386E-B11B-4A1E-B476-179A5CBEE2C2}" destId="{7AB626CE-126C-410E-8ACA-11D68B7BFF21}" srcOrd="0" destOrd="0" presId="urn:microsoft.com/office/officeart/2008/layout/LinedList"/>
    <dgm:cxn modelId="{1272BD49-B68B-4F68-9137-5039E505DF2B}" type="presParOf" srcId="{1FFC386E-B11B-4A1E-B476-179A5CBEE2C2}" destId="{8FDE7545-D130-45DC-AB95-312A9349C7FE}" srcOrd="1" destOrd="0" presId="urn:microsoft.com/office/officeart/2008/layout/LinedList"/>
    <dgm:cxn modelId="{83B58554-20FB-4933-A501-EEB80B2E0CC2}" type="presParOf" srcId="{988F5488-A203-40EC-BDC6-B42CB4AECF9A}" destId="{E2374BFC-C1B0-4C6F-8636-016093BB1186}" srcOrd="2" destOrd="0" presId="urn:microsoft.com/office/officeart/2008/layout/LinedList"/>
    <dgm:cxn modelId="{A221BA7C-61AA-4B3D-890B-7F802A562035}" type="presParOf" srcId="{988F5488-A203-40EC-BDC6-B42CB4AECF9A}" destId="{1792EAC7-FC3B-4374-B2FA-DB82AD998290}" srcOrd="3" destOrd="0" presId="urn:microsoft.com/office/officeart/2008/layout/LinedList"/>
    <dgm:cxn modelId="{B541BABC-12CC-4BED-BFD6-E4CC260E86E4}" type="presParOf" srcId="{1792EAC7-FC3B-4374-B2FA-DB82AD998290}" destId="{793176B3-75BA-4F41-B5FE-CA9468E15A85}" srcOrd="0" destOrd="0" presId="urn:microsoft.com/office/officeart/2008/layout/LinedList"/>
    <dgm:cxn modelId="{B330F02F-5FB9-4D02-AA12-4E247E94F0BA}" type="presParOf" srcId="{1792EAC7-FC3B-4374-B2FA-DB82AD998290}" destId="{480EB5D1-6B00-4E5F-9C55-4FA1B5EB7BB4}" srcOrd="1" destOrd="0" presId="urn:microsoft.com/office/officeart/2008/layout/LinedList"/>
    <dgm:cxn modelId="{DAC1A277-D68A-4138-9B77-8B10E0853E14}" type="presParOf" srcId="{988F5488-A203-40EC-BDC6-B42CB4AECF9A}" destId="{DAE942C9-B6EE-46B6-B0E5-224759E20D1E}" srcOrd="4" destOrd="0" presId="urn:microsoft.com/office/officeart/2008/layout/LinedList"/>
    <dgm:cxn modelId="{C008CC55-397F-46D0-BE20-0566659B60EA}" type="presParOf" srcId="{988F5488-A203-40EC-BDC6-B42CB4AECF9A}" destId="{08FACC7B-9E5E-4405-9DA6-4BDB9D514878}" srcOrd="5" destOrd="0" presId="urn:microsoft.com/office/officeart/2008/layout/LinedList"/>
    <dgm:cxn modelId="{E0613870-F51E-4B90-ADAD-E9C1BFBCEBBF}" type="presParOf" srcId="{08FACC7B-9E5E-4405-9DA6-4BDB9D514878}" destId="{2ABF4439-26CB-48C3-A110-D9C31C0AD07B}" srcOrd="0" destOrd="0" presId="urn:microsoft.com/office/officeart/2008/layout/LinedList"/>
    <dgm:cxn modelId="{55560E38-2F1A-4180-A55F-A2BA676A0D3D}" type="presParOf" srcId="{08FACC7B-9E5E-4405-9DA6-4BDB9D514878}" destId="{5A34580F-A950-430D-A36C-9A95927ABF06}" srcOrd="1" destOrd="0" presId="urn:microsoft.com/office/officeart/2008/layout/LinedList"/>
    <dgm:cxn modelId="{2590FDD4-A5E3-48FE-99A8-1910509E11B1}" type="presParOf" srcId="{988F5488-A203-40EC-BDC6-B42CB4AECF9A}" destId="{90032318-E746-4592-A02C-F8E18F9DE133}" srcOrd="6" destOrd="0" presId="urn:microsoft.com/office/officeart/2008/layout/LinedList"/>
    <dgm:cxn modelId="{6AFF4060-82CA-4E0A-A91A-9219011BD688}" type="presParOf" srcId="{988F5488-A203-40EC-BDC6-B42CB4AECF9A}" destId="{C644E65D-CD62-4CC8-BA11-C0653AB01727}" srcOrd="7" destOrd="0" presId="urn:microsoft.com/office/officeart/2008/layout/LinedList"/>
    <dgm:cxn modelId="{11A6345B-EE7C-46DD-87F7-0E07E346091A}" type="presParOf" srcId="{C644E65D-CD62-4CC8-BA11-C0653AB01727}" destId="{7F0F54F7-9F7B-45DD-A1D2-A93E7100D731}" srcOrd="0" destOrd="0" presId="urn:microsoft.com/office/officeart/2008/layout/LinedList"/>
    <dgm:cxn modelId="{3B1D0C6E-A485-4678-B99E-EDF9AF910A85}" type="presParOf" srcId="{C644E65D-CD62-4CC8-BA11-C0653AB01727}" destId="{EDACDCB8-6713-4252-B5FB-95D816F633EE}" srcOrd="1" destOrd="0" presId="urn:microsoft.com/office/officeart/2008/layout/LinedList"/>
    <dgm:cxn modelId="{E5BBA117-587C-45A1-832A-C4F5D9A48BAF}" type="presParOf" srcId="{988F5488-A203-40EC-BDC6-B42CB4AECF9A}" destId="{2238FAAD-F38B-4182-A7ED-2C0CFB80B353}" srcOrd="8" destOrd="0" presId="urn:microsoft.com/office/officeart/2008/layout/LinedList"/>
    <dgm:cxn modelId="{6FCC17B3-370E-4B25-AC16-2B02137DD924}" type="presParOf" srcId="{988F5488-A203-40EC-BDC6-B42CB4AECF9A}" destId="{3062AC00-1C07-4B35-8D48-866277DF0126}" srcOrd="9" destOrd="0" presId="urn:microsoft.com/office/officeart/2008/layout/LinedList"/>
    <dgm:cxn modelId="{38D1E1D0-DB94-428A-B387-AA25934D20B9}" type="presParOf" srcId="{3062AC00-1C07-4B35-8D48-866277DF0126}" destId="{C52A4A07-180A-48F7-A6E3-62D94EEFEDCA}" srcOrd="0" destOrd="0" presId="urn:microsoft.com/office/officeart/2008/layout/LinedList"/>
    <dgm:cxn modelId="{5A2C4F15-3A1C-45F7-BACB-DB14AD938D1C}" type="presParOf" srcId="{3062AC00-1C07-4B35-8D48-866277DF0126}" destId="{D7C805F8-6643-45B8-B4F0-E35FC9161194}" srcOrd="1" destOrd="0" presId="urn:microsoft.com/office/officeart/2008/layout/LinedList"/>
    <dgm:cxn modelId="{CB1809A7-164D-4B57-8340-FBBC34BA1153}" type="presParOf" srcId="{988F5488-A203-40EC-BDC6-B42CB4AECF9A}" destId="{1CCDE934-D83E-4968-B318-6B56F3F38406}" srcOrd="10" destOrd="0" presId="urn:microsoft.com/office/officeart/2008/layout/LinedList"/>
    <dgm:cxn modelId="{15B959A7-9B7E-4E9F-924F-DD4B0E150F07}" type="presParOf" srcId="{988F5488-A203-40EC-BDC6-B42CB4AECF9A}" destId="{8F4A7B43-1B56-4C1B-8A83-BCFDDE76B59D}" srcOrd="11" destOrd="0" presId="urn:microsoft.com/office/officeart/2008/layout/LinedList"/>
    <dgm:cxn modelId="{2DA78AD2-023B-409B-91F3-306C6BD2AB04}" type="presParOf" srcId="{8F4A7B43-1B56-4C1B-8A83-BCFDDE76B59D}" destId="{46AAC4F3-7621-4039-8E98-9912AEFCA0EA}" srcOrd="0" destOrd="0" presId="urn:microsoft.com/office/officeart/2008/layout/LinedList"/>
    <dgm:cxn modelId="{77BFBC1F-7123-4959-96E5-FC96CC4576FC}" type="presParOf" srcId="{8F4A7B43-1B56-4C1B-8A83-BCFDDE76B59D}" destId="{14388CE9-50AD-4A2B-8127-3012A84CE7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7DC89-64E1-4A11-B475-A4E11FC05423}">
      <dsp:nvSpPr>
        <dsp:cNvPr id="0" name=""/>
        <dsp:cNvSpPr/>
      </dsp:nvSpPr>
      <dsp:spPr>
        <a:xfrm>
          <a:off x="0" y="1879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626CE-126C-410E-8ACA-11D68B7BFF21}">
      <dsp:nvSpPr>
        <dsp:cNvPr id="0" name=""/>
        <dsp:cNvSpPr/>
      </dsp:nvSpPr>
      <dsp:spPr>
        <a:xfrm>
          <a:off x="0" y="1879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 err="1">
              <a:latin typeface="Gill Sans MT" panose="020B0502020104020203" pitchFamily="34" charset="0"/>
            </a:rPr>
            <a:t>Introduction</a:t>
          </a:r>
          <a:endParaRPr lang="en-US" sz="3000" kern="1200" dirty="0">
            <a:latin typeface="Gill Sans MT" panose="020B0502020104020203" pitchFamily="34" charset="0"/>
          </a:endParaRPr>
        </a:p>
      </dsp:txBody>
      <dsp:txXfrm>
        <a:off x="0" y="1879"/>
        <a:ext cx="4611711" cy="640923"/>
      </dsp:txXfrm>
    </dsp:sp>
    <dsp:sp modelId="{E2374BFC-C1B0-4C6F-8636-016093BB1186}">
      <dsp:nvSpPr>
        <dsp:cNvPr id="0" name=""/>
        <dsp:cNvSpPr/>
      </dsp:nvSpPr>
      <dsp:spPr>
        <a:xfrm>
          <a:off x="0" y="642803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176B3-75BA-4F41-B5FE-CA9468E15A85}">
      <dsp:nvSpPr>
        <dsp:cNvPr id="0" name=""/>
        <dsp:cNvSpPr/>
      </dsp:nvSpPr>
      <dsp:spPr>
        <a:xfrm>
          <a:off x="0" y="642803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Data </a:t>
          </a:r>
          <a:r>
            <a:rPr lang="it-IT" sz="3000" kern="1200" dirty="0" err="1">
              <a:latin typeface="Gill Sans MT" panose="020B0502020104020203" pitchFamily="34" charset="0"/>
            </a:rPr>
            <a:t>Overview</a:t>
          </a:r>
          <a:endParaRPr lang="it-IT" sz="3000" kern="1200" dirty="0">
            <a:latin typeface="Gill Sans MT" panose="020B0502020104020203" pitchFamily="34" charset="0"/>
          </a:endParaRPr>
        </a:p>
      </dsp:txBody>
      <dsp:txXfrm>
        <a:off x="0" y="642803"/>
        <a:ext cx="4611711" cy="640923"/>
      </dsp:txXfrm>
    </dsp:sp>
    <dsp:sp modelId="{DAE942C9-B6EE-46B6-B0E5-224759E20D1E}">
      <dsp:nvSpPr>
        <dsp:cNvPr id="0" name=""/>
        <dsp:cNvSpPr/>
      </dsp:nvSpPr>
      <dsp:spPr>
        <a:xfrm>
          <a:off x="0" y="1283727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F4439-26CB-48C3-A110-D9C31C0AD07B}">
      <dsp:nvSpPr>
        <dsp:cNvPr id="0" name=""/>
        <dsp:cNvSpPr/>
      </dsp:nvSpPr>
      <dsp:spPr>
        <a:xfrm>
          <a:off x="0" y="1283727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NER Model</a:t>
          </a:r>
          <a:endParaRPr lang="en-US" sz="3000" kern="1200" dirty="0">
            <a:latin typeface="Gill Sans MT" panose="020B0502020104020203" pitchFamily="34" charset="0"/>
          </a:endParaRPr>
        </a:p>
      </dsp:txBody>
      <dsp:txXfrm>
        <a:off x="0" y="1283727"/>
        <a:ext cx="4611711" cy="640923"/>
      </dsp:txXfrm>
    </dsp:sp>
    <dsp:sp modelId="{90032318-E746-4592-A02C-F8E18F9DE133}">
      <dsp:nvSpPr>
        <dsp:cNvPr id="0" name=""/>
        <dsp:cNvSpPr/>
      </dsp:nvSpPr>
      <dsp:spPr>
        <a:xfrm>
          <a:off x="0" y="1924651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F54F7-9F7B-45DD-A1D2-A93E7100D731}">
      <dsp:nvSpPr>
        <dsp:cNvPr id="0" name=""/>
        <dsp:cNvSpPr/>
      </dsp:nvSpPr>
      <dsp:spPr>
        <a:xfrm>
          <a:off x="0" y="1924651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Data </a:t>
          </a:r>
          <a:r>
            <a:rPr lang="it-IT" sz="3000" kern="1200" dirty="0" err="1">
              <a:latin typeface="Gill Sans MT" panose="020B0502020104020203" pitchFamily="34" charset="0"/>
            </a:rPr>
            <a:t>Augmentation</a:t>
          </a:r>
          <a:endParaRPr lang="en-US" sz="3000" kern="1200" dirty="0">
            <a:latin typeface="Gill Sans MT" panose="020B0502020104020203" pitchFamily="34" charset="0"/>
          </a:endParaRPr>
        </a:p>
      </dsp:txBody>
      <dsp:txXfrm>
        <a:off x="0" y="1924651"/>
        <a:ext cx="4611711" cy="640923"/>
      </dsp:txXfrm>
    </dsp:sp>
    <dsp:sp modelId="{2238FAAD-F38B-4182-A7ED-2C0CFB80B353}">
      <dsp:nvSpPr>
        <dsp:cNvPr id="0" name=""/>
        <dsp:cNvSpPr/>
      </dsp:nvSpPr>
      <dsp:spPr>
        <a:xfrm>
          <a:off x="0" y="2565575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A4A07-180A-48F7-A6E3-62D94EEFEDCA}">
      <dsp:nvSpPr>
        <dsp:cNvPr id="0" name=""/>
        <dsp:cNvSpPr/>
      </dsp:nvSpPr>
      <dsp:spPr>
        <a:xfrm>
          <a:off x="0" y="2565575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RE Model</a:t>
          </a:r>
        </a:p>
      </dsp:txBody>
      <dsp:txXfrm>
        <a:off x="0" y="2565575"/>
        <a:ext cx="4611711" cy="640923"/>
      </dsp:txXfrm>
    </dsp:sp>
    <dsp:sp modelId="{1CCDE934-D83E-4968-B318-6B56F3F38406}">
      <dsp:nvSpPr>
        <dsp:cNvPr id="0" name=""/>
        <dsp:cNvSpPr/>
      </dsp:nvSpPr>
      <dsp:spPr>
        <a:xfrm>
          <a:off x="0" y="3206499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AC4F3-7621-4039-8E98-9912AEFCA0EA}">
      <dsp:nvSpPr>
        <dsp:cNvPr id="0" name=""/>
        <dsp:cNvSpPr/>
      </dsp:nvSpPr>
      <dsp:spPr>
        <a:xfrm>
          <a:off x="0" y="3206499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Model Evaluation</a:t>
          </a:r>
        </a:p>
      </dsp:txBody>
      <dsp:txXfrm>
        <a:off x="0" y="3206499"/>
        <a:ext cx="4611711" cy="640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9EC8B-23A7-4F9D-885D-5C40232F2C05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3D81A-A43B-49EE-BB04-CC5C13F2F77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29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C4043"/>
              </a:solidFill>
              <a:latin typeface="Inter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48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4275-12BE-CDB3-19DF-CCCDC749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5D2E0AB-EF42-0FDB-237F-C23C1647F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B7ACEAA-9CC3-AC63-08D2-36B6CFE14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C4043"/>
              </a:solidFill>
              <a:latin typeface="Inter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DF2EF3-475A-85D8-1A71-4F97D39CE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6767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C4043"/>
              </a:solidFill>
              <a:latin typeface="Inter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014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673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7CAE0-BA93-9DB0-C617-8EEB2DE3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0BF44-1684-1811-64D4-35C600E5E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0FB91-890C-3859-73B4-278C0ACFB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DE456-C68D-CDE6-B271-239660E3B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4968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32059-6699-4834-A032-AB853DF99049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988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5208"/>
            <a:ext cx="8374549" cy="2538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11.08526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github.com/Vezzero/ataupd2425-gain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dei.unipd.it/" TargetMode="External"/><Relationship Id="rId4" Type="http://schemas.openxmlformats.org/officeDocument/2006/relationships/hyperlink" Target="https://www.kaggle.com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lef2025.clef-initiative.eu/index.php?page=Pages/Labs/BioASQ.html" TargetMode="External"/><Relationship Id="rId7" Type="http://schemas.openxmlformats.org/officeDocument/2006/relationships/hyperlink" Target="https://huggingface.co/microsoft/BiomedNLP-BiomedBERT-base-uncased-abstract-fulltext" TargetMode="External"/><Relationship Id="rId2" Type="http://schemas.openxmlformats.org/officeDocument/2006/relationships/hyperlink" Target="https://pubmed.ncbi.nlm.nih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lm.nih.gov/mesh/meshhome.html" TargetMode="External"/><Relationship Id="rId5" Type="http://schemas.openxmlformats.org/officeDocument/2006/relationships/hyperlink" Target="https://huggingface.co/numind/NuNER_Zero" TargetMode="External"/><Relationship Id="rId4" Type="http://schemas.openxmlformats.org/officeDocument/2006/relationships/hyperlink" Target="https://huggingface.co/sentence-transformers/all-mpnet-base-v2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51435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51435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69554-E7A8-07AC-F75E-58F46793E2E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143002" y="1499711"/>
            <a:ext cx="6858000" cy="20730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5400" kern="1200" dirty="0" err="1">
                <a:latin typeface="Gill Sans MT" panose="020B0502020104020203" pitchFamily="34" charset="0"/>
                <a:cs typeface="+mj-cs"/>
              </a:rPr>
              <a:t>GutBrain</a:t>
            </a:r>
            <a:r>
              <a:rPr lang="en-US" sz="5400" kern="1200" dirty="0">
                <a:latin typeface="Gill Sans MT" panose="020B0502020104020203" pitchFamily="34" charset="0"/>
                <a:cs typeface="+mj-cs"/>
              </a:rPr>
              <a:t> Task 6 Challenge: </a:t>
            </a:r>
            <a:br>
              <a:rPr lang="en-US" sz="5400" kern="1200" dirty="0">
                <a:latin typeface="Gill Sans MT" panose="020B0502020104020203" pitchFamily="34" charset="0"/>
                <a:cs typeface="+mj-cs"/>
              </a:rPr>
            </a:br>
            <a:r>
              <a:rPr lang="en-US" sz="5400" kern="1200" dirty="0">
                <a:latin typeface="Gill Sans MT" panose="020B0502020104020203" pitchFamily="34" charset="0"/>
                <a:cs typeface="+mj-cs"/>
              </a:rPr>
              <a:t>NER &amp; RE models</a:t>
            </a:r>
          </a:p>
          <a:p>
            <a:pPr marL="2248535" marR="5080" indent="-2236470" algn="ctr">
              <a:lnSpc>
                <a:spcPts val="2280"/>
              </a:lnSpc>
              <a:spcBef>
                <a:spcPts val="655"/>
              </a:spcBef>
            </a:pPr>
            <a:r>
              <a:rPr lang="it-IT" dirty="0">
                <a:latin typeface="Gill Sans MT" panose="020B0502020104020203" pitchFamily="34" charset="0"/>
                <a:ea typeface="Calibri"/>
                <a:cs typeface="Calibri"/>
              </a:rPr>
              <a:t>ADVANCED TEXT ANALYTICS</a:t>
            </a:r>
            <a:endParaRPr lang="en-US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12700" algn="ctr">
              <a:spcBef>
                <a:spcPts val="100"/>
              </a:spcBef>
            </a:pPr>
            <a:r>
              <a:rPr lang="it-IT" sz="2700" dirty="0">
                <a:latin typeface="Gill Sans MT" panose="020B0502020104020203" pitchFamily="34" charset="0"/>
                <a:ea typeface="Calibri"/>
                <a:cs typeface="Calibri"/>
              </a:rPr>
              <a:t>Prof. Giorgio Maria di Nunzio</a:t>
            </a:r>
            <a:br>
              <a:rPr lang="it-IT" dirty="0">
                <a:latin typeface="+mj-lt"/>
                <a:ea typeface="Calibri"/>
                <a:cs typeface="Calibri"/>
              </a:rPr>
            </a:br>
            <a:br>
              <a:rPr lang="it-IT" dirty="0">
                <a:latin typeface="Calibri"/>
                <a:ea typeface="Calibri"/>
                <a:cs typeface="Calibri"/>
              </a:rPr>
            </a:br>
            <a:r>
              <a:rPr lang="it-IT" sz="1400" kern="1200" dirty="0">
                <a:solidFill>
                  <a:srgbClr val="000000"/>
                </a:solidFill>
                <a:latin typeface="Gill Sans MT" panose="020B0502020104020203" pitchFamily="34" charset="0"/>
                <a:ea typeface="Tahoma"/>
                <a:cs typeface="Tahoma"/>
              </a:rPr>
              <a:t>SAMUEL PIRON</a:t>
            </a:r>
            <a:br>
              <a:rPr lang="it-IT" sz="1400" kern="1200" dirty="0">
                <a:latin typeface="Gill Sans MT" panose="020B0502020104020203" pitchFamily="34" charset="0"/>
                <a:ea typeface="Tahoma"/>
                <a:cs typeface="Tahoma"/>
              </a:rPr>
            </a:br>
            <a:br>
              <a:rPr lang="it-IT" sz="1400" kern="1200" dirty="0">
                <a:latin typeface="Gill Sans MT" panose="020B0502020104020203" pitchFamily="34" charset="0"/>
                <a:ea typeface="Tahoma"/>
                <a:cs typeface="Tahoma"/>
              </a:rPr>
            </a:br>
            <a:r>
              <a:rPr lang="it-IT" sz="1400" kern="1200" dirty="0">
                <a:latin typeface="Gill Sans MT" panose="020B0502020104020203" pitchFamily="34" charset="0"/>
                <a:ea typeface="Tahoma"/>
                <a:cs typeface="Tahoma"/>
              </a:rPr>
              <a:t>10/04/2025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</a:pPr>
            <a:endParaRPr lang="en-US" sz="5400" kern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4143589"/>
            <a:ext cx="3566160" cy="20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2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84350" cy="51435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E0DC3D-21C9-4896-8F44-48519FD5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600"/>
            <a:ext cx="2213403" cy="4178299"/>
          </a:xfrm>
        </p:spPr>
        <p:txBody>
          <a:bodyPr lIns="0" tIns="0" rIns="0" bIns="0">
            <a:normAutofit/>
          </a:bodyPr>
          <a:lstStyle/>
          <a:p>
            <a:r>
              <a:rPr lang="it-IT">
                <a:solidFill>
                  <a:srgbClr val="FFFFFF"/>
                </a:solidFill>
                <a:latin typeface="Gill Sans MT"/>
              </a:rPr>
              <a:t>OVERVIEW</a:t>
            </a:r>
          </a:p>
        </p:txBody>
      </p:sp>
      <p:graphicFrame>
        <p:nvGraphicFramePr>
          <p:cNvPr id="35" name="Segnaposto testo 2">
            <a:extLst>
              <a:ext uri="{FF2B5EF4-FFF2-40B4-BE49-F238E27FC236}">
                <a16:creationId xmlns:a16="http://schemas.microsoft.com/office/drawing/2014/main" id="{9468EC9B-477D-030D-3BD5-FF30E2447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436231"/>
              </p:ext>
            </p:extLst>
          </p:nvPr>
        </p:nvGraphicFramePr>
        <p:xfrm>
          <a:off x="3957175" y="382450"/>
          <a:ext cx="4611711" cy="3849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0FC2A68-9236-DAD8-3D92-3948E864F1FD}"/>
              </a:ext>
            </a:extLst>
          </p:cNvPr>
          <p:cNvSpPr/>
          <p:nvPr/>
        </p:nvSpPr>
        <p:spPr>
          <a:xfrm>
            <a:off x="3957175" y="4231753"/>
            <a:ext cx="4673327" cy="0"/>
          </a:xfrm>
          <a:prstGeom prst="line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DE31950-CE45-A431-7428-FA03FC787DF6}"/>
              </a:ext>
            </a:extLst>
          </p:cNvPr>
          <p:cNvSpPr/>
          <p:nvPr/>
        </p:nvSpPr>
        <p:spPr>
          <a:xfrm flipV="1">
            <a:off x="3957175" y="4767946"/>
            <a:ext cx="4673327" cy="6889"/>
          </a:xfrm>
          <a:prstGeom prst="line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88446-D031-754D-72DA-1C9E9739A6C8}"/>
              </a:ext>
            </a:extLst>
          </p:cNvPr>
          <p:cNvSpPr txBox="1"/>
          <p:nvPr/>
        </p:nvSpPr>
        <p:spPr>
          <a:xfrm>
            <a:off x="3909952" y="4213947"/>
            <a:ext cx="47061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000" dirty="0" err="1">
                <a:latin typeface="Gill Sans MT" panose="020B0502020104020203" pitchFamily="34" charset="0"/>
              </a:rPr>
              <a:t>Conclusion</a:t>
            </a:r>
            <a:r>
              <a:rPr lang="it-IT" sz="3000" dirty="0">
                <a:latin typeface="Gill Sans MT" panose="020B0502020104020203" pitchFamily="34" charset="0"/>
              </a:rPr>
              <a:t>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96932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1. Introduction</a:t>
            </a:r>
            <a:endParaRPr lang="en-US" dirty="0">
              <a:latin typeface="Gill Sans M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10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66081" y="494159"/>
            <a:ext cx="3657341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spc="5" dirty="0">
                <a:latin typeface="Gill Sans MT" panose="020B0502020104020203" pitchFamily="34" charset="0"/>
                <a:ea typeface="+mj-ea"/>
                <a:cs typeface="+mj-cs"/>
              </a:rPr>
              <a:t>Introduction</a:t>
            </a:r>
            <a:endParaRPr lang="en-US" sz="3100" b="1" i="1" kern="1200" spc="-60" dirty="0"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855E228-E157-EF1C-9216-FA936ED972F3}"/>
              </a:ext>
            </a:extLst>
          </p:cNvPr>
          <p:cNvSpPr txBox="1"/>
          <p:nvPr/>
        </p:nvSpPr>
        <p:spPr>
          <a:xfrm>
            <a:off x="4506686" y="1209260"/>
            <a:ext cx="4094129" cy="3144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PubMed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 is a popular website that </a:t>
            </a:r>
            <a:r>
              <a:rPr lang="en-US" b="0" i="0" dirty="0">
                <a:effectLst/>
                <a:latin typeface="Gill Sans MT" panose="020B0502020104020203" pitchFamily="34" charset="0"/>
              </a:rPr>
              <a:t>offers a searchable database of citations and abstracts of biomedical and life sciences literature.</a:t>
            </a:r>
            <a:endParaRPr lang="en-US" dirty="0">
              <a:latin typeface="Gill Sans MT" panose="020B0502020104020203" pitchFamily="34" charset="0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It comprises more than </a:t>
            </a: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38 million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 citations and abstracts.</a:t>
            </a: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From </a:t>
            </a: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1996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, it has been maintained by the National Center for Biotechnology Information (</a:t>
            </a: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NCBI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).</a:t>
            </a:r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1F5A5803-11EB-7682-F791-E8F567B9F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39" y="1522176"/>
            <a:ext cx="3810008" cy="19202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39438-7363-73DC-3711-C2696779CCF9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C44F0-3ED3-2995-E6F8-4A500D5B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250FB82-93BE-DD0E-F60A-9375E2EB4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6CDA190E-A803-8073-53E9-5EA56B78C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9BFD2FB-13AD-BCC7-6E0D-75855DBF168C}"/>
              </a:ext>
            </a:extLst>
          </p:cNvPr>
          <p:cNvSpPr txBox="1"/>
          <p:nvPr/>
        </p:nvSpPr>
        <p:spPr>
          <a:xfrm>
            <a:off x="4724314" y="439578"/>
            <a:ext cx="4336821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spc="5" dirty="0">
                <a:latin typeface="Gill Sans MT" panose="020B0502020104020203" pitchFamily="34" charset="0"/>
                <a:ea typeface="+mj-ea"/>
                <a:cs typeface="+mj-cs"/>
              </a:rPr>
              <a:t>Introduction (II)</a:t>
            </a:r>
            <a:endParaRPr lang="en-US" sz="3100" b="1" i="1" kern="1200" spc="-60" dirty="0"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024CAEC-BC95-9625-6526-34464DE12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E2E6A75-75EC-B781-5D77-C92CE1222A15}"/>
              </a:ext>
            </a:extLst>
          </p:cNvPr>
          <p:cNvSpPr txBox="1"/>
          <p:nvPr/>
        </p:nvSpPr>
        <p:spPr>
          <a:xfrm>
            <a:off x="3927596" y="1256587"/>
            <a:ext cx="4689308" cy="34473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R="5080">
              <a:lnSpc>
                <a:spcPct val="90000"/>
              </a:lnSpc>
              <a:spcBef>
                <a:spcPts val="100"/>
              </a:spcBef>
            </a:pPr>
            <a:r>
              <a:rPr lang="en-US" sz="1600" dirty="0">
                <a:latin typeface="Gill Sans MT" panose="020B0502020104020203" pitchFamily="34" charset="0"/>
              </a:rPr>
              <a:t>The </a:t>
            </a:r>
            <a:r>
              <a:rPr lang="en-US" sz="1600" b="1" dirty="0">
                <a:latin typeface="Gill Sans MT" panose="020B0502020104020203" pitchFamily="34" charset="0"/>
              </a:rPr>
              <a:t>Gut Brain Challenge</a:t>
            </a:r>
            <a:r>
              <a:rPr lang="en-US" sz="1600" dirty="0">
                <a:latin typeface="Gill Sans MT" panose="020B0502020104020203" pitchFamily="34" charset="0"/>
              </a:rPr>
              <a:t> aims to foster the development of </a:t>
            </a:r>
            <a:r>
              <a:rPr lang="en-US" sz="1600" b="1" dirty="0">
                <a:latin typeface="Gill Sans MT" panose="020B0502020104020203" pitchFamily="34" charset="0"/>
              </a:rPr>
              <a:t>Information Extraction </a:t>
            </a:r>
            <a:r>
              <a:rPr lang="en-US" sz="1600" dirty="0">
                <a:latin typeface="Gill Sans MT" panose="020B0502020104020203" pitchFamily="34" charset="0"/>
              </a:rPr>
              <a:t>(IE) systems that support experts by automatically extracting and linking knowledge from scientific literature.</a:t>
            </a:r>
          </a:p>
          <a:p>
            <a:pPr marR="5080">
              <a:lnSpc>
                <a:spcPct val="90000"/>
              </a:lnSpc>
              <a:spcBef>
                <a:spcPts val="100"/>
              </a:spcBef>
            </a:pPr>
            <a:endParaRPr lang="en-US" sz="1600" dirty="0">
              <a:latin typeface="Gill Sans MT" panose="020B0502020104020203" pitchFamily="34" charset="0"/>
            </a:endParaRPr>
          </a:p>
          <a:p>
            <a:pPr marR="5080">
              <a:lnSpc>
                <a:spcPct val="90000"/>
              </a:lnSpc>
              <a:spcBef>
                <a:spcPts val="100"/>
              </a:spcBef>
            </a:pPr>
            <a:r>
              <a:rPr lang="en-US" sz="1600" dirty="0">
                <a:latin typeface="Gill Sans MT" panose="020B0502020104020203" pitchFamily="34" charset="0"/>
              </a:rPr>
              <a:t>The challenge is divided into two main subtasks: </a:t>
            </a:r>
          </a:p>
          <a:p>
            <a:pPr marR="5080">
              <a:lnSpc>
                <a:spcPct val="90000"/>
              </a:lnSpc>
              <a:spcBef>
                <a:spcPts val="100"/>
              </a:spcBef>
            </a:pPr>
            <a:endParaRPr lang="en-US" sz="1600" dirty="0">
              <a:latin typeface="Gill Sans MT" panose="020B0502020104020203" pitchFamily="34" charset="0"/>
            </a:endParaRPr>
          </a:p>
          <a:p>
            <a:pPr marL="28575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Gill Sans MT" panose="020B0502020104020203" pitchFamily="34" charset="0"/>
                <a:ea typeface="Calibri"/>
                <a:cs typeface="Calibri"/>
              </a:rPr>
              <a:t>NER subtask</a:t>
            </a:r>
            <a:r>
              <a:rPr lang="en-US" sz="1600" dirty="0">
                <a:latin typeface="Gill Sans MT" panose="020B0502020104020203" pitchFamily="34" charset="0"/>
                <a:ea typeface="Calibri"/>
                <a:cs typeface="Calibri"/>
              </a:rPr>
              <a:t>:  from PubMed abstracts, the participants are asked to extract named entities about the gut-brain interplay.</a:t>
            </a:r>
          </a:p>
          <a:p>
            <a:pPr marL="28575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6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28575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Gill Sans MT" panose="020B0502020104020203" pitchFamily="34" charset="0"/>
                <a:ea typeface="Calibri"/>
                <a:cs typeface="Calibri"/>
              </a:rPr>
              <a:t>RE subtask</a:t>
            </a:r>
            <a:r>
              <a:rPr lang="en-US" sz="1600" dirty="0">
                <a:latin typeface="Gill Sans MT" panose="020B0502020104020203" pitchFamily="34" charset="0"/>
                <a:ea typeface="Calibri"/>
                <a:cs typeface="Calibri"/>
              </a:rPr>
              <a:t>:  the participants are asked to identify binary and ternary relations between any pair of entities they extract within an abstract.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20E9E-36EA-CA48-B48F-66B64C93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66" y="2038457"/>
            <a:ext cx="1926055" cy="1856017"/>
          </a:xfrm>
          <a:prstGeom prst="rect">
            <a:avLst/>
          </a:prstGeom>
        </p:spPr>
      </p:pic>
      <p:pic>
        <p:nvPicPr>
          <p:cNvPr id="4" name="Picture 3" descr="A key with a city silhouette&#10;&#10;AI-generated content may be incorrect.">
            <a:extLst>
              <a:ext uri="{FF2B5EF4-FFF2-40B4-BE49-F238E27FC236}">
                <a16:creationId xmlns:a16="http://schemas.microsoft.com/office/drawing/2014/main" id="{DFE1D6FB-14FC-1D41-8E3D-DB6C5342B8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96" y="439578"/>
            <a:ext cx="2956269" cy="1581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4FA9BA-A3CC-E2D5-EF45-5218676FBD5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0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37A1F-E246-279B-176C-F0B38CCF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E8F3AB5-065A-52FF-FE92-2AC817428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DF25EF-8A5A-2EA3-1D4E-97612274F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484399-49DF-4A46-2FBA-22D82778F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8F9A026-4B63-65BF-C1B3-11A39C67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DB1912F-E799-AD3B-1299-8DE5D8C5D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E7AB9-DF91-684F-1EB6-964B51AB0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it-IT" sz="3600" kern="1200" dirty="0">
                <a:latin typeface="Gill Sans MT"/>
                <a:ea typeface="Calibri"/>
                <a:cs typeface="Calibri"/>
              </a:rPr>
              <a:t>2</a:t>
            </a:r>
            <a:r>
              <a:rPr lang="en-US" sz="3600" kern="1200" dirty="0">
                <a:latin typeface="Gill Sans MT"/>
                <a:ea typeface="Calibri"/>
                <a:cs typeface="Calibri"/>
              </a:rPr>
              <a:t>. Data Overview</a:t>
            </a:r>
            <a:endParaRPr lang="en-US" dirty="0">
              <a:latin typeface="Gill Sans M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D84814-559F-6BFC-B535-7980E8CEA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04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0646" y="58045"/>
            <a:ext cx="4552590" cy="128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spc="-60" dirty="0">
                <a:latin typeface="Gill Sans MT" panose="020B0502020104020203" pitchFamily="34" charset="0"/>
                <a:ea typeface="+mj-ea"/>
                <a:cs typeface="+mj-cs"/>
              </a:rPr>
              <a:t>Gut Brain 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762" y="1094874"/>
            <a:ext cx="4776474" cy="3567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,Sans-Serif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1270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1500" dirty="0"/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300" dirty="0">
              <a:latin typeface="Gill Sans MT" panose="020B0502020104020203" pitchFamily="34" charset="0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900" dirty="0">
              <a:latin typeface="Gill Sans MT" panose="020B0502020104020203" pitchFamily="34" charset="0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r>
              <a:rPr lang="en-US" sz="2900" dirty="0">
                <a:latin typeface="Gill Sans MT" panose="020B0502020104020203" pitchFamily="34" charset="0"/>
              </a:rPr>
              <a:t>The Gut Brain Dataset is composed of </a:t>
            </a:r>
            <a:r>
              <a:rPr lang="en-US" sz="2900" b="1" dirty="0">
                <a:latin typeface="Gill Sans MT" panose="020B0502020104020203" pitchFamily="34" charset="0"/>
              </a:rPr>
              <a:t>four</a:t>
            </a:r>
            <a:r>
              <a:rPr lang="en-US" sz="2900" dirty="0">
                <a:latin typeface="Gill Sans MT" panose="020B0502020104020203" pitchFamily="34" charset="0"/>
              </a:rPr>
              <a:t> Train collections and </a:t>
            </a:r>
            <a:r>
              <a:rPr lang="en-US" sz="2900" b="1" dirty="0">
                <a:latin typeface="Gill Sans MT" panose="020B0502020104020203" pitchFamily="34" charset="0"/>
              </a:rPr>
              <a:t>one</a:t>
            </a:r>
            <a:r>
              <a:rPr lang="en-US" sz="2900" dirty="0">
                <a:latin typeface="Gill Sans MT" panose="020B0502020104020203" pitchFamily="34" charset="0"/>
              </a:rPr>
              <a:t> Dev Collection:</a:t>
            </a: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900" dirty="0">
              <a:latin typeface="Gill Sans MT" panose="020B0502020104020203" pitchFamily="34" charset="0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Platinum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Gold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Silver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Bronze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9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Each collection is composed of NER-tagged entities with the label, text span, start index, and end index.</a:t>
            </a: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9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It is composed of relations between the NER-tagged entities, in particular binary tag based, ternary tag based, and ternary mention based.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3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9042" y="0"/>
            <a:ext cx="345495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st="317500" dir="5700000" sx="95000" sy="95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2C3530-CC3B-B646-3F5D-11FCA224B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445"/>
          <a:stretch/>
        </p:blipFill>
        <p:spPr>
          <a:xfrm>
            <a:off x="5785354" y="698637"/>
            <a:ext cx="3262331" cy="37462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52181E-B8C0-E3BE-44BB-B85A80B53FCF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79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3. NER Model</a:t>
            </a:r>
            <a:endParaRPr lang="en-US" dirty="0">
              <a:latin typeface="Gill Sans M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64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5E145DF8-B702-D3BC-42C0-F66B1FDD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NER MODEL – </a:t>
            </a:r>
            <a:r>
              <a:rPr lang="it-IT" b="1" dirty="0" err="1">
                <a:latin typeface="Gill Sans MT"/>
              </a:rPr>
              <a:t>GliNER</a:t>
            </a:r>
            <a:r>
              <a:rPr lang="it-IT" b="1" dirty="0">
                <a:latin typeface="Gill Sans MT"/>
              </a:rPr>
              <a:t> (I)</a:t>
            </a:r>
            <a:endParaRPr lang="it-IT" dirty="0">
              <a:latin typeface="Gill Sans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4AB0-3D74-44B7-AF27-BB562F59C72F}"/>
              </a:ext>
            </a:extLst>
          </p:cNvPr>
          <p:cNvSpPr txBox="1"/>
          <p:nvPr/>
        </p:nvSpPr>
        <p:spPr>
          <a:xfrm>
            <a:off x="403247" y="1231307"/>
            <a:ext cx="8708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dirty="0" err="1">
                <a:latin typeface="Gill Sans MT" panose="020B0502020104020203" pitchFamily="34" charset="0"/>
              </a:rPr>
              <a:t>Named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Recognition</a:t>
            </a:r>
            <a:r>
              <a:rPr lang="it-IT" dirty="0">
                <a:latin typeface="Gill Sans MT" panose="020B0502020104020203" pitchFamily="34" charset="0"/>
              </a:rPr>
              <a:t> (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) model </a:t>
            </a:r>
            <a:r>
              <a:rPr lang="it-IT" dirty="0" err="1">
                <a:latin typeface="Gill Sans MT" panose="020B0502020104020203" pitchFamily="34" charset="0"/>
              </a:rPr>
              <a:t>capable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identifying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any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type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b="1" dirty="0" err="1">
                <a:latin typeface="Gill Sans MT" panose="020B0502020104020203" pitchFamily="34" charset="0"/>
              </a:rPr>
              <a:t>Bidirectional</a:t>
            </a:r>
            <a:r>
              <a:rPr lang="it-IT" b="1" dirty="0">
                <a:latin typeface="Gill Sans MT" panose="020B0502020104020203" pitchFamily="34" charset="0"/>
              </a:rPr>
              <a:t> transformer</a:t>
            </a:r>
            <a:r>
              <a:rPr lang="it-IT" dirty="0">
                <a:latin typeface="Gill Sans MT" panose="020B0502020104020203" pitchFamily="34" charset="0"/>
              </a:rPr>
              <a:t> encoder (BERT-like).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provides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dirty="0" err="1">
                <a:latin typeface="Gill Sans MT" panose="020B0502020104020203" pitchFamily="34" charset="0"/>
              </a:rPr>
              <a:t>practical</a:t>
            </a:r>
            <a:r>
              <a:rPr lang="it-IT" dirty="0">
                <a:latin typeface="Gill Sans MT" panose="020B0502020104020203" pitchFamily="34" charset="0"/>
              </a:rPr>
              <a:t> alternative to </a:t>
            </a:r>
            <a:r>
              <a:rPr lang="it-IT" dirty="0" err="1">
                <a:latin typeface="Gill Sans MT" panose="020B0502020104020203" pitchFamily="34" charset="0"/>
              </a:rPr>
              <a:t>traditional</a:t>
            </a:r>
            <a:r>
              <a:rPr lang="it-IT" dirty="0">
                <a:latin typeface="Gill Sans MT" panose="020B0502020104020203" pitchFamily="34" charset="0"/>
              </a:rPr>
              <a:t> NER models, </a:t>
            </a:r>
            <a:r>
              <a:rPr lang="it-IT" dirty="0" err="1">
                <a:latin typeface="Gill Sans MT" panose="020B0502020104020203" pitchFamily="34" charset="0"/>
              </a:rPr>
              <a:t>which</a:t>
            </a:r>
            <a:r>
              <a:rPr lang="it-IT" dirty="0">
                <a:latin typeface="Gill Sans MT" panose="020B0502020104020203" pitchFamily="34" charset="0"/>
              </a:rPr>
              <a:t> are limited to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predefined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, and Large Language Models (</a:t>
            </a:r>
            <a:r>
              <a:rPr lang="it-IT" dirty="0" err="1">
                <a:latin typeface="Gill Sans MT" panose="020B0502020104020203" pitchFamily="34" charset="0"/>
              </a:rPr>
              <a:t>LLMs</a:t>
            </a:r>
            <a:r>
              <a:rPr lang="it-IT" dirty="0">
                <a:latin typeface="Gill Sans MT" panose="020B0502020104020203" pitchFamily="34" charset="0"/>
              </a:rPr>
              <a:t>)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despite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their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flexibility</a:t>
            </a:r>
            <a:r>
              <a:rPr lang="it-IT" dirty="0">
                <a:latin typeface="Gill Sans MT" panose="020B0502020104020203" pitchFamily="34" charset="0"/>
              </a:rPr>
              <a:t>, are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costly</a:t>
            </a:r>
            <a:r>
              <a:rPr lang="it-IT" dirty="0">
                <a:latin typeface="Gill Sans MT" panose="020B0502020104020203" pitchFamily="34" charset="0"/>
              </a:rPr>
              <a:t> and large for </a:t>
            </a:r>
            <a:r>
              <a:rPr lang="it-IT" dirty="0" err="1">
                <a:latin typeface="Gill Sans MT" panose="020B0502020104020203" pitchFamily="34" charset="0"/>
              </a:rPr>
              <a:t>resource-constrained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scenarios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1661D-E6C2-167A-6322-6B044CF42919}"/>
              </a:ext>
            </a:extLst>
          </p:cNvPr>
          <p:cNvSpPr txBox="1"/>
          <p:nvPr/>
        </p:nvSpPr>
        <p:spPr>
          <a:xfrm>
            <a:off x="403247" y="3220248"/>
            <a:ext cx="36005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latin typeface="Gill Sans MT" panose="020B0502020104020203" pitchFamily="34" charset="0"/>
              </a:rPr>
              <a:t>GLiNER</a:t>
            </a:r>
            <a:r>
              <a:rPr lang="it-IT" b="1" dirty="0">
                <a:latin typeface="Gill Sans MT" panose="020B0502020104020203" pitchFamily="34" charset="0"/>
              </a:rPr>
              <a:t> paper</a:t>
            </a:r>
            <a:r>
              <a:rPr lang="it-IT" dirty="0">
                <a:latin typeface="Gill Sans MT" panose="020B0502020104020203" pitchFamily="34" charset="0"/>
              </a:rPr>
              <a:t> can be </a:t>
            </a:r>
            <a:r>
              <a:rPr lang="it-IT" dirty="0" err="1">
                <a:latin typeface="Gill Sans MT" panose="020B0502020104020203" pitchFamily="34" charset="0"/>
              </a:rPr>
              <a:t>found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here</a:t>
            </a:r>
            <a:r>
              <a:rPr lang="it-IT" dirty="0">
                <a:latin typeface="Gill Sans MT" panose="020B0502020104020203" pitchFamily="34" charset="0"/>
              </a:rPr>
              <a:t>: 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en-US" dirty="0">
                <a:latin typeface="Gill Sans MT" panose="020B0502020104020203" pitchFamily="34" charset="0"/>
                <a:hlinkClick r:id="rId2"/>
              </a:rPr>
              <a:t>https://arxiv.org/abs/2311.08526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4DB3F8-4144-1B73-4E34-C8E3E6FE8F9D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74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CB3C0-3F4C-5645-660C-3770BAFE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857075-E9CB-B918-B9E9-89FDBFF1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176070-4A03-B38F-9469-03173C20B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DD522A-9529-A16B-E07A-0EE309956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3AB238-A1A9-4FDB-A3DE-DFDEABFA9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6F50369-532F-215C-32E8-1A66422CA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C7C6BF4-057E-257B-64F8-A69481592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DA676BF-42D7-3E4F-D797-459A48B2B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A3602624-6B88-714D-161E-95F25C74C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NER Model – </a:t>
            </a:r>
            <a:r>
              <a:rPr lang="it-IT" b="1" dirty="0" err="1">
                <a:latin typeface="Gill Sans MT"/>
              </a:rPr>
              <a:t>GliNER</a:t>
            </a:r>
            <a:r>
              <a:rPr lang="it-IT" b="1" dirty="0">
                <a:latin typeface="Gill Sans MT"/>
              </a:rPr>
              <a:t> (II)</a:t>
            </a:r>
            <a:endParaRPr lang="it-IT" dirty="0">
              <a:latin typeface="Gill Sans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9538A-7DB7-C3A0-7214-89D7D687B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81" y="908868"/>
            <a:ext cx="6655835" cy="38043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B355A0-258B-02E0-5F2C-EB225298DCF9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93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D777F9-50A1-68C9-231C-CEE2F947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NER Model – </a:t>
            </a:r>
            <a:r>
              <a:rPr lang="it-IT" b="1" dirty="0" err="1">
                <a:latin typeface="Gill Sans MT"/>
              </a:rPr>
              <a:t>GliNER</a:t>
            </a:r>
            <a:r>
              <a:rPr lang="it-IT" b="1" dirty="0">
                <a:latin typeface="Gill Sans MT"/>
              </a:rPr>
              <a:t> (III)</a:t>
            </a:r>
            <a:endParaRPr lang="it-IT" dirty="0">
              <a:latin typeface="Gill Sans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69F20-7F80-4E8F-BED4-52B9B58C5CBE}"/>
              </a:ext>
            </a:extLst>
          </p:cNvPr>
          <p:cNvSpPr txBox="1"/>
          <p:nvPr/>
        </p:nvSpPr>
        <p:spPr>
          <a:xfrm>
            <a:off x="230588" y="1231403"/>
            <a:ext cx="382077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The </a:t>
            </a:r>
            <a:r>
              <a:rPr lang="it-IT" sz="1700" b="1" dirty="0">
                <a:latin typeface="Gill Sans MT" panose="020B0502020104020203" pitchFamily="34" charset="0"/>
              </a:rPr>
              <a:t>best model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found</a:t>
            </a:r>
            <a:r>
              <a:rPr lang="it-IT" sz="1700" dirty="0">
                <a:latin typeface="Gill Sans MT" panose="020B0502020104020203" pitchFamily="34" charset="0"/>
              </a:rPr>
              <a:t> to </a:t>
            </a:r>
            <a:r>
              <a:rPr lang="it-IT" sz="1700" dirty="0" err="1">
                <a:latin typeface="Gill Sans MT" panose="020B0502020104020203" pitchFamily="34" charset="0"/>
              </a:rPr>
              <a:t>have</a:t>
            </a:r>
            <a:r>
              <a:rPr lang="it-IT" sz="1700" dirty="0">
                <a:latin typeface="Gill Sans MT" panose="020B0502020104020203" pitchFamily="34" charset="0"/>
              </a:rPr>
              <a:t> a </a:t>
            </a:r>
          </a:p>
          <a:p>
            <a:r>
              <a:rPr lang="it-IT" sz="1700" dirty="0" err="1">
                <a:latin typeface="Gill Sans MT" panose="020B0502020104020203" pitchFamily="34" charset="0"/>
              </a:rPr>
              <a:t>better</a:t>
            </a:r>
            <a:r>
              <a:rPr lang="it-IT" sz="1700" dirty="0">
                <a:latin typeface="Gill Sans MT" panose="020B0502020104020203" pitchFamily="34" charset="0"/>
              </a:rPr>
              <a:t> performance in </a:t>
            </a:r>
            <a:r>
              <a:rPr lang="it-IT" sz="1700" dirty="0" err="1">
                <a:latin typeface="Gill Sans MT" panose="020B0502020104020203" pitchFamily="34" charset="0"/>
              </a:rPr>
              <a:t>terms</a:t>
            </a:r>
            <a:r>
              <a:rPr lang="it-IT" sz="1700" dirty="0">
                <a:latin typeface="Gill Sans MT" panose="020B0502020104020203" pitchFamily="34" charset="0"/>
              </a:rPr>
              <a:t> of training </a:t>
            </a:r>
            <a:r>
              <a:rPr lang="it-IT" sz="1700" dirty="0" err="1">
                <a:latin typeface="Gill Sans MT" panose="020B0502020104020203" pitchFamily="34" charset="0"/>
              </a:rPr>
              <a:t>loss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the </a:t>
            </a:r>
            <a:r>
              <a:rPr lang="it-IT" sz="1700" b="1" dirty="0" err="1">
                <a:latin typeface="Gill Sans MT" panose="020B0502020104020203" pitchFamily="34" charset="0"/>
              </a:rPr>
              <a:t>numind</a:t>
            </a:r>
            <a:r>
              <a:rPr lang="it-IT" sz="1700" b="1" dirty="0">
                <a:latin typeface="Gill Sans MT" panose="020B0502020104020203" pitchFamily="34" charset="0"/>
              </a:rPr>
              <a:t>/</a:t>
            </a:r>
            <a:r>
              <a:rPr lang="it-IT" sz="1700" b="1" dirty="0" err="1">
                <a:latin typeface="Gill Sans MT" panose="020B0502020104020203" pitchFamily="34" charset="0"/>
              </a:rPr>
              <a:t>NuNER_Zero</a:t>
            </a:r>
            <a:r>
              <a:rPr lang="it-IT" sz="1700" b="1" dirty="0">
                <a:latin typeface="Gill Sans MT" panose="020B0502020104020203" pitchFamily="34" charset="0"/>
              </a:rPr>
              <a:t>. </a:t>
            </a:r>
          </a:p>
          <a:p>
            <a:endParaRPr lang="it-IT" sz="17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a zero-shot NER Model. </a:t>
            </a: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uses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GLiNER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architecture</a:t>
            </a:r>
            <a:r>
              <a:rPr lang="it-IT" sz="1700" dirty="0">
                <a:latin typeface="Gill Sans MT" panose="020B0502020104020203" pitchFamily="34" charset="0"/>
              </a:rPr>
              <a:t>: </a:t>
            </a:r>
            <a:r>
              <a:rPr lang="it-IT" sz="1700" dirty="0" err="1">
                <a:latin typeface="Gill Sans MT" panose="020B0502020104020203" pitchFamily="34" charset="0"/>
              </a:rPr>
              <a:t>its</a:t>
            </a:r>
            <a:r>
              <a:rPr lang="it-IT" sz="1700" dirty="0">
                <a:latin typeface="Gill Sans MT" panose="020B0502020104020203" pitchFamily="34" charset="0"/>
              </a:rPr>
              <a:t> input are a </a:t>
            </a:r>
            <a:r>
              <a:rPr lang="it-IT" sz="1700" dirty="0" err="1">
                <a:latin typeface="Gill Sans MT" panose="020B0502020104020203" pitchFamily="34" charset="0"/>
              </a:rPr>
              <a:t>concatenation</a:t>
            </a:r>
            <a:r>
              <a:rPr lang="it-IT" sz="1700" dirty="0">
                <a:latin typeface="Gill Sans MT" panose="020B0502020104020203" pitchFamily="34" charset="0"/>
              </a:rPr>
              <a:t> of </a:t>
            </a:r>
            <a:r>
              <a:rPr lang="it-IT" sz="1700" dirty="0" err="1">
                <a:latin typeface="Gill Sans MT" panose="020B0502020104020203" pitchFamily="34" charset="0"/>
              </a:rPr>
              <a:t>entity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types</a:t>
            </a:r>
            <a:r>
              <a:rPr lang="it-IT" sz="1700" dirty="0">
                <a:latin typeface="Gill Sans MT" panose="020B0502020104020203" pitchFamily="34" charset="0"/>
              </a:rPr>
              <a:t> and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a token </a:t>
            </a:r>
            <a:r>
              <a:rPr lang="it-IT" sz="1700" dirty="0" err="1">
                <a:latin typeface="Gill Sans MT" panose="020B0502020104020203" pitchFamily="34" charset="0"/>
              </a:rPr>
              <a:t>classifier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that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allows</a:t>
            </a:r>
            <a:r>
              <a:rPr lang="it-IT" sz="1700" dirty="0">
                <a:latin typeface="Gill Sans MT" panose="020B0502020104020203" pitchFamily="34" charset="0"/>
              </a:rPr>
              <a:t> the </a:t>
            </a:r>
            <a:r>
              <a:rPr lang="it-IT" sz="1700" dirty="0" err="1">
                <a:latin typeface="Gill Sans MT" panose="020B0502020104020203" pitchFamily="34" charset="0"/>
              </a:rPr>
              <a:t>detection</a:t>
            </a:r>
            <a:r>
              <a:rPr lang="it-IT" sz="1700" dirty="0">
                <a:latin typeface="Gill Sans MT" panose="020B0502020104020203" pitchFamily="34" charset="0"/>
              </a:rPr>
              <a:t> of </a:t>
            </a:r>
            <a:r>
              <a:rPr lang="it-IT" sz="1700" dirty="0" err="1">
                <a:latin typeface="Gill Sans MT" panose="020B0502020104020203" pitchFamily="34" charset="0"/>
              </a:rPr>
              <a:t>arbitrarily</a:t>
            </a:r>
            <a:r>
              <a:rPr lang="it-IT" sz="1700" dirty="0">
                <a:latin typeface="Gill Sans MT" panose="020B0502020104020203" pitchFamily="34" charset="0"/>
              </a:rPr>
              <a:t> long </a:t>
            </a:r>
            <a:r>
              <a:rPr lang="it-IT" sz="1700" dirty="0" err="1">
                <a:latin typeface="Gill Sans MT" panose="020B0502020104020203" pitchFamily="34" charset="0"/>
              </a:rPr>
              <a:t>entities</a:t>
            </a:r>
            <a:r>
              <a:rPr lang="it-IT" sz="1700" dirty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trained</a:t>
            </a:r>
            <a:r>
              <a:rPr lang="it-IT" sz="1700" dirty="0">
                <a:latin typeface="Gill Sans MT" panose="020B0502020104020203" pitchFamily="34" charset="0"/>
              </a:rPr>
              <a:t> on </a:t>
            </a:r>
            <a:r>
              <a:rPr lang="it-IT" sz="1700" dirty="0" err="1">
                <a:latin typeface="Gill Sans MT" panose="020B0502020104020203" pitchFamily="34" charset="0"/>
              </a:rPr>
              <a:t>numind</a:t>
            </a:r>
            <a:r>
              <a:rPr lang="it-IT" sz="1700" dirty="0">
                <a:latin typeface="Gill Sans MT" panose="020B0502020104020203" pitchFamily="34" charset="0"/>
              </a:rPr>
              <a:t>/NuNER-v2.0.</a:t>
            </a:r>
            <a:endParaRPr lang="en-US" sz="1700" dirty="0">
              <a:latin typeface="Gill Sans MT" panose="020B0502020104020203" pitchFamily="34" charset="0"/>
            </a:endParaRP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2D68C04-710C-510F-C80E-D3757F915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728" y="889969"/>
            <a:ext cx="5375931" cy="3571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FD4F63-A0FD-E64D-E11E-F98811A72FAA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69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06776-9727-66F1-8C09-8025F7D3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- </a:t>
            </a:r>
            <a:r>
              <a:rPr lang="it-IT" b="1" dirty="0" err="1">
                <a:latin typeface="Gill Sans MT"/>
              </a:rPr>
              <a:t>Implementation</a:t>
            </a:r>
            <a:endParaRPr lang="it-IT" dirty="0">
              <a:latin typeface="Gill Sans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F4872-8717-511D-BB4A-3E8D2581FAE1}"/>
              </a:ext>
            </a:extLst>
          </p:cNvPr>
          <p:cNvSpPr txBox="1"/>
          <p:nvPr/>
        </p:nvSpPr>
        <p:spPr>
          <a:xfrm>
            <a:off x="277586" y="1045028"/>
            <a:ext cx="45015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dirty="0" err="1">
                <a:latin typeface="Gill Sans MT" panose="020B0502020104020203" pitchFamily="34" charset="0"/>
              </a:rPr>
              <a:t>collections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train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 model: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Platinum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Gold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E457D-7246-69C2-5D2F-D9D75BD51347}"/>
              </a:ext>
            </a:extLst>
          </p:cNvPr>
          <p:cNvSpPr txBox="1"/>
          <p:nvPr/>
        </p:nvSpPr>
        <p:spPr>
          <a:xfrm>
            <a:off x="254054" y="2318598"/>
            <a:ext cx="875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silver dataset </a:t>
            </a:r>
            <a:r>
              <a:rPr lang="it-IT" dirty="0" err="1">
                <a:latin typeface="Gill Sans MT" panose="020B0502020104020203" pitchFamily="34" charset="0"/>
              </a:rPr>
              <a:t>was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with </a:t>
            </a:r>
            <a:r>
              <a:rPr lang="it-IT" dirty="0" err="1">
                <a:latin typeface="Gill Sans MT" panose="020B0502020104020203" pitchFamily="34" charset="0"/>
              </a:rPr>
              <a:t>both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platinum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gold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but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there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were</a:t>
            </a:r>
            <a:r>
              <a:rPr lang="it-IT" dirty="0">
                <a:latin typeface="Gill Sans MT" panose="020B0502020104020203" pitchFamily="34" charset="0"/>
              </a:rPr>
              <a:t> no </a:t>
            </a:r>
            <a:r>
              <a:rPr lang="it-IT" dirty="0" err="1">
                <a:latin typeface="Gill Sans MT" panose="020B0502020104020203" pitchFamily="34" charset="0"/>
              </a:rPr>
              <a:t>improvements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788F842-4A76-88B2-1475-5B4AD202F71E}"/>
              </a:ext>
            </a:extLst>
          </p:cNvPr>
          <p:cNvSpPr txBox="1">
            <a:spLocks/>
          </p:cNvSpPr>
          <p:nvPr/>
        </p:nvSpPr>
        <p:spPr>
          <a:xfrm>
            <a:off x="384724" y="2761171"/>
            <a:ext cx="8374549" cy="3847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l"/>
            <a:r>
              <a:rPr lang="it-IT" b="1" kern="0" dirty="0" err="1">
                <a:latin typeface="Gill Sans MT"/>
              </a:rPr>
              <a:t>Tokenizer</a:t>
            </a:r>
            <a:endParaRPr lang="it-IT" kern="0" dirty="0">
              <a:latin typeface="Gill Sans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60313-AF23-D836-E573-9D9636A0E300}"/>
              </a:ext>
            </a:extLst>
          </p:cNvPr>
          <p:cNvSpPr txBox="1"/>
          <p:nvPr/>
        </p:nvSpPr>
        <p:spPr>
          <a:xfrm>
            <a:off x="277586" y="3219133"/>
            <a:ext cx="7837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 err="1">
                <a:latin typeface="Gill Sans MT" panose="020B0502020104020203" pitchFamily="34" charset="0"/>
              </a:rPr>
              <a:t>Tokenizer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was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during</a:t>
            </a:r>
            <a:r>
              <a:rPr lang="it-IT" dirty="0">
                <a:latin typeface="Gill Sans MT" panose="020B0502020104020203" pitchFamily="34" charset="0"/>
              </a:rPr>
              <a:t> the data processing for the </a:t>
            </a:r>
            <a:r>
              <a:rPr lang="it-IT" b="1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model</a:t>
            </a:r>
          </a:p>
          <a:p>
            <a:r>
              <a:rPr lang="it-IT" dirty="0">
                <a:latin typeface="Gill Sans MT" panose="020B0502020104020203" pitchFamily="34" charset="0"/>
              </a:rPr>
              <a:t>with the </a:t>
            </a:r>
            <a:r>
              <a:rPr lang="it-IT" dirty="0" err="1">
                <a:latin typeface="Gill Sans MT" panose="020B0502020104020203" pitchFamily="34" charset="0"/>
              </a:rPr>
              <a:t>merged</a:t>
            </a:r>
            <a:r>
              <a:rPr lang="it-IT" dirty="0">
                <a:latin typeface="Gill Sans MT" panose="020B0502020104020203" pitchFamily="34" charset="0"/>
              </a:rPr>
              <a:t> dataset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b="1" u="sng" dirty="0" err="1">
                <a:latin typeface="Gill Sans MT" panose="020B0502020104020203" pitchFamily="34" charset="0"/>
              </a:rPr>
              <a:t>microsoft</a:t>
            </a:r>
            <a:r>
              <a:rPr lang="it-IT" b="1" u="sng" dirty="0">
                <a:latin typeface="Gill Sans MT" panose="020B0502020104020203" pitchFamily="34" charset="0"/>
              </a:rPr>
              <a:t>/deberta-v3-large.</a:t>
            </a:r>
            <a:endParaRPr lang="en-US" b="1" u="sng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692F9-A72E-E9B8-0378-7BC0E9FAC94C}"/>
              </a:ext>
            </a:extLst>
          </p:cNvPr>
          <p:cNvSpPr txBox="1"/>
          <p:nvPr/>
        </p:nvSpPr>
        <p:spPr>
          <a:xfrm>
            <a:off x="254054" y="3938705"/>
            <a:ext cx="8685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Gill Sans MT" panose="020B0502020104020203" pitchFamily="34" charset="0"/>
              </a:rPr>
              <a:t>The </a:t>
            </a:r>
            <a:r>
              <a:rPr lang="en-US" b="1" i="0" dirty="0" err="1">
                <a:effectLst/>
                <a:latin typeface="Gill Sans MT" panose="020B0502020104020203" pitchFamily="34" charset="0"/>
              </a:rPr>
              <a:t>DeBERTa</a:t>
            </a:r>
            <a:r>
              <a:rPr lang="en-US" b="1" i="0" dirty="0">
                <a:effectLst/>
                <a:latin typeface="Gill Sans MT" panose="020B0502020104020203" pitchFamily="34" charset="0"/>
              </a:rPr>
              <a:t> V3</a:t>
            </a:r>
            <a:r>
              <a:rPr lang="en-US" b="0" i="0" dirty="0">
                <a:effectLst/>
                <a:latin typeface="Gill Sans MT" panose="020B0502020104020203" pitchFamily="34" charset="0"/>
              </a:rPr>
              <a:t> large model (based on BERT) comes with 24 layers and a hidden size of 1024. It has 304M backbone parameters with a vocabulary containing 128K tokens, which introduces 131M parameters in the Embedding layer.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7F502-1C22-EA75-699E-FE7F10BD6225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5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4C37-96E0-F1AA-84C2-4001D5DA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768E2F-F18F-E68C-7428-32D91A9B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– Train Pipeline (I)</a:t>
            </a:r>
            <a:endParaRPr lang="it-IT" dirty="0">
              <a:latin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77091-1732-470D-36AE-91C979B42376}"/>
              </a:ext>
            </a:extLst>
          </p:cNvPr>
          <p:cNvSpPr txBox="1"/>
          <p:nvPr/>
        </p:nvSpPr>
        <p:spPr>
          <a:xfrm>
            <a:off x="498021" y="1396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1D17782C-2044-B872-E689-EB3A5889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964" y="597920"/>
            <a:ext cx="1102921" cy="11029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BC765F-DA9E-BFB0-2A11-C9F1F8013C7E}"/>
              </a:ext>
            </a:extLst>
          </p:cNvPr>
          <p:cNvSpPr txBox="1"/>
          <p:nvPr/>
        </p:nvSpPr>
        <p:spPr>
          <a:xfrm>
            <a:off x="413601" y="755619"/>
            <a:ext cx="24112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it-IT" b="1" dirty="0">
                <a:latin typeface="Gill Sans MT" panose="020B0502020104020203" pitchFamily="34" charset="0"/>
              </a:rPr>
              <a:t>Load Data</a:t>
            </a:r>
            <a:r>
              <a:rPr lang="it-IT" dirty="0">
                <a:latin typeface="Gill Sans MT" panose="020B0502020104020203" pitchFamily="34" charset="0"/>
              </a:rPr>
              <a:t>: load</a:t>
            </a:r>
          </a:p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dirty="0" err="1">
                <a:latin typeface="Gill Sans MT" panose="020B0502020104020203" pitchFamily="34" charset="0"/>
              </a:rPr>
              <a:t>annotated</a:t>
            </a:r>
            <a:r>
              <a:rPr lang="it-IT" dirty="0">
                <a:latin typeface="Gill Sans MT" panose="020B0502020104020203" pitchFamily="34" charset="0"/>
              </a:rPr>
              <a:t> dataset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containing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titles</a:t>
            </a:r>
            <a:r>
              <a:rPr lang="it-IT" dirty="0">
                <a:latin typeface="Gill Sans MT" panose="020B0502020104020203" pitchFamily="34" charset="0"/>
              </a:rPr>
              <a:t>, </a:t>
            </a:r>
          </a:p>
          <a:p>
            <a:r>
              <a:rPr lang="it-IT" dirty="0">
                <a:latin typeface="Gill Sans MT" panose="020B0502020104020203" pitchFamily="34" charset="0"/>
              </a:rPr>
              <a:t>abstracts and </a:t>
            </a:r>
            <a:r>
              <a:rPr lang="it-IT" dirty="0" err="1">
                <a:latin typeface="Gill Sans MT" panose="020B0502020104020203" pitchFamily="34" charset="0"/>
              </a:rPr>
              <a:t>annotated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DADCD21-A473-756E-FFCF-689A91899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5400000">
            <a:off x="1448440" y="2473019"/>
            <a:ext cx="1206072" cy="464885"/>
          </a:xfrm>
          <a:prstGeom prst="rect">
            <a:avLst/>
          </a:prstGeom>
        </p:spPr>
      </p:pic>
      <p:pic>
        <p:nvPicPr>
          <p:cNvPr id="18" name="Picture 17" descr="A black and white gear&#10;&#10;AI-generated content may be incorrect.">
            <a:extLst>
              <a:ext uri="{FF2B5EF4-FFF2-40B4-BE49-F238E27FC236}">
                <a16:creationId xmlns:a16="http://schemas.microsoft.com/office/drawing/2014/main" id="{13CE69D5-CD2C-6169-24B4-E5BCC9F8E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3" t="4743" r="18023" b="9102"/>
          <a:stretch/>
        </p:blipFill>
        <p:spPr>
          <a:xfrm>
            <a:off x="2739784" y="3274925"/>
            <a:ext cx="1345357" cy="12060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172365-55AC-2806-18A6-4C1BE0BEF1FC}"/>
              </a:ext>
            </a:extLst>
          </p:cNvPr>
          <p:cNvSpPr txBox="1"/>
          <p:nvPr/>
        </p:nvSpPr>
        <p:spPr>
          <a:xfrm>
            <a:off x="300504" y="3416295"/>
            <a:ext cx="26201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2) </a:t>
            </a:r>
            <a:r>
              <a:rPr lang="it-IT" b="1" dirty="0" err="1">
                <a:latin typeface="Gill Sans MT" panose="020B0502020104020203" pitchFamily="34" charset="0"/>
              </a:rPr>
              <a:t>Initialize</a:t>
            </a:r>
            <a:r>
              <a:rPr lang="it-IT" b="1" dirty="0">
                <a:latin typeface="Gill Sans MT" panose="020B0502020104020203" pitchFamily="34" charset="0"/>
              </a:rPr>
              <a:t> </a:t>
            </a:r>
            <a:r>
              <a:rPr lang="it-IT" b="1" dirty="0" err="1">
                <a:latin typeface="Gill Sans MT" panose="020B0502020104020203" pitchFamily="34" charset="0"/>
              </a:rPr>
              <a:t>Tokenizer</a:t>
            </a:r>
            <a:r>
              <a:rPr lang="it-IT" dirty="0">
                <a:latin typeface="Gill Sans MT" panose="020B0502020104020203" pitchFamily="34" charset="0"/>
              </a:rPr>
              <a:t>: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Tokenizer</a:t>
            </a:r>
            <a:r>
              <a:rPr lang="it-IT" dirty="0">
                <a:latin typeface="Gill Sans MT" panose="020B0502020104020203" pitchFamily="34" charset="0"/>
              </a:rPr>
              <a:t> breaks down</a:t>
            </a:r>
          </a:p>
          <a:p>
            <a:r>
              <a:rPr lang="it-IT" dirty="0">
                <a:latin typeface="Gill Sans MT" panose="020B0502020104020203" pitchFamily="34" charset="0"/>
              </a:rPr>
              <a:t>text </a:t>
            </a:r>
            <a:r>
              <a:rPr lang="it-IT" dirty="0" err="1">
                <a:latin typeface="Gill Sans MT" panose="020B0502020104020203" pitchFamily="34" charset="0"/>
              </a:rPr>
              <a:t>into</a:t>
            </a:r>
            <a:r>
              <a:rPr lang="it-IT" dirty="0">
                <a:latin typeface="Gill Sans MT" panose="020B0502020104020203" pitchFamily="34" charset="0"/>
              </a:rPr>
              <a:t> tokens, making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ready for the model </a:t>
            </a:r>
          </a:p>
          <a:p>
            <a:r>
              <a:rPr lang="it-IT" dirty="0">
                <a:latin typeface="Gill Sans MT" panose="020B0502020104020203" pitchFamily="34" charset="0"/>
              </a:rPr>
              <a:t>input.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0" name="Picture 19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233C47E-C812-ECAD-7967-D7F18F6FD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18185157">
            <a:off x="3225697" y="1836266"/>
            <a:ext cx="2848099" cy="10978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E0E4D4-21BE-7BCC-80E9-AEC12B7278F0}"/>
              </a:ext>
            </a:extLst>
          </p:cNvPr>
          <p:cNvSpPr txBox="1"/>
          <p:nvPr/>
        </p:nvSpPr>
        <p:spPr>
          <a:xfrm>
            <a:off x="2462298" y="4412890"/>
            <a:ext cx="19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DE-BERTa-v3-large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AAAF7F-F331-2447-3E1D-7B9596EF6CD6}"/>
              </a:ext>
            </a:extLst>
          </p:cNvPr>
          <p:cNvSpPr txBox="1"/>
          <p:nvPr/>
        </p:nvSpPr>
        <p:spPr>
          <a:xfrm>
            <a:off x="5459786" y="657429"/>
            <a:ext cx="36842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3) </a:t>
            </a:r>
            <a:r>
              <a:rPr lang="it-IT" b="1" dirty="0" err="1">
                <a:latin typeface="Gill Sans MT" panose="020B0502020104020203" pitchFamily="34" charset="0"/>
              </a:rPr>
              <a:t>Preprocess</a:t>
            </a:r>
            <a:r>
              <a:rPr lang="it-IT" b="1" dirty="0">
                <a:latin typeface="Gill Sans MT" panose="020B0502020104020203" pitchFamily="34" charset="0"/>
              </a:rPr>
              <a:t> Data</a:t>
            </a:r>
            <a:r>
              <a:rPr lang="it-IT" dirty="0">
                <a:latin typeface="Gill Sans MT" panose="020B0502020104020203" pitchFamily="34" charset="0"/>
              </a:rPr>
              <a:t>: combine </a:t>
            </a:r>
            <a:r>
              <a:rPr lang="it-IT" dirty="0" err="1">
                <a:latin typeface="Gill Sans MT" panose="020B0502020104020203" pitchFamily="34" charset="0"/>
              </a:rPr>
              <a:t>titles</a:t>
            </a:r>
            <a:r>
              <a:rPr lang="it-IT" dirty="0">
                <a:latin typeface="Gill Sans MT" panose="020B0502020104020203" pitchFamily="34" charset="0"/>
              </a:rPr>
              <a:t> </a:t>
            </a:r>
          </a:p>
          <a:p>
            <a:r>
              <a:rPr lang="it-IT" dirty="0">
                <a:latin typeface="Gill Sans MT" panose="020B0502020104020203" pitchFamily="34" charset="0"/>
              </a:rPr>
              <a:t>and abstracts,  </a:t>
            </a:r>
            <a:r>
              <a:rPr lang="it-IT" dirty="0" err="1">
                <a:latin typeface="Gill Sans MT" panose="020B0502020104020203" pitchFamily="34" charset="0"/>
              </a:rPr>
              <a:t>convert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character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level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annotations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into</a:t>
            </a:r>
            <a:r>
              <a:rPr lang="it-IT" dirty="0">
                <a:latin typeface="Gill Sans MT" panose="020B0502020104020203" pitchFamily="34" charset="0"/>
              </a:rPr>
              <a:t> token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level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spans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tokenizer’s</a:t>
            </a:r>
            <a:r>
              <a:rPr lang="it-IT" dirty="0">
                <a:latin typeface="Gill Sans MT" panose="020B0502020104020203" pitchFamily="34" charset="0"/>
              </a:rPr>
              <a:t> offset</a:t>
            </a:r>
          </a:p>
          <a:p>
            <a:r>
              <a:rPr lang="it-IT" dirty="0">
                <a:latin typeface="Gill Sans MT" panose="020B0502020104020203" pitchFamily="34" charset="0"/>
              </a:rPr>
              <a:t>mapping.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9" name="Picture 28" descr="A diagram of a step in a row&#10;&#10;AI-generated content may be incorrect.">
            <a:extLst>
              <a:ext uri="{FF2B5EF4-FFF2-40B4-BE49-F238E27FC236}">
                <a16:creationId xmlns:a16="http://schemas.microsoft.com/office/drawing/2014/main" id="{408D0290-0682-CE02-6781-7177014C01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182" y="2285831"/>
            <a:ext cx="3857314" cy="19268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628E4E0-A8FF-86B2-8700-5A557BEE00E0}"/>
              </a:ext>
            </a:extLst>
          </p:cNvPr>
          <p:cNvSpPr txBox="1"/>
          <p:nvPr/>
        </p:nvSpPr>
        <p:spPr>
          <a:xfrm>
            <a:off x="5064000" y="3754849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[0]  [1]  [2]  [3]  [4]  [5]  [6]  [7]  [8]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57A7D-A232-575D-7F46-67388BC9AE4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F70771-AD2E-CD8D-BF13-96D8795681FD}"/>
              </a:ext>
            </a:extLst>
          </p:cNvPr>
          <p:cNvSpPr txBox="1"/>
          <p:nvPr/>
        </p:nvSpPr>
        <p:spPr>
          <a:xfrm>
            <a:off x="3483327" y="892382"/>
            <a:ext cx="1322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Train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merged.json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7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81ECE-293F-A81C-94AA-C0C9BA2F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ack and white symbol with ribbons&#10;&#10;AI-generated content may be incorrect.">
            <a:extLst>
              <a:ext uri="{FF2B5EF4-FFF2-40B4-BE49-F238E27FC236}">
                <a16:creationId xmlns:a16="http://schemas.microsoft.com/office/drawing/2014/main" id="{13724A94-BC02-B2EE-68A6-D902EDA0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t="16381" r="22443" b="16803"/>
          <a:stretch/>
        </p:blipFill>
        <p:spPr>
          <a:xfrm>
            <a:off x="7934150" y="3306255"/>
            <a:ext cx="1123629" cy="1482850"/>
          </a:xfrm>
          <a:prstGeom prst="rect">
            <a:avLst/>
          </a:prstGeom>
        </p:spPr>
      </p:pic>
      <p:pic>
        <p:nvPicPr>
          <p:cNvPr id="4" name="Picture 3" descr="A black calculator with white dots&#10;&#10;AI-generated content may be incorrect.">
            <a:extLst>
              <a:ext uri="{FF2B5EF4-FFF2-40B4-BE49-F238E27FC236}">
                <a16:creationId xmlns:a16="http://schemas.microsoft.com/office/drawing/2014/main" id="{1B9530B2-C59C-6778-2AA7-2D6B0D10A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719" y="569500"/>
            <a:ext cx="1156426" cy="115642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DB063F5-6376-9617-6840-6D433C50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– Train Pipeline (II)</a:t>
            </a:r>
            <a:endParaRPr lang="it-IT" dirty="0">
              <a:latin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0A413-6449-41A6-24DC-8677A09D0F89}"/>
              </a:ext>
            </a:extLst>
          </p:cNvPr>
          <p:cNvSpPr txBox="1"/>
          <p:nvPr/>
        </p:nvSpPr>
        <p:spPr>
          <a:xfrm>
            <a:off x="498021" y="1396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F88E12-66A9-2B2A-73A4-F3AB3E1BE164}"/>
              </a:ext>
            </a:extLst>
          </p:cNvPr>
          <p:cNvSpPr txBox="1"/>
          <p:nvPr/>
        </p:nvSpPr>
        <p:spPr>
          <a:xfrm>
            <a:off x="241714" y="731249"/>
            <a:ext cx="37372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4) </a:t>
            </a:r>
            <a:r>
              <a:rPr lang="it-IT" b="1" dirty="0" err="1">
                <a:latin typeface="Gill Sans MT" panose="020B0502020104020203" pitchFamily="34" charset="0"/>
              </a:rPr>
              <a:t>Define</a:t>
            </a:r>
            <a:r>
              <a:rPr lang="it-IT" b="1" dirty="0">
                <a:latin typeface="Gill Sans MT" panose="020B0502020104020203" pitchFamily="34" charset="0"/>
              </a:rPr>
              <a:t> </a:t>
            </a:r>
            <a:r>
              <a:rPr lang="it-IT" b="1" dirty="0" err="1">
                <a:latin typeface="Gill Sans MT" panose="020B0502020104020203" pitchFamily="34" charset="0"/>
              </a:rPr>
              <a:t>Hyperparameters</a:t>
            </a:r>
            <a:r>
              <a:rPr lang="it-IT" b="1" dirty="0">
                <a:latin typeface="Gill Sans MT" panose="020B0502020104020203" pitchFamily="34" charset="0"/>
              </a:rPr>
              <a:t>:</a:t>
            </a:r>
          </a:p>
          <a:p>
            <a:r>
              <a:rPr lang="it-IT" dirty="0">
                <a:latin typeface="Gill Sans MT" panose="020B0502020104020203" pitchFamily="34" charset="0"/>
              </a:rPr>
              <a:t>Set </a:t>
            </a:r>
            <a:r>
              <a:rPr lang="it-IT" dirty="0" err="1">
                <a:latin typeface="Gill Sans MT" panose="020B0502020104020203" pitchFamily="34" charset="0"/>
              </a:rPr>
              <a:t>parameters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such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batch size,</a:t>
            </a:r>
          </a:p>
          <a:p>
            <a:r>
              <a:rPr lang="it-IT" dirty="0">
                <a:latin typeface="Gill Sans MT" panose="020B0502020104020203" pitchFamily="34" charset="0"/>
              </a:rPr>
              <a:t>learning rate, </a:t>
            </a:r>
            <a:r>
              <a:rPr lang="it-IT" dirty="0" err="1">
                <a:latin typeface="Gill Sans MT" panose="020B0502020104020203" pitchFamily="34" charset="0"/>
              </a:rPr>
              <a:t>num</a:t>
            </a:r>
            <a:r>
              <a:rPr lang="it-IT" dirty="0">
                <a:latin typeface="Gill Sans MT" panose="020B0502020104020203" pitchFamily="34" charset="0"/>
              </a:rPr>
              <a:t>. of training steps,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warmup</a:t>
            </a:r>
            <a:r>
              <a:rPr lang="it-IT" dirty="0">
                <a:latin typeface="Gill Sans MT" panose="020B0502020104020203" pitchFamily="34" charset="0"/>
              </a:rPr>
              <a:t> ratio and </a:t>
            </a:r>
            <a:r>
              <a:rPr lang="it-IT" dirty="0" err="1">
                <a:latin typeface="Gill Sans MT" panose="020B0502020104020203" pitchFamily="34" charset="0"/>
              </a:rPr>
              <a:t>others</a:t>
            </a:r>
            <a:r>
              <a:rPr lang="it-IT" dirty="0">
                <a:latin typeface="Gill Sans MT" panose="020B0502020104020203" pitchFamily="34" charset="0"/>
              </a:rPr>
              <a:t> for training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stability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518A5B9F-3317-B806-D679-709C57033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5400000">
            <a:off x="1448440" y="2473019"/>
            <a:ext cx="1206072" cy="4648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B4E7B5-F1B7-4F0C-7043-B7954C2A87AD}"/>
              </a:ext>
            </a:extLst>
          </p:cNvPr>
          <p:cNvSpPr txBox="1"/>
          <p:nvPr/>
        </p:nvSpPr>
        <p:spPr>
          <a:xfrm>
            <a:off x="129475" y="3298525"/>
            <a:ext cx="34126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5) </a:t>
            </a:r>
            <a:r>
              <a:rPr lang="it-IT" b="1" dirty="0">
                <a:latin typeface="Gill Sans MT" panose="020B0502020104020203" pitchFamily="34" charset="0"/>
              </a:rPr>
              <a:t>Model Setup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 err="1">
                <a:latin typeface="Gill Sans MT" panose="020B0502020104020203" pitchFamily="34" charset="0"/>
              </a:rPr>
              <a:t>initialize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</a:p>
          <a:p>
            <a:r>
              <a:rPr lang="it-IT" dirty="0">
                <a:latin typeface="Gill Sans MT" panose="020B0502020104020203" pitchFamily="34" charset="0"/>
              </a:rPr>
              <a:t>model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with </a:t>
            </a:r>
            <a:r>
              <a:rPr lang="it-IT" dirty="0" err="1">
                <a:latin typeface="Gill Sans MT" panose="020B0502020104020203" pitchFamily="34" charset="0"/>
              </a:rPr>
              <a:t>pre</a:t>
            </a:r>
            <a:r>
              <a:rPr lang="it-IT" dirty="0">
                <a:latin typeface="Gill Sans MT" panose="020B0502020104020203" pitchFamily="34" charset="0"/>
              </a:rPr>
              <a:t>-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trained</a:t>
            </a:r>
            <a:r>
              <a:rPr lang="it-IT" dirty="0">
                <a:latin typeface="Gill Sans MT" panose="020B0502020104020203" pitchFamily="34" charset="0"/>
              </a:rPr>
              <a:t> weights (</a:t>
            </a:r>
            <a:r>
              <a:rPr lang="it-IT" dirty="0" err="1">
                <a:latin typeface="Gill Sans MT" panose="020B0502020104020203" pitchFamily="34" charset="0"/>
              </a:rPr>
              <a:t>numind</a:t>
            </a:r>
            <a:r>
              <a:rPr lang="it-IT" dirty="0">
                <a:latin typeface="Gill Sans MT" panose="020B0502020104020203" pitchFamily="34" charset="0"/>
              </a:rPr>
              <a:t>/</a:t>
            </a:r>
            <a:r>
              <a:rPr lang="it-IT" dirty="0" err="1">
                <a:latin typeface="Gill Sans MT" panose="020B0502020104020203" pitchFamily="34" charset="0"/>
              </a:rPr>
              <a:t>NuNuner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Zero) and </a:t>
            </a:r>
            <a:r>
              <a:rPr lang="it-IT" dirty="0" err="1">
                <a:latin typeface="Gill Sans MT" panose="020B0502020104020203" pitchFamily="34" charset="0"/>
              </a:rPr>
              <a:t>configure</a:t>
            </a:r>
            <a:r>
              <a:rPr lang="it-IT" dirty="0">
                <a:latin typeface="Gill Sans MT" panose="020B0502020104020203" pitchFamily="34" charset="0"/>
              </a:rPr>
              <a:t> sampling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parameters</a:t>
            </a:r>
            <a:r>
              <a:rPr lang="it-IT" dirty="0">
                <a:latin typeface="Gill Sans MT" panose="020B0502020104020203" pitchFamily="34" charset="0"/>
              </a:rPr>
              <a:t> to handle training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complexity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20" name="Picture 19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F7AB335-7691-EF89-B77C-8E1CC86E3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18185157">
            <a:off x="3225697" y="1836266"/>
            <a:ext cx="2848099" cy="10978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B499EF9-B042-4897-4361-27FEDEC89CB4}"/>
              </a:ext>
            </a:extLst>
          </p:cNvPr>
          <p:cNvSpPr txBox="1"/>
          <p:nvPr/>
        </p:nvSpPr>
        <p:spPr>
          <a:xfrm>
            <a:off x="5454666" y="691447"/>
            <a:ext cx="35541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6) </a:t>
            </a:r>
            <a:r>
              <a:rPr lang="it-IT" b="1" dirty="0">
                <a:latin typeface="Gill Sans MT" panose="020B0502020104020203" pitchFamily="34" charset="0"/>
              </a:rPr>
              <a:t>Training Loops: </a:t>
            </a:r>
            <a:r>
              <a:rPr lang="it-IT" dirty="0">
                <a:latin typeface="Gill Sans MT" panose="020B0502020104020203" pitchFamily="34" charset="0"/>
              </a:rPr>
              <a:t>iterate </a:t>
            </a:r>
            <a:r>
              <a:rPr lang="it-IT" dirty="0" err="1">
                <a:latin typeface="Gill Sans MT" panose="020B0502020104020203" pitchFamily="34" charset="0"/>
              </a:rPr>
              <a:t>through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batches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perform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forward</a:t>
            </a:r>
            <a:r>
              <a:rPr lang="it-IT" dirty="0">
                <a:latin typeface="Gill Sans MT" panose="020B0502020104020203" pitchFamily="34" charset="0"/>
              </a:rPr>
              <a:t> pass, </a:t>
            </a:r>
          </a:p>
          <a:p>
            <a:r>
              <a:rPr lang="it-IT" dirty="0">
                <a:latin typeface="Gill Sans MT" panose="020B0502020104020203" pitchFamily="34" charset="0"/>
              </a:rPr>
              <a:t>compute </a:t>
            </a:r>
            <a:r>
              <a:rPr lang="it-IT" dirty="0" err="1">
                <a:latin typeface="Gill Sans MT" panose="020B0502020104020203" pitchFamily="34" charset="0"/>
              </a:rPr>
              <a:t>loss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apply</a:t>
            </a:r>
            <a:r>
              <a:rPr lang="it-IT" dirty="0">
                <a:latin typeface="Gill Sans MT" panose="020B0502020104020203" pitchFamily="34" charset="0"/>
              </a:rPr>
              <a:t> back </a:t>
            </a:r>
            <a:r>
              <a:rPr lang="it-IT" dirty="0" err="1">
                <a:latin typeface="Gill Sans MT" panose="020B0502020104020203" pitchFamily="34" charset="0"/>
              </a:rPr>
              <a:t>prop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r>
              <a:rPr lang="it-IT" dirty="0">
                <a:latin typeface="Gill Sans MT" panose="020B0502020104020203" pitchFamily="34" charset="0"/>
              </a:rPr>
              <a:t>Update model </a:t>
            </a:r>
            <a:r>
              <a:rPr lang="it-IT" dirty="0" err="1">
                <a:latin typeface="Gill Sans MT" panose="020B0502020104020203" pitchFamily="34" charset="0"/>
              </a:rPr>
              <a:t>parameters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b="1" dirty="0" err="1">
                <a:latin typeface="Gill Sans MT" panose="020B0502020104020203" pitchFamily="34" charset="0"/>
              </a:rPr>
              <a:t>AdamW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optimizer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4DE1A-9318-0B2B-45F7-B7D879705200}"/>
              </a:ext>
            </a:extLst>
          </p:cNvPr>
          <p:cNvSpPr txBox="1"/>
          <p:nvPr/>
        </p:nvSpPr>
        <p:spPr>
          <a:xfrm>
            <a:off x="4649746" y="3530161"/>
            <a:ext cx="33666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7) Evaluation: </a:t>
            </a:r>
            <a:r>
              <a:rPr lang="it-IT" dirty="0" err="1">
                <a:latin typeface="Gill Sans MT" panose="020B0502020104020203" pitchFamily="34" charset="0"/>
              </a:rPr>
              <a:t>periodically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evaluate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the model performance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validation</a:t>
            </a:r>
            <a:r>
              <a:rPr lang="it-IT" dirty="0">
                <a:latin typeface="Gill Sans MT" panose="020B0502020104020203" pitchFamily="34" charset="0"/>
              </a:rPr>
              <a:t> data (Micro and Macro, </a:t>
            </a:r>
          </a:p>
          <a:p>
            <a:r>
              <a:rPr lang="it-IT" dirty="0">
                <a:latin typeface="Gill Sans MT" panose="020B0502020104020203" pitchFamily="34" charset="0"/>
              </a:rPr>
              <a:t>F1-score, </a:t>
            </a:r>
            <a:r>
              <a:rPr lang="it-IT" dirty="0" err="1">
                <a:latin typeface="Gill Sans MT" panose="020B0502020104020203" pitchFamily="34" charset="0"/>
              </a:rPr>
              <a:t>entity-level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accuracy</a:t>
            </a:r>
            <a:r>
              <a:rPr lang="it-IT" dirty="0">
                <a:latin typeface="Gill Sans MT" panose="020B0502020104020203" pitchFamily="34" charset="0"/>
              </a:rPr>
              <a:t>) </a:t>
            </a:r>
          </a:p>
          <a:p>
            <a:r>
              <a:rPr lang="it-IT" dirty="0">
                <a:latin typeface="Gill Sans MT" panose="020B0502020104020203" pitchFamily="34" charset="0"/>
              </a:rPr>
              <a:t>and </a:t>
            </a:r>
            <a:r>
              <a:rPr lang="it-IT" dirty="0" err="1">
                <a:latin typeface="Gill Sans MT" panose="020B0502020104020203" pitchFamily="34" charset="0"/>
              </a:rPr>
              <a:t>save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10" name="Picture 9" descr="A diagram of a network&#10;&#10;AI-generated content may be incorrect.">
            <a:extLst>
              <a:ext uri="{FF2B5EF4-FFF2-40B4-BE49-F238E27FC236}">
                <a16:creationId xmlns:a16="http://schemas.microsoft.com/office/drawing/2014/main" id="{EA714E4B-ADC5-2598-79B5-9E97FB5688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946" y="3530161"/>
            <a:ext cx="1574800" cy="1574800"/>
          </a:xfrm>
          <a:prstGeom prst="rect">
            <a:avLst/>
          </a:prstGeom>
        </p:spPr>
      </p:pic>
      <p:pic>
        <p:nvPicPr>
          <p:cNvPr id="12" name="Picture 11" descr="A black and white image of a loading bar&#10;&#10;AI-generated content may be incorrect.">
            <a:extLst>
              <a:ext uri="{FF2B5EF4-FFF2-40B4-BE49-F238E27FC236}">
                <a16:creationId xmlns:a16="http://schemas.microsoft.com/office/drawing/2014/main" id="{AAB79812-AC0D-7F7D-892D-86C87CF38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6" b="34999"/>
          <a:stretch/>
        </p:blipFill>
        <p:spPr>
          <a:xfrm>
            <a:off x="5816574" y="2260897"/>
            <a:ext cx="2121708" cy="722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E6CF22-00C3-07B6-008A-F2938B7945F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663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A4E9-FDDB-7EA6-2D36-C5948A63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11F3D0-6EEB-09B9-CD36-6E21D041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– Train Pipeline (III)</a:t>
            </a:r>
            <a:endParaRPr lang="it-IT" dirty="0">
              <a:latin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D4485-7D39-EED7-9363-FA906E6F96B9}"/>
              </a:ext>
            </a:extLst>
          </p:cNvPr>
          <p:cNvSpPr txBox="1"/>
          <p:nvPr/>
        </p:nvSpPr>
        <p:spPr>
          <a:xfrm>
            <a:off x="498021" y="1396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2FEBC-A15E-2C21-D443-07B346A76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" r="40278"/>
          <a:stretch/>
        </p:blipFill>
        <p:spPr>
          <a:xfrm>
            <a:off x="4462458" y="1044832"/>
            <a:ext cx="4452942" cy="3053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F6519-00D6-AED3-A2E7-263C76F31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5" y="1044832"/>
            <a:ext cx="4059589" cy="30538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AB2F93-1948-A094-EA96-B10794F633BF}"/>
              </a:ext>
            </a:extLst>
          </p:cNvPr>
          <p:cNvSpPr txBox="1"/>
          <p:nvPr/>
        </p:nvSpPr>
        <p:spPr>
          <a:xfrm>
            <a:off x="11929" y="4128994"/>
            <a:ext cx="255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Data Processing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A3F61F-33D4-2D96-693D-62C79706AACE}"/>
              </a:ext>
            </a:extLst>
          </p:cNvPr>
          <p:cNvSpPr txBox="1"/>
          <p:nvPr/>
        </p:nvSpPr>
        <p:spPr>
          <a:xfrm>
            <a:off x="4462458" y="4128994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Train Model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FA2BB-86FD-ABB8-DA14-32CF171865DD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945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 panose="020B0502020104020203" pitchFamily="34" charset="0"/>
                <a:ea typeface="Calibri"/>
                <a:cs typeface="Calibri"/>
              </a:rPr>
              <a:t>4. Data Augmentation</a:t>
            </a:r>
            <a:endParaRPr lang="en-US" dirty="0">
              <a:latin typeface="Gill Sans MT" panose="020B0502020104020203" pitchFamily="34" charset="0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1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C89B95B-5E42-ADFB-F1F3-88B4C8C3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82" y="266219"/>
            <a:ext cx="3212237" cy="425836"/>
          </a:xfrm>
        </p:spPr>
        <p:txBody>
          <a:bodyPr lIns="0" tIns="0" rIns="0" bIns="0" anchor="b">
            <a:normAutofit/>
          </a:bodyPr>
          <a:lstStyle/>
          <a:p>
            <a:r>
              <a:rPr lang="it-IT" sz="2700" b="1" dirty="0">
                <a:latin typeface="Gill Sans MT"/>
              </a:rPr>
              <a:t>Data </a:t>
            </a:r>
            <a:r>
              <a:rPr lang="it-IT" sz="2700" b="1" dirty="0" err="1">
                <a:latin typeface="Gill Sans MT"/>
              </a:rPr>
              <a:t>Augmentation</a:t>
            </a:r>
            <a:endParaRPr lang="it-IT" sz="2700" b="1" dirty="0">
              <a:latin typeface="Gill Sans M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458684"/>
            <a:ext cx="3017520" cy="205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78152B-2285-DE08-1DA7-286F8B9D3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799" y="1523325"/>
            <a:ext cx="3212238" cy="2633958"/>
          </a:xfrm>
        </p:spPr>
        <p:txBody>
          <a:bodyPr lIns="0" tIns="0" rIns="0" bIns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u="sng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Data augmentation</a:t>
            </a: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is a technique of artificially </a:t>
            </a:r>
            <a:r>
              <a:rPr lang="en-US" b="1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increasing</a:t>
            </a: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the </a:t>
            </a:r>
            <a:r>
              <a:rPr lang="en-US" b="1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training set </a:t>
            </a: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by creating modified copies of a dataset using existing data. </a:t>
            </a:r>
          </a:p>
          <a:p>
            <a:pPr>
              <a:spcAft>
                <a:spcPts val="600"/>
              </a:spcAft>
            </a:pP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It includes making minor changes to the dataset or using deep learning to generate new data points.</a:t>
            </a:r>
            <a:endParaRPr lang="it-IT" dirty="0">
              <a:latin typeface="Gill Sans MT" panose="020B0502020104020203" pitchFamily="34" charset="0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69382" y="4540020"/>
            <a:ext cx="555498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28692" y="161401"/>
            <a:ext cx="555498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266219"/>
            <a:ext cx="4638730" cy="44364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480E7-1328-B9A0-ABD6-E95775D436D9}"/>
              </a:ext>
            </a:extLst>
          </p:cNvPr>
          <p:cNvSpPr txBox="1"/>
          <p:nvPr/>
        </p:nvSpPr>
        <p:spPr>
          <a:xfrm>
            <a:off x="4488712" y="962037"/>
            <a:ext cx="428970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sz="2000" b="1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It helps </a:t>
            </a:r>
            <a:r>
              <a:rPr lang="en-US" sz="1500" b="0" i="0" u="sng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machine learning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models perform better </a:t>
            </a:r>
          </a:p>
          <a:p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by improving the existing data.</a:t>
            </a:r>
          </a:p>
          <a:p>
            <a:endParaRPr lang="en-US" sz="1500" b="0" i="0" dirty="0">
              <a:solidFill>
                <a:srgbClr val="05192D"/>
              </a:solidFill>
              <a:effectLst/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It prevents </a:t>
            </a:r>
            <a:r>
              <a:rPr lang="en-US" sz="1500" b="0" i="1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overfitting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, </a:t>
            </a:r>
            <a:r>
              <a:rPr lang="en-US" sz="1500" b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improves </a:t>
            </a:r>
            <a:r>
              <a:rPr lang="en-US" sz="1500" b="0" i="1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accuracy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, and </a:t>
            </a:r>
          </a:p>
          <a:p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creates </a:t>
            </a:r>
            <a:r>
              <a:rPr lang="en-US" sz="1500" b="0" i="1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diversity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in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5192D"/>
              </a:solidFill>
              <a:latin typeface="Gill Sans MT" panose="020B0502020104020203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5F0D6D-FB4D-7855-C644-4C09F62720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592" y="2641059"/>
            <a:ext cx="4563399" cy="10809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D4D200-BCC5-E901-84AC-6EC0FBE73E12}"/>
              </a:ext>
            </a:extLst>
          </p:cNvPr>
          <p:cNvSpPr txBox="1"/>
          <p:nvPr/>
        </p:nvSpPr>
        <p:spPr>
          <a:xfrm>
            <a:off x="5422214" y="536201"/>
            <a:ext cx="3911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dirty="0" err="1">
                <a:latin typeface="Gill Sans MT" panose="020B0502020104020203" pitchFamily="34" charset="0"/>
              </a:rPr>
              <a:t>Why</a:t>
            </a:r>
            <a:r>
              <a:rPr lang="it-IT" sz="1800" b="1" dirty="0">
                <a:latin typeface="Gill Sans MT" panose="020B0502020104020203" pitchFamily="34" charset="0"/>
              </a:rPr>
              <a:t> </a:t>
            </a:r>
            <a:r>
              <a:rPr lang="it-IT" sz="1800" b="1" dirty="0" err="1">
                <a:latin typeface="Gill Sans MT" panose="020B0502020104020203" pitchFamily="34" charset="0"/>
              </a:rPr>
              <a:t>should</a:t>
            </a:r>
            <a:r>
              <a:rPr lang="it-IT" sz="1800" b="1" dirty="0">
                <a:latin typeface="Gill Sans MT" panose="020B0502020104020203" pitchFamily="34" charset="0"/>
              </a:rPr>
              <a:t> </a:t>
            </a:r>
            <a:r>
              <a:rPr lang="it-IT" sz="1800" b="1" dirty="0" err="1">
                <a:latin typeface="Gill Sans MT" panose="020B0502020104020203" pitchFamily="34" charset="0"/>
              </a:rPr>
              <a:t>we</a:t>
            </a:r>
            <a:r>
              <a:rPr lang="it-IT" sz="1800" b="1" dirty="0">
                <a:latin typeface="Gill Sans MT" panose="020B0502020104020203" pitchFamily="34" charset="0"/>
              </a:rPr>
              <a:t> use </a:t>
            </a:r>
          </a:p>
          <a:p>
            <a:r>
              <a:rPr lang="it-IT" sz="1800" b="1" dirty="0">
                <a:latin typeface="Gill Sans MT" panose="020B0502020104020203" pitchFamily="34" charset="0"/>
              </a:rPr>
              <a:t>data </a:t>
            </a:r>
            <a:r>
              <a:rPr lang="it-IT" sz="1800" b="1" dirty="0" err="1">
                <a:latin typeface="Gill Sans MT" panose="020B0502020104020203" pitchFamily="34" charset="0"/>
              </a:rPr>
              <a:t>augmentation</a:t>
            </a:r>
            <a:r>
              <a:rPr lang="it-IT" sz="1800" b="1" dirty="0">
                <a:latin typeface="Gill Sans MT" panose="020B0502020104020203" pitchFamily="34" charset="0"/>
              </a:rPr>
              <a:t>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F74C8-4927-0E1E-C145-178EE788A6F9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4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6171-8D76-0A22-0C0A-E1AE7101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E14814-C230-8BB7-A212-17F89476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59" y="187958"/>
            <a:ext cx="8374549" cy="36933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1" dirty="0">
                <a:latin typeface="Gill Sans MT"/>
              </a:rPr>
              <a:t>Data </a:t>
            </a:r>
            <a:r>
              <a:rPr lang="it-IT" sz="2400" b="1" dirty="0" err="1">
                <a:latin typeface="Gill Sans MT"/>
              </a:rPr>
              <a:t>Augmentation</a:t>
            </a:r>
            <a:r>
              <a:rPr lang="it-IT" sz="2400" b="1" dirty="0">
                <a:latin typeface="Gill Sans MT"/>
              </a:rPr>
              <a:t> -  </a:t>
            </a:r>
            <a:r>
              <a:rPr lang="it-IT" sz="2400" b="1" dirty="0" err="1">
                <a:latin typeface="Gill Sans MT"/>
              </a:rPr>
              <a:t>Implementation</a:t>
            </a:r>
            <a:r>
              <a:rPr lang="it-IT" sz="2400" b="1" dirty="0">
                <a:latin typeface="Gill Sans MT"/>
              </a:rPr>
              <a:t> (I)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83196-EB68-1562-BD51-B6AC6BB03BD0}"/>
              </a:ext>
            </a:extLst>
          </p:cNvPr>
          <p:cNvSpPr txBox="1"/>
          <p:nvPr/>
        </p:nvSpPr>
        <p:spPr>
          <a:xfrm>
            <a:off x="198458" y="1210732"/>
            <a:ext cx="48319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1) </a:t>
            </a:r>
            <a:r>
              <a:rPr lang="it-IT" dirty="0" err="1">
                <a:latin typeface="Gill Sans MT" panose="020B0502020104020203" pitchFamily="34" charset="0"/>
              </a:rPr>
              <a:t>Retrieve</a:t>
            </a:r>
            <a:r>
              <a:rPr lang="it-IT" dirty="0">
                <a:latin typeface="Gill Sans MT" panose="020B0502020104020203" pitchFamily="34" charset="0"/>
              </a:rPr>
              <a:t> from </a:t>
            </a:r>
            <a:r>
              <a:rPr lang="it-IT" b="1" dirty="0" err="1">
                <a:latin typeface="Gill Sans MT" panose="020B0502020104020203" pitchFamily="34" charset="0"/>
              </a:rPr>
              <a:t>MeSH</a:t>
            </a:r>
            <a:r>
              <a:rPr lang="it-IT" dirty="0">
                <a:latin typeface="Gill Sans MT" panose="020B0502020104020203" pitchFamily="34" charset="0"/>
              </a:rPr>
              <a:t> (the</a:t>
            </a:r>
          </a:p>
          <a:p>
            <a:r>
              <a:rPr lang="it-IT" dirty="0">
                <a:latin typeface="Gill Sans MT" panose="020B0502020104020203" pitchFamily="34" charset="0"/>
              </a:rPr>
              <a:t>Official Medicine </a:t>
            </a:r>
            <a:r>
              <a:rPr lang="it-IT" dirty="0" err="1">
                <a:latin typeface="Gill Sans MT" panose="020B0502020104020203" pitchFamily="34" charset="0"/>
              </a:rPr>
              <a:t>Vocabulary</a:t>
            </a:r>
            <a:r>
              <a:rPr lang="it-IT" dirty="0">
                <a:latin typeface="Gill Sans MT" panose="020B0502020104020203" pitchFamily="34" charset="0"/>
              </a:rPr>
              <a:t> Online) </a:t>
            </a:r>
            <a:r>
              <a:rPr lang="it-IT" dirty="0" err="1">
                <a:latin typeface="Gill Sans MT" panose="020B0502020104020203" pitchFamily="34" charset="0"/>
              </a:rPr>
              <a:t>all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terms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their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synonyms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2) Parse the .xml file </a:t>
            </a:r>
            <a:r>
              <a:rPr lang="it-IT" dirty="0" err="1">
                <a:latin typeface="Gill Sans MT" panose="020B0502020104020203" pitchFamily="34" charset="0"/>
              </a:rPr>
              <a:t>obtained</a:t>
            </a:r>
            <a:r>
              <a:rPr lang="it-IT" dirty="0">
                <a:latin typeface="Gill Sans MT" panose="020B0502020104020203" pitchFamily="34" charset="0"/>
              </a:rPr>
              <a:t>, and after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save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into</a:t>
            </a:r>
            <a:r>
              <a:rPr lang="it-IT" dirty="0">
                <a:latin typeface="Gill Sans MT" panose="020B0502020104020203" pitchFamily="34" charset="0"/>
              </a:rPr>
              <a:t> a JSON format.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3) For </a:t>
            </a:r>
            <a:r>
              <a:rPr lang="it-IT" dirty="0" err="1">
                <a:latin typeface="Gill Sans MT" panose="020B0502020104020203" pitchFamily="34" charset="0"/>
              </a:rPr>
              <a:t>each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term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its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synonyms</a:t>
            </a:r>
            <a:r>
              <a:rPr lang="it-IT" dirty="0">
                <a:latin typeface="Gill Sans MT" panose="020B0502020104020203" pitchFamily="34" charset="0"/>
              </a:rPr>
              <a:t>, </a:t>
            </a:r>
          </a:p>
          <a:p>
            <a:r>
              <a:rPr lang="it-IT" dirty="0">
                <a:latin typeface="Gill Sans MT" panose="020B0502020104020203" pitchFamily="34" charset="0"/>
              </a:rPr>
              <a:t>compute the </a:t>
            </a:r>
            <a:r>
              <a:rPr lang="it-IT" dirty="0" err="1">
                <a:latin typeface="Gill Sans MT" panose="020B0502020104020203" pitchFamily="34" charset="0"/>
              </a:rPr>
              <a:t>embedding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the model </a:t>
            </a:r>
          </a:p>
          <a:p>
            <a:r>
              <a:rPr lang="it-IT" u="sng" dirty="0">
                <a:latin typeface="Gill Sans MT" panose="020B0502020104020203" pitchFamily="34" charset="0"/>
              </a:rPr>
              <a:t>all-mpnet-base-v2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6" name="Picture 5" descr="A logo with a tree and text&#10;&#10;AI-generated content may be incorrect.">
            <a:extLst>
              <a:ext uri="{FF2B5EF4-FFF2-40B4-BE49-F238E27FC236}">
                <a16:creationId xmlns:a16="http://schemas.microsoft.com/office/drawing/2014/main" id="{B973293A-5D53-4438-632C-F35B8DB74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444" y="874135"/>
            <a:ext cx="1847111" cy="2196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C384CC-8334-D3BA-9B8B-4C2F79D2115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50922-728F-E191-516D-F161B2F0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119" y="3170961"/>
            <a:ext cx="3545763" cy="152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04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70DE1-9FE7-80B8-71B4-24BAB5D5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8D16E8-8044-0E06-7908-8C7CDBAD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59" y="187958"/>
            <a:ext cx="8374549" cy="36933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1" dirty="0">
                <a:latin typeface="Gill Sans MT"/>
              </a:rPr>
              <a:t>Data </a:t>
            </a:r>
            <a:r>
              <a:rPr lang="it-IT" sz="2400" b="1" dirty="0" err="1">
                <a:latin typeface="Gill Sans MT"/>
              </a:rPr>
              <a:t>Augmentation</a:t>
            </a:r>
            <a:r>
              <a:rPr lang="it-IT" sz="2400" b="1" dirty="0">
                <a:latin typeface="Gill Sans MT"/>
              </a:rPr>
              <a:t> -  </a:t>
            </a:r>
            <a:r>
              <a:rPr lang="it-IT" sz="2400" b="1" dirty="0" err="1">
                <a:latin typeface="Gill Sans MT"/>
              </a:rPr>
              <a:t>Implementation</a:t>
            </a:r>
            <a:r>
              <a:rPr lang="it-IT" sz="2400" b="1" dirty="0">
                <a:latin typeface="Gill Sans MT"/>
              </a:rPr>
              <a:t> (II)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642C1-7C78-F558-92AF-179E470E188E}"/>
              </a:ext>
            </a:extLst>
          </p:cNvPr>
          <p:cNvSpPr txBox="1"/>
          <p:nvPr/>
        </p:nvSpPr>
        <p:spPr>
          <a:xfrm>
            <a:off x="216423" y="863590"/>
            <a:ext cx="45936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4) Compute the </a:t>
            </a:r>
            <a:r>
              <a:rPr lang="it-IT" b="1" dirty="0">
                <a:latin typeface="Gill Sans MT" panose="020B0502020104020203" pitchFamily="34" charset="0"/>
              </a:rPr>
              <a:t>Cosine </a:t>
            </a:r>
            <a:r>
              <a:rPr lang="it-IT" b="1" dirty="0" err="1">
                <a:latin typeface="Gill Sans MT" panose="020B0502020104020203" pitchFamily="34" charset="0"/>
              </a:rPr>
              <a:t>Similarity</a:t>
            </a:r>
            <a:r>
              <a:rPr lang="it-IT" b="1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between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original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term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its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synonyms</a:t>
            </a:r>
            <a:r>
              <a:rPr lang="it-IT" dirty="0">
                <a:latin typeface="Gill Sans MT" panose="020B0502020104020203" pitchFamily="34" charset="0"/>
              </a:rPr>
              <a:t>. </a:t>
            </a:r>
            <a:r>
              <a:rPr lang="it-IT" dirty="0" err="1">
                <a:latin typeface="Gill Sans MT" panose="020B0502020104020203" pitchFamily="34" charset="0"/>
              </a:rPr>
              <a:t>If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similarity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above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kept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otherwise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rejected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5) </a:t>
            </a:r>
            <a:r>
              <a:rPr lang="it-IT" dirty="0" err="1">
                <a:latin typeface="Gill Sans MT" panose="020B0502020104020203" pitchFamily="34" charset="0"/>
              </a:rPr>
              <a:t>Replace</a:t>
            </a:r>
            <a:r>
              <a:rPr lang="it-IT" dirty="0">
                <a:latin typeface="Gill Sans MT" panose="020B0502020104020203" pitchFamily="34" charset="0"/>
              </a:rPr>
              <a:t> in the </a:t>
            </a:r>
            <a:r>
              <a:rPr lang="it-IT" dirty="0" err="1">
                <a:latin typeface="Gill Sans MT" panose="020B0502020104020203" pitchFamily="34" charset="0"/>
              </a:rPr>
              <a:t>title</a:t>
            </a:r>
            <a:r>
              <a:rPr lang="it-IT" dirty="0">
                <a:latin typeface="Gill Sans MT" panose="020B0502020104020203" pitchFamily="34" charset="0"/>
              </a:rPr>
              <a:t> or in the abstract the </a:t>
            </a:r>
            <a:r>
              <a:rPr lang="it-IT" dirty="0" err="1">
                <a:latin typeface="Gill Sans MT" panose="020B0502020104020203" pitchFamily="34" charset="0"/>
              </a:rPr>
              <a:t>original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term</a:t>
            </a:r>
            <a:r>
              <a:rPr lang="it-IT" dirty="0">
                <a:latin typeface="Gill Sans MT" panose="020B0502020104020203" pitchFamily="34" charset="0"/>
              </a:rPr>
              <a:t> with the </a:t>
            </a:r>
            <a:r>
              <a:rPr lang="it-IT" dirty="0" err="1">
                <a:latin typeface="Gill Sans MT" panose="020B0502020104020203" pitchFamily="34" charset="0"/>
              </a:rPr>
              <a:t>augmented</a:t>
            </a:r>
            <a:r>
              <a:rPr lang="it-IT" dirty="0">
                <a:latin typeface="Gill Sans MT" panose="020B0502020104020203" pitchFamily="34" charset="0"/>
              </a:rPr>
              <a:t> one and </a:t>
            </a:r>
            <a:r>
              <a:rPr lang="it-IT" dirty="0" err="1">
                <a:latin typeface="Gill Sans MT" panose="020B0502020104020203" pitchFamily="34" charset="0"/>
              </a:rPr>
              <a:t>save</a:t>
            </a:r>
            <a:r>
              <a:rPr lang="it-IT" dirty="0">
                <a:latin typeface="Gill Sans MT" panose="020B0502020104020203" pitchFamily="34" charset="0"/>
              </a:rPr>
              <a:t> the new file. 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6) With a </a:t>
            </a:r>
            <a:r>
              <a:rPr lang="it-IT" dirty="0" err="1">
                <a:latin typeface="Gill Sans MT" panose="020B0502020104020203" pitchFamily="34" charset="0"/>
              </a:rPr>
              <a:t>trained</a:t>
            </a:r>
            <a:r>
              <a:rPr lang="it-IT" dirty="0">
                <a:latin typeface="Gill Sans MT" panose="020B0502020104020203" pitchFamily="34" charset="0"/>
              </a:rPr>
              <a:t> model, use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predict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then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retrain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augmented</a:t>
            </a:r>
            <a:r>
              <a:rPr lang="it-IT" dirty="0">
                <a:latin typeface="Gill Sans MT" panose="020B0502020104020203" pitchFamily="34" charset="0"/>
              </a:rPr>
              <a:t> file.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BC05D-9A3A-AAD2-2B8C-0AD311AF63B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5" name="Picture 4" descr="A logo with a tree and text&#10;&#10;AI-generated content may be incorrect.">
            <a:extLst>
              <a:ext uri="{FF2B5EF4-FFF2-40B4-BE49-F238E27FC236}">
                <a16:creationId xmlns:a16="http://schemas.microsoft.com/office/drawing/2014/main" id="{D89DD8CA-D418-23B3-2186-0D5201142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570" y="752255"/>
            <a:ext cx="1847111" cy="2196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9A618C-F73B-F01E-FA63-D9AEDCD8B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245" y="3144027"/>
            <a:ext cx="3545763" cy="152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80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DA58-019D-E111-45C2-4F8BCE88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5373E2-5AFE-B202-FCC2-FC072332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59" y="187958"/>
            <a:ext cx="8374549" cy="36933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1" dirty="0">
                <a:latin typeface="Gill Sans MT"/>
              </a:rPr>
              <a:t>Data </a:t>
            </a:r>
            <a:r>
              <a:rPr lang="it-IT" sz="2400" b="1" dirty="0" err="1">
                <a:latin typeface="Gill Sans MT"/>
              </a:rPr>
              <a:t>Augmentation</a:t>
            </a:r>
            <a:r>
              <a:rPr lang="it-IT" sz="2400" b="1" dirty="0">
                <a:latin typeface="Gill Sans MT"/>
              </a:rPr>
              <a:t> -  </a:t>
            </a:r>
            <a:r>
              <a:rPr lang="it-IT" sz="2400" b="1" dirty="0" err="1">
                <a:latin typeface="Gill Sans MT"/>
              </a:rPr>
              <a:t>Implementation</a:t>
            </a:r>
            <a:r>
              <a:rPr lang="it-IT" sz="2400" b="1" dirty="0">
                <a:latin typeface="Gill Sans MT"/>
              </a:rPr>
              <a:t> (II)</a:t>
            </a:r>
            <a:endParaRPr lang="it-IT" dirty="0">
              <a:latin typeface="Gill Sans MT"/>
            </a:endParaRPr>
          </a:p>
        </p:txBody>
      </p:sp>
      <p:pic>
        <p:nvPicPr>
          <p:cNvPr id="5" name="Picture 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DF84725C-945C-B34B-DE73-318545DED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263" y="1253928"/>
            <a:ext cx="4950788" cy="3263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2CDAC1-1193-2DD3-BEFB-91ABAE6E90A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0636B-ED15-9278-E4E4-EE20D88EE6BB}"/>
              </a:ext>
            </a:extLst>
          </p:cNvPr>
          <p:cNvSpPr txBox="1"/>
          <p:nvPr/>
        </p:nvSpPr>
        <p:spPr>
          <a:xfrm>
            <a:off x="198459" y="1316013"/>
            <a:ext cx="38208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data </a:t>
            </a:r>
            <a:r>
              <a:rPr lang="it-IT" dirty="0" err="1">
                <a:latin typeface="Gill Sans MT" panose="020B0502020104020203" pitchFamily="34" charset="0"/>
              </a:rPr>
              <a:t>augmentation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process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does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not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improve</a:t>
            </a:r>
            <a:r>
              <a:rPr lang="it-IT" dirty="0">
                <a:latin typeface="Gill Sans MT" panose="020B0502020104020203" pitchFamily="34" charset="0"/>
              </a:rPr>
              <a:t> so </a:t>
            </a:r>
            <a:r>
              <a:rPr lang="it-IT" dirty="0" err="1">
                <a:latin typeface="Gill Sans MT" panose="020B0502020104020203" pitchFamily="34" charset="0"/>
              </a:rPr>
              <a:t>much</a:t>
            </a:r>
            <a:r>
              <a:rPr lang="it-IT" dirty="0">
                <a:latin typeface="Gill Sans MT" panose="020B0502020104020203" pitchFamily="34" charset="0"/>
              </a:rPr>
              <a:t> the P, R, F1 </a:t>
            </a:r>
          </a:p>
          <a:p>
            <a:r>
              <a:rPr lang="it-IT" dirty="0">
                <a:latin typeface="Gill Sans MT" panose="020B0502020104020203" pitchFamily="34" charset="0"/>
              </a:rPr>
              <a:t>score.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b="1" dirty="0" err="1">
                <a:latin typeface="Gill Sans MT" panose="020B0502020104020203" pitchFamily="34" charset="0"/>
              </a:rPr>
              <a:t>Why</a:t>
            </a:r>
            <a:r>
              <a:rPr lang="it-IT" b="1" dirty="0">
                <a:latin typeface="Gill Sans MT" panose="020B0502020104020203" pitchFamily="34" charset="0"/>
              </a:rPr>
              <a:t>?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model </a:t>
            </a:r>
            <a:r>
              <a:rPr lang="it-IT" dirty="0" err="1">
                <a:latin typeface="Gill Sans MT" panose="020B0502020104020203" pitchFamily="34" charset="0"/>
              </a:rPr>
              <a:t>maps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similar</a:t>
            </a:r>
            <a:r>
              <a:rPr lang="it-IT" dirty="0">
                <a:latin typeface="Gill Sans MT" panose="020B0502020104020203" pitchFamily="34" charset="0"/>
              </a:rPr>
              <a:t> words close so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most</a:t>
            </a:r>
            <a:r>
              <a:rPr lang="it-IT" dirty="0">
                <a:latin typeface="Gill Sans MT" panose="020B0502020104020203" pitchFamily="34" charset="0"/>
              </a:rPr>
              <a:t> of the </a:t>
            </a:r>
            <a:r>
              <a:rPr lang="it-IT" dirty="0" err="1">
                <a:latin typeface="Gill Sans MT" panose="020B0502020104020203" pitchFamily="34" charset="0"/>
              </a:rPr>
              <a:t>terms</a:t>
            </a:r>
            <a:r>
              <a:rPr lang="it-IT" dirty="0">
                <a:latin typeface="Gill Sans MT" panose="020B0502020104020203" pitchFamily="34" charset="0"/>
              </a:rPr>
              <a:t> with the Cosine </a:t>
            </a:r>
            <a:r>
              <a:rPr lang="it-IT" dirty="0" err="1">
                <a:latin typeface="Gill Sans MT" panose="020B0502020104020203" pitchFamily="34" charset="0"/>
              </a:rPr>
              <a:t>similarity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greater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than</a:t>
            </a:r>
            <a:r>
              <a:rPr lang="it-IT" dirty="0">
                <a:latin typeface="Gill Sans MT" panose="020B0502020104020203" pitchFamily="34" charset="0"/>
              </a:rPr>
              <a:t> 0.8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are </a:t>
            </a:r>
            <a:r>
              <a:rPr lang="it-IT" dirty="0" err="1">
                <a:latin typeface="Gill Sans MT" panose="020B0502020104020203" pitchFamily="34" charset="0"/>
              </a:rPr>
              <a:t>replaced</a:t>
            </a:r>
            <a:r>
              <a:rPr lang="it-IT" dirty="0">
                <a:latin typeface="Gill Sans MT" panose="020B0502020104020203" pitchFamily="34" charset="0"/>
              </a:rPr>
              <a:t> do </a:t>
            </a:r>
            <a:r>
              <a:rPr lang="it-IT" dirty="0" err="1">
                <a:latin typeface="Gill Sans MT" panose="020B0502020104020203" pitchFamily="34" charset="0"/>
              </a:rPr>
              <a:t>not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affect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precision</a:t>
            </a:r>
            <a:r>
              <a:rPr lang="it-IT" dirty="0">
                <a:latin typeface="Gill Sans MT" panose="020B0502020104020203" pitchFamily="34" charset="0"/>
              </a:rPr>
              <a:t>, recall and f1 score so </a:t>
            </a:r>
            <a:r>
              <a:rPr lang="it-IT" dirty="0" err="1">
                <a:latin typeface="Gill Sans MT" panose="020B0502020104020203" pitchFamily="34" charset="0"/>
              </a:rPr>
              <a:t>much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7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699DE-FB97-0664-4454-58658EF4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7C159EC-5904-15F4-BA1C-5A1CB1F1A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88112A-9DEE-14DA-4963-C48C3EB3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872909-A689-65FA-CE02-5857BB26D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009383-2DB0-EDA1-113C-385CDDF76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A5C4719-2E41-91D3-721E-58C7BBDAE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A0F33-5E93-3FE7-7423-D25BBE63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 panose="020B0502020104020203" pitchFamily="34" charset="0"/>
                <a:ea typeface="Calibri"/>
                <a:cs typeface="Calibri"/>
              </a:rPr>
              <a:t>5. RE Model</a:t>
            </a:r>
            <a:endParaRPr lang="en-US" dirty="0">
              <a:latin typeface="Gill Sans MT" panose="020B0502020104020203" pitchFamily="34" charset="0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E82B9E-84BF-4DD6-BA5F-AC386467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938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and white line art of a gear&#10;&#10;AI-generated content may be incorrect.">
            <a:extLst>
              <a:ext uri="{FF2B5EF4-FFF2-40B4-BE49-F238E27FC236}">
                <a16:creationId xmlns:a16="http://schemas.microsoft.com/office/drawing/2014/main" id="{211F4871-1EA0-9755-95E2-5B7D90AB6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5" t="12398" r="19001" b="25974"/>
          <a:stretch/>
        </p:blipFill>
        <p:spPr>
          <a:xfrm>
            <a:off x="7678260" y="3681474"/>
            <a:ext cx="999213" cy="973849"/>
          </a:xfrm>
          <a:prstGeom prst="rect">
            <a:avLst/>
          </a:prstGeom>
        </p:spPr>
      </p:pic>
      <p:pic>
        <p:nvPicPr>
          <p:cNvPr id="15" name="Picture 14" descr="A yellow emoji with a hand and a number one&#10;&#10;AI-generated content may be incorrect.">
            <a:extLst>
              <a:ext uri="{FF2B5EF4-FFF2-40B4-BE49-F238E27FC236}">
                <a16:creationId xmlns:a16="http://schemas.microsoft.com/office/drawing/2014/main" id="{274D5092-2561-2EC2-E0AE-E7C1325EB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9" t="23640" r="60132" b="23640"/>
          <a:stretch/>
        </p:blipFill>
        <p:spPr>
          <a:xfrm>
            <a:off x="6225864" y="2041674"/>
            <a:ext cx="1371462" cy="1305415"/>
          </a:xfrm>
          <a:prstGeom prst="rect">
            <a:avLst/>
          </a:prstGeom>
        </p:spPr>
      </p:pic>
      <p:pic>
        <p:nvPicPr>
          <p:cNvPr id="11" name="Picture 10" descr="A blue circular logo with gears around it&#10;&#10;AI-generated content may be incorrect.">
            <a:extLst>
              <a:ext uri="{FF2B5EF4-FFF2-40B4-BE49-F238E27FC236}">
                <a16:creationId xmlns:a16="http://schemas.microsoft.com/office/drawing/2014/main" id="{4A482A07-952B-30E9-C848-6574DB62F2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22" y="3475940"/>
            <a:ext cx="785812" cy="785812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45BEA4CC-655B-FC6F-BE93-C4CF1097C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824" y="726276"/>
            <a:ext cx="989919" cy="98991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B07E121-9E05-58A8-7B81-5B81F452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27662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RE Model – </a:t>
            </a:r>
            <a:r>
              <a:rPr lang="it-IT" b="1" dirty="0" err="1">
                <a:latin typeface="Gill Sans MT"/>
              </a:rPr>
              <a:t>Implementation</a:t>
            </a:r>
            <a:r>
              <a:rPr lang="it-IT" b="1" dirty="0">
                <a:latin typeface="Gill Sans MT"/>
              </a:rPr>
              <a:t> (I)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C9F0C-C7A4-0614-76A7-BA6A997626B1}"/>
              </a:ext>
            </a:extLst>
          </p:cNvPr>
          <p:cNvSpPr txBox="1"/>
          <p:nvPr/>
        </p:nvSpPr>
        <p:spPr>
          <a:xfrm>
            <a:off x="235608" y="948752"/>
            <a:ext cx="31117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Gill Sans MT" panose="020B0502020104020203" pitchFamily="34" charset="0"/>
              </a:rPr>
              <a:t>1) </a:t>
            </a:r>
            <a:r>
              <a:rPr lang="it-IT" sz="1400" b="1" dirty="0">
                <a:latin typeface="Gill Sans MT" panose="020B0502020104020203" pitchFamily="34" charset="0"/>
              </a:rPr>
              <a:t>Load the JSON file </a:t>
            </a:r>
          </a:p>
          <a:p>
            <a:r>
              <a:rPr lang="it-IT" sz="1400" b="1" dirty="0">
                <a:latin typeface="Gill Sans MT" panose="020B0502020104020203" pitchFamily="34" charset="0"/>
              </a:rPr>
              <a:t>&amp; </a:t>
            </a:r>
            <a:r>
              <a:rPr lang="it-IT" sz="1400" b="1" dirty="0" err="1">
                <a:latin typeface="Gill Sans MT" panose="020B0502020104020203" pitchFamily="34" charset="0"/>
              </a:rPr>
              <a:t>Tokenizer</a:t>
            </a:r>
            <a:r>
              <a:rPr lang="it-IT" sz="1400" dirty="0">
                <a:latin typeface="Gill Sans MT" panose="020B0502020104020203" pitchFamily="34" charset="0"/>
              </a:rPr>
              <a:t>: load the </a:t>
            </a:r>
          </a:p>
          <a:p>
            <a:r>
              <a:rPr lang="it-IT" sz="1400" dirty="0" err="1">
                <a:latin typeface="Gill Sans MT" panose="020B0502020104020203" pitchFamily="34" charset="0"/>
              </a:rPr>
              <a:t>articles</a:t>
            </a:r>
            <a:r>
              <a:rPr lang="it-IT" sz="1400" dirty="0">
                <a:latin typeface="Gill Sans MT" panose="020B0502020104020203" pitchFamily="34" charset="0"/>
              </a:rPr>
              <a:t>, relations and </a:t>
            </a:r>
          </a:p>
          <a:p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; </a:t>
            </a:r>
            <a:r>
              <a:rPr lang="it-IT" sz="1400" dirty="0" err="1">
                <a:latin typeface="Gill Sans MT" panose="020B0502020104020203" pitchFamily="34" charset="0"/>
              </a:rPr>
              <a:t>then</a:t>
            </a:r>
            <a:r>
              <a:rPr lang="it-IT" sz="1400" dirty="0">
                <a:latin typeface="Gill Sans MT" panose="020B0502020104020203" pitchFamily="34" charset="0"/>
              </a:rPr>
              <a:t> use BERT </a:t>
            </a:r>
            <a:r>
              <a:rPr lang="it-IT" sz="1400" dirty="0" err="1">
                <a:latin typeface="Gill Sans MT" panose="020B0502020104020203" pitchFamily="34" charset="0"/>
              </a:rPr>
              <a:t>Tokenizer</a:t>
            </a:r>
            <a:endParaRPr lang="it-IT" sz="1400" dirty="0">
              <a:latin typeface="Gill Sans MT" panose="020B0502020104020203" pitchFamily="34" charset="0"/>
            </a:endParaRPr>
          </a:p>
          <a:p>
            <a:r>
              <a:rPr lang="it-IT" sz="1400" dirty="0">
                <a:latin typeface="Gill Sans MT" panose="020B0502020104020203" pitchFamily="34" charset="0"/>
              </a:rPr>
              <a:t>to </a:t>
            </a:r>
            <a:r>
              <a:rPr lang="it-IT" sz="1400" dirty="0" err="1">
                <a:latin typeface="Gill Sans MT" panose="020B0502020104020203" pitchFamily="34" charset="0"/>
              </a:rPr>
              <a:t>prepare</a:t>
            </a:r>
            <a:r>
              <a:rPr lang="it-IT" sz="1400" dirty="0">
                <a:latin typeface="Gill Sans MT" panose="020B0502020104020203" pitchFamily="34" charset="0"/>
              </a:rPr>
              <a:t> the input for the NN </a:t>
            </a:r>
            <a:r>
              <a:rPr lang="it-IT" sz="1400" dirty="0" err="1">
                <a:latin typeface="Gill Sans MT" panose="020B0502020104020203" pitchFamily="34" charset="0"/>
              </a:rPr>
              <a:t>adding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[E1],[E2] to highlight </a:t>
            </a:r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 in the text.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E2253B8-22FA-9DF7-EE83-15A724371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5400000">
            <a:off x="979129" y="2891865"/>
            <a:ext cx="1232808" cy="3464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996227-E345-1B47-9F3A-528F6CE11212}"/>
              </a:ext>
            </a:extLst>
          </p:cNvPr>
          <p:cNvSpPr txBox="1"/>
          <p:nvPr/>
        </p:nvSpPr>
        <p:spPr>
          <a:xfrm>
            <a:off x="252118" y="3807900"/>
            <a:ext cx="320857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Gill Sans MT" panose="020B0502020104020203" pitchFamily="34" charset="0"/>
              </a:rPr>
              <a:t>2) </a:t>
            </a:r>
            <a:r>
              <a:rPr lang="it-IT" sz="1400" b="1" dirty="0">
                <a:latin typeface="Gill Sans MT" panose="020B0502020104020203" pitchFamily="34" charset="0"/>
              </a:rPr>
              <a:t>Data </a:t>
            </a:r>
            <a:r>
              <a:rPr lang="it-IT" sz="1400" b="1" dirty="0" err="1">
                <a:latin typeface="Gill Sans MT" panose="020B0502020104020203" pitchFamily="34" charset="0"/>
              </a:rPr>
              <a:t>Preprocessing</a:t>
            </a:r>
            <a:r>
              <a:rPr lang="it-IT" sz="1400" dirty="0">
                <a:latin typeface="Gill Sans MT" panose="020B0502020104020203" pitchFamily="34" charset="0"/>
              </a:rPr>
              <a:t>: 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Separate </a:t>
            </a:r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 in the </a:t>
            </a:r>
            <a:r>
              <a:rPr lang="it-IT" sz="1400" dirty="0" err="1">
                <a:latin typeface="Gill Sans MT" panose="020B0502020104020203" pitchFamily="34" charset="0"/>
              </a:rPr>
              <a:t>title</a:t>
            </a:r>
            <a:r>
              <a:rPr lang="it-IT" sz="1400" dirty="0">
                <a:latin typeface="Gill Sans MT" panose="020B0502020104020203" pitchFamily="34" charset="0"/>
              </a:rPr>
              <a:t> or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in the abstract, filter relations </a:t>
            </a:r>
            <a:r>
              <a:rPr lang="it-IT" sz="1400" dirty="0" err="1">
                <a:latin typeface="Gill Sans MT" panose="020B0502020104020203" pitchFamily="34" charset="0"/>
              </a:rPr>
              <a:t>that</a:t>
            </a:r>
            <a:r>
              <a:rPr lang="it-IT" sz="1400" dirty="0">
                <a:latin typeface="Gill Sans MT" panose="020B0502020104020203" pitchFamily="34" charset="0"/>
              </a:rPr>
              <a:t> involve</a:t>
            </a:r>
          </a:p>
          <a:p>
            <a:r>
              <a:rPr lang="it-IT" sz="1400" dirty="0" err="1">
                <a:latin typeface="Gill Sans MT" panose="020B0502020104020203" pitchFamily="34" charset="0"/>
              </a:rPr>
              <a:t>both</a:t>
            </a:r>
            <a:r>
              <a:rPr lang="it-IT" sz="1400" dirty="0">
                <a:latin typeface="Gill Sans MT" panose="020B0502020104020203" pitchFamily="34" charset="0"/>
              </a:rPr>
              <a:t> of </a:t>
            </a:r>
            <a:r>
              <a:rPr lang="it-IT" sz="1400" dirty="0" err="1">
                <a:latin typeface="Gill Sans MT" panose="020B0502020104020203" pitchFamily="34" charset="0"/>
              </a:rPr>
              <a:t>them</a:t>
            </a:r>
            <a:r>
              <a:rPr lang="it-IT" sz="1400" dirty="0">
                <a:latin typeface="Gill Sans MT" panose="020B0502020104020203" pitchFamily="34" charset="0"/>
              </a:rPr>
              <a:t>; create </a:t>
            </a:r>
            <a:r>
              <a:rPr lang="it-IT" sz="1400" dirty="0" err="1">
                <a:latin typeface="Gill Sans MT" panose="020B0502020104020203" pitchFamily="34" charset="0"/>
              </a:rPr>
              <a:t>valid</a:t>
            </a:r>
            <a:r>
              <a:rPr lang="it-IT" sz="1400" dirty="0">
                <a:latin typeface="Gill Sans MT" panose="020B0502020104020203" pitchFamily="34" charset="0"/>
              </a:rPr>
              <a:t> relations 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and non </a:t>
            </a:r>
            <a:r>
              <a:rPr lang="it-IT" sz="1400" dirty="0" err="1">
                <a:latin typeface="Gill Sans MT" panose="020B0502020104020203" pitchFamily="34" charset="0"/>
              </a:rPr>
              <a:t>valid</a:t>
            </a:r>
            <a:r>
              <a:rPr lang="it-IT" sz="1400" dirty="0">
                <a:latin typeface="Gill Sans MT" panose="020B0502020104020203" pitchFamily="34" charset="0"/>
              </a:rPr>
              <a:t> relations.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pic>
        <p:nvPicPr>
          <p:cNvPr id="12" name="Picture 11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5E4A0E2-9DA3-D60D-2E3B-FFFACF748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18458710">
            <a:off x="2642717" y="2172166"/>
            <a:ext cx="2637198" cy="5251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583D13-632D-9367-EAA0-068F6D1C9616}"/>
              </a:ext>
            </a:extLst>
          </p:cNvPr>
          <p:cNvSpPr txBox="1"/>
          <p:nvPr/>
        </p:nvSpPr>
        <p:spPr>
          <a:xfrm>
            <a:off x="4829380" y="848059"/>
            <a:ext cx="42493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ill Sans MT" panose="020B0502020104020203" pitchFamily="34" charset="0"/>
              </a:rPr>
              <a:t>3) </a:t>
            </a:r>
            <a:r>
              <a:rPr lang="it-IT" sz="1400" b="1" dirty="0">
                <a:latin typeface="Gill Sans MT" panose="020B0502020104020203" pitchFamily="34" charset="0"/>
              </a:rPr>
              <a:t>The </a:t>
            </a:r>
            <a:r>
              <a:rPr lang="it-IT" sz="1400" b="1" dirty="0" err="1">
                <a:latin typeface="Gill Sans MT" panose="020B0502020104020203" pitchFamily="34" charset="0"/>
              </a:rPr>
              <a:t>PubMedBERT</a:t>
            </a:r>
            <a:r>
              <a:rPr lang="it-IT" sz="1400" b="1" dirty="0">
                <a:latin typeface="Gill Sans MT" panose="020B0502020104020203" pitchFamily="34" charset="0"/>
              </a:rPr>
              <a:t> Model</a:t>
            </a:r>
            <a:r>
              <a:rPr lang="it-IT" sz="1400" dirty="0">
                <a:latin typeface="Gill Sans MT" panose="020B0502020104020203" pitchFamily="34" charset="0"/>
              </a:rPr>
              <a:t>: </a:t>
            </a:r>
            <a:r>
              <a:rPr lang="it-IT" sz="1400" dirty="0" err="1">
                <a:latin typeface="Gill Sans MT" panose="020B0502020104020203" pitchFamily="34" charset="0"/>
              </a:rPr>
              <a:t>initialize</a:t>
            </a:r>
            <a:r>
              <a:rPr lang="it-IT" sz="1400" dirty="0">
                <a:latin typeface="Gill Sans MT" panose="020B0502020104020203" pitchFamily="34" charset="0"/>
              </a:rPr>
              <a:t> a BERT model </a:t>
            </a:r>
            <a:r>
              <a:rPr lang="it-IT" sz="1400" dirty="0" err="1">
                <a:latin typeface="Gill Sans MT" panose="020B0502020104020203" pitchFamily="34" charset="0"/>
              </a:rPr>
              <a:t>pre-trained</a:t>
            </a:r>
            <a:r>
              <a:rPr lang="it-IT" sz="1400" dirty="0">
                <a:latin typeface="Gill Sans MT" panose="020B0502020104020203" pitchFamily="34" charset="0"/>
              </a:rPr>
              <a:t> on </a:t>
            </a:r>
            <a:r>
              <a:rPr lang="it-IT" sz="1400" dirty="0" err="1">
                <a:latin typeface="Gill Sans MT" panose="020B0502020104020203" pitchFamily="34" charset="0"/>
              </a:rPr>
              <a:t>PubMed</a:t>
            </a:r>
            <a:r>
              <a:rPr lang="it-IT" sz="1400" dirty="0">
                <a:latin typeface="Gill Sans MT" panose="020B0502020104020203" pitchFamily="34" charset="0"/>
              </a:rPr>
              <a:t> abstracts. </a:t>
            </a:r>
            <a:r>
              <a:rPr lang="it-IT" sz="1400" dirty="0" err="1">
                <a:latin typeface="Gill Sans MT" panose="020B0502020104020203" pitchFamily="34" charset="0"/>
              </a:rPr>
              <a:t>Resize</a:t>
            </a:r>
            <a:r>
              <a:rPr lang="it-IT" sz="1400" dirty="0">
                <a:latin typeface="Gill Sans MT" panose="020B0502020104020203" pitchFamily="34" charset="0"/>
              </a:rPr>
              <a:t> the token </a:t>
            </a:r>
            <a:r>
              <a:rPr lang="it-IT" sz="1400" dirty="0" err="1">
                <a:latin typeface="Gill Sans MT" panose="020B0502020104020203" pitchFamily="34" charset="0"/>
              </a:rPr>
              <a:t>embedding</a:t>
            </a:r>
            <a:r>
              <a:rPr lang="it-IT" sz="1400" dirty="0">
                <a:latin typeface="Gill Sans MT" panose="020B0502020104020203" pitchFamily="34" charset="0"/>
              </a:rPr>
              <a:t> to include the markers ([E1], etc.).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Set up the model to </a:t>
            </a:r>
            <a:r>
              <a:rPr lang="it-IT" sz="1400" dirty="0" err="1">
                <a:latin typeface="Gill Sans MT" panose="020B0502020104020203" pitchFamily="34" charset="0"/>
              </a:rPr>
              <a:t>perform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Sequence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Classification</a:t>
            </a:r>
            <a:r>
              <a:rPr lang="it-IT" sz="1400" dirty="0">
                <a:latin typeface="Gill Sans MT" panose="020B0502020104020203" pitchFamily="34" charset="0"/>
              </a:rPr>
              <a:t>: </a:t>
            </a:r>
            <a:r>
              <a:rPr lang="it-IT" sz="1400" dirty="0" err="1">
                <a:latin typeface="Gill Sans MT" panose="020B0502020104020203" pitchFamily="34" charset="0"/>
              </a:rPr>
              <a:t>each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sequence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corresponds</a:t>
            </a:r>
            <a:r>
              <a:rPr lang="it-IT" sz="1400" dirty="0">
                <a:latin typeface="Gill Sans MT" panose="020B0502020104020203" pitchFamily="34" charset="0"/>
              </a:rPr>
              <a:t> to a </a:t>
            </a:r>
            <a:r>
              <a:rPr lang="it-IT" sz="1400" dirty="0" err="1">
                <a:latin typeface="Gill Sans MT" panose="020B0502020104020203" pitchFamily="34" charset="0"/>
              </a:rPr>
              <a:t>potential</a:t>
            </a:r>
            <a:r>
              <a:rPr lang="it-IT" sz="1400" dirty="0">
                <a:latin typeface="Gill Sans MT" panose="020B0502020104020203" pitchFamily="34" charset="0"/>
              </a:rPr>
              <a:t> relation </a:t>
            </a:r>
            <a:r>
              <a:rPr lang="it-IT" sz="1400" dirty="0" err="1">
                <a:latin typeface="Gill Sans MT" panose="020B0502020104020203" pitchFamily="34" charset="0"/>
              </a:rPr>
              <a:t>between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two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5E8DD-58FA-D99B-4D5A-09376252DFFB}"/>
              </a:ext>
            </a:extLst>
          </p:cNvPr>
          <p:cNvSpPr txBox="1"/>
          <p:nvPr/>
        </p:nvSpPr>
        <p:spPr>
          <a:xfrm>
            <a:off x="4974571" y="3770456"/>
            <a:ext cx="28568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4) </a:t>
            </a:r>
            <a:r>
              <a:rPr lang="it-IT" sz="1400" b="1" dirty="0">
                <a:latin typeface="Gill Sans MT" panose="020B0502020104020203" pitchFamily="34" charset="0"/>
              </a:rPr>
              <a:t>Training Setup</a:t>
            </a:r>
            <a:r>
              <a:rPr lang="it-IT" sz="1400" dirty="0">
                <a:latin typeface="Gill Sans MT" panose="020B0502020104020203" pitchFamily="34" charset="0"/>
              </a:rPr>
              <a:t>: Set </a:t>
            </a:r>
            <a:r>
              <a:rPr lang="it-IT" sz="1400" dirty="0" err="1">
                <a:latin typeface="Gill Sans MT" panose="020B0502020104020203" pitchFamily="34" charset="0"/>
              </a:rPr>
              <a:t>optimizer</a:t>
            </a:r>
            <a:r>
              <a:rPr lang="it-IT" sz="1400" dirty="0">
                <a:latin typeface="Gill Sans MT" panose="020B0502020104020203" pitchFamily="34" charset="0"/>
              </a:rPr>
              <a:t> to </a:t>
            </a:r>
            <a:r>
              <a:rPr lang="it-IT" sz="1400" dirty="0" err="1">
                <a:latin typeface="Gill Sans MT" panose="020B0502020104020203" pitchFamily="34" charset="0"/>
              </a:rPr>
              <a:t>AdamW</a:t>
            </a:r>
            <a:r>
              <a:rPr lang="it-IT" sz="1400" dirty="0">
                <a:latin typeface="Gill Sans MT" panose="020B0502020104020203" pitchFamily="34" charset="0"/>
              </a:rPr>
              <a:t>; set up </a:t>
            </a:r>
            <a:r>
              <a:rPr lang="it-IT" sz="1400" dirty="0" err="1">
                <a:latin typeface="Gill Sans MT" panose="020B0502020104020203" pitchFamily="34" charset="0"/>
              </a:rPr>
              <a:t>hyperparameters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that</a:t>
            </a:r>
            <a:r>
              <a:rPr lang="it-IT" sz="1400" dirty="0">
                <a:latin typeface="Gill Sans MT" panose="020B0502020104020203" pitchFamily="34" charset="0"/>
              </a:rPr>
              <a:t> are </a:t>
            </a:r>
            <a:r>
              <a:rPr lang="it-IT" sz="1400" dirty="0" err="1">
                <a:latin typeface="Gill Sans MT" panose="020B0502020104020203" pitchFamily="34" charset="0"/>
              </a:rPr>
              <a:t>going</a:t>
            </a:r>
            <a:r>
              <a:rPr lang="it-IT" sz="1400" dirty="0">
                <a:latin typeface="Gill Sans MT" panose="020B0502020104020203" pitchFamily="34" charset="0"/>
              </a:rPr>
              <a:t> to be </a:t>
            </a:r>
            <a:r>
              <a:rPr lang="it-IT" sz="1400" dirty="0" err="1">
                <a:latin typeface="Gill Sans MT" panose="020B0502020104020203" pitchFamily="34" charset="0"/>
              </a:rPr>
              <a:t>used</a:t>
            </a:r>
            <a:r>
              <a:rPr lang="it-IT" sz="1400" dirty="0">
                <a:latin typeface="Gill Sans MT" panose="020B0502020104020203" pitchFamily="34" charset="0"/>
              </a:rPr>
              <a:t> to </a:t>
            </a:r>
            <a:r>
              <a:rPr lang="it-IT" sz="1400" dirty="0" err="1">
                <a:latin typeface="Gill Sans MT" panose="020B0502020104020203" pitchFamily="34" charset="0"/>
              </a:rPr>
              <a:t>train</a:t>
            </a:r>
            <a:r>
              <a:rPr lang="it-IT" sz="1400" dirty="0">
                <a:latin typeface="Gill Sans MT" panose="020B0502020104020203" pitchFamily="34" charset="0"/>
              </a:rPr>
              <a:t> the model (</a:t>
            </a:r>
            <a:r>
              <a:rPr lang="it-IT" sz="1400" dirty="0" err="1">
                <a:latin typeface="Gill Sans MT" panose="020B0502020104020203" pitchFamily="34" charset="0"/>
              </a:rPr>
              <a:t>epoch</a:t>
            </a:r>
            <a:r>
              <a:rPr lang="it-IT" sz="1400" dirty="0">
                <a:latin typeface="Gill Sans MT" panose="020B0502020104020203" pitchFamily="34" charset="0"/>
              </a:rPr>
              <a:t>, steps, learning rate).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7B79F-ACB7-2067-0C96-C25121CDA14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9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71FA7-461B-6122-86E8-4B6E3C57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white floppy disk&#10;&#10;AI-generated content may be incorrect.">
            <a:extLst>
              <a:ext uri="{FF2B5EF4-FFF2-40B4-BE49-F238E27FC236}">
                <a16:creationId xmlns:a16="http://schemas.microsoft.com/office/drawing/2014/main" id="{CAB47E23-8108-D136-2B15-77920A492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0" t="17833" r="22989" b="15648"/>
          <a:stretch/>
        </p:blipFill>
        <p:spPr>
          <a:xfrm>
            <a:off x="7182854" y="2155375"/>
            <a:ext cx="1203158" cy="937719"/>
          </a:xfrm>
          <a:prstGeom prst="rect">
            <a:avLst/>
          </a:prstGeom>
        </p:spPr>
      </p:pic>
      <p:pic>
        <p:nvPicPr>
          <p:cNvPr id="10" name="Picture 9" descr="A black line drawing of a graph&#10;&#10;AI-generated content may be incorrect.">
            <a:extLst>
              <a:ext uri="{FF2B5EF4-FFF2-40B4-BE49-F238E27FC236}">
                <a16:creationId xmlns:a16="http://schemas.microsoft.com/office/drawing/2014/main" id="{6B0F33A5-D7CC-5538-E040-2264CCCD1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469" y="3665523"/>
            <a:ext cx="1419727" cy="1419727"/>
          </a:xfrm>
          <a:prstGeom prst="rect">
            <a:avLst/>
          </a:prstGeom>
        </p:spPr>
      </p:pic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7654CE9B-DF1D-1397-0A7F-1AD83E71A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72" y="1022596"/>
            <a:ext cx="1236398" cy="95804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D227033-2DC9-D123-EEA0-99CE4B47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27662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RE Model – </a:t>
            </a:r>
            <a:r>
              <a:rPr lang="it-IT" b="1" dirty="0" err="1">
                <a:latin typeface="Gill Sans MT"/>
              </a:rPr>
              <a:t>Implementation</a:t>
            </a:r>
            <a:r>
              <a:rPr lang="it-IT" b="1" dirty="0">
                <a:latin typeface="Gill Sans MT"/>
              </a:rPr>
              <a:t> (II)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EC903-4326-3DB1-899D-F9F42E9C2C2B}"/>
              </a:ext>
            </a:extLst>
          </p:cNvPr>
          <p:cNvSpPr txBox="1"/>
          <p:nvPr/>
        </p:nvSpPr>
        <p:spPr>
          <a:xfrm>
            <a:off x="455698" y="1152688"/>
            <a:ext cx="2890535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5) </a:t>
            </a:r>
            <a:r>
              <a:rPr lang="it-IT" sz="1700" b="1" dirty="0">
                <a:latin typeface="Gill Sans MT" panose="020B0502020104020203" pitchFamily="34" charset="0"/>
              </a:rPr>
              <a:t>Model Training</a:t>
            </a:r>
            <a:r>
              <a:rPr lang="it-IT" sz="1700" dirty="0">
                <a:latin typeface="Gill Sans MT" panose="020B0502020104020203" pitchFamily="34" charset="0"/>
              </a:rPr>
              <a:t>: the 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model </a:t>
            </a:r>
            <a:r>
              <a:rPr lang="it-IT" sz="1700" dirty="0" err="1">
                <a:latin typeface="Gill Sans MT" panose="020B0502020104020203" pitchFamily="34" charset="0"/>
              </a:rPr>
              <a:t>undergoes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forward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and </a:t>
            </a:r>
            <a:r>
              <a:rPr lang="it-IT" sz="1700" dirty="0" err="1">
                <a:latin typeface="Gill Sans MT" panose="020B0502020104020203" pitchFamily="34" charset="0"/>
              </a:rPr>
              <a:t>backward</a:t>
            </a:r>
            <a:r>
              <a:rPr lang="it-IT" sz="1700" dirty="0">
                <a:latin typeface="Gill Sans MT" panose="020B0502020104020203" pitchFamily="34" charset="0"/>
              </a:rPr>
              <a:t> pass. Update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the </a:t>
            </a:r>
            <a:r>
              <a:rPr lang="it-IT" sz="1700" dirty="0" err="1">
                <a:latin typeface="Gill Sans MT" panose="020B0502020104020203" pitchFamily="34" charset="0"/>
              </a:rPr>
              <a:t>scheduler</a:t>
            </a:r>
            <a:r>
              <a:rPr lang="it-IT" sz="1700" dirty="0">
                <a:latin typeface="Gill Sans MT" panose="020B0502020104020203" pitchFamily="34" charset="0"/>
              </a:rPr>
              <a:t> and </a:t>
            </a:r>
            <a:r>
              <a:rPr lang="it-IT" sz="1700" dirty="0" err="1">
                <a:latin typeface="Gill Sans MT" panose="020B0502020104020203" pitchFamily="34" charset="0"/>
              </a:rPr>
              <a:t>optimizer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at</a:t>
            </a:r>
            <a:endParaRPr lang="it-IT" sz="1700" dirty="0">
              <a:latin typeface="Gill Sans MT" panose="020B0502020104020203" pitchFamily="34" charset="0"/>
            </a:endParaRPr>
          </a:p>
          <a:p>
            <a:r>
              <a:rPr lang="it-IT" sz="1700" dirty="0" err="1">
                <a:latin typeface="Gill Sans MT" panose="020B0502020104020203" pitchFamily="34" charset="0"/>
              </a:rPr>
              <a:t>each</a:t>
            </a:r>
            <a:r>
              <a:rPr lang="it-IT" sz="1700" dirty="0">
                <a:latin typeface="Gill Sans MT" panose="020B0502020104020203" pitchFamily="34" charset="0"/>
              </a:rPr>
              <a:t> step.</a:t>
            </a:r>
            <a:endParaRPr lang="en-US" sz="1700" dirty="0">
              <a:latin typeface="Gill Sans MT" panose="020B0502020104020203" pitchFamily="34" charset="0"/>
            </a:endParaRPr>
          </a:p>
        </p:txBody>
      </p:sp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C817667A-4EB4-A754-12E2-4CD7FFA3E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5400000">
            <a:off x="979129" y="2891865"/>
            <a:ext cx="1232808" cy="3464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2A22B3-CA19-5BFE-FBEE-C8501F5C9351}"/>
              </a:ext>
            </a:extLst>
          </p:cNvPr>
          <p:cNvSpPr txBox="1"/>
          <p:nvPr/>
        </p:nvSpPr>
        <p:spPr>
          <a:xfrm>
            <a:off x="384725" y="3725079"/>
            <a:ext cx="313579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6) </a:t>
            </a:r>
            <a:r>
              <a:rPr lang="it-IT" sz="1700" b="1" dirty="0">
                <a:latin typeface="Gill Sans MT" panose="020B0502020104020203" pitchFamily="34" charset="0"/>
              </a:rPr>
              <a:t>Evaluation </a:t>
            </a:r>
            <a:r>
              <a:rPr lang="it-IT" sz="1700" b="1" dirty="0" err="1">
                <a:latin typeface="Gill Sans MT" panose="020B0502020104020203" pitchFamily="34" charset="0"/>
              </a:rPr>
              <a:t>Metrics</a:t>
            </a:r>
            <a:r>
              <a:rPr lang="it-IT" sz="1700" dirty="0">
                <a:latin typeface="Gill Sans MT" panose="020B0502020104020203" pitchFamily="34" charset="0"/>
              </a:rPr>
              <a:t>: 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after </a:t>
            </a:r>
            <a:r>
              <a:rPr lang="it-IT" sz="1700" dirty="0" err="1">
                <a:latin typeface="Gill Sans MT" panose="020B0502020104020203" pitchFamily="34" charset="0"/>
              </a:rPr>
              <a:t>each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epoch</a:t>
            </a:r>
            <a:r>
              <a:rPr lang="it-IT" sz="1700" dirty="0">
                <a:latin typeface="Gill Sans MT" panose="020B0502020104020203" pitchFamily="34" charset="0"/>
              </a:rPr>
              <a:t>, </a:t>
            </a:r>
            <a:r>
              <a:rPr lang="it-IT" sz="1700" dirty="0" err="1">
                <a:latin typeface="Gill Sans MT" panose="020B0502020104020203" pitchFamily="34" charset="0"/>
              </a:rPr>
              <a:t>evaluate</a:t>
            </a:r>
            <a:r>
              <a:rPr lang="it-IT" sz="1700" dirty="0">
                <a:latin typeface="Gill Sans MT" panose="020B0502020104020203" pitchFamily="34" charset="0"/>
              </a:rPr>
              <a:t> the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model on a </a:t>
            </a:r>
            <a:r>
              <a:rPr lang="it-IT" sz="1700" dirty="0" err="1">
                <a:latin typeface="Gill Sans MT" panose="020B0502020104020203" pitchFamily="34" charset="0"/>
              </a:rPr>
              <a:t>validation</a:t>
            </a:r>
            <a:r>
              <a:rPr lang="it-IT" sz="1700" dirty="0">
                <a:latin typeface="Gill Sans MT" panose="020B0502020104020203" pitchFamily="34" charset="0"/>
              </a:rPr>
              <a:t> set printing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Precision, Recall, F1 Score.</a:t>
            </a:r>
          </a:p>
        </p:txBody>
      </p:sp>
      <p:pic>
        <p:nvPicPr>
          <p:cNvPr id="12" name="Picture 11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DE1F7E9-FDDC-4784-88AD-1D6F5F6FA2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19290524">
            <a:off x="3118832" y="2830538"/>
            <a:ext cx="1512997" cy="5251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5018A6-2068-2232-0B37-73250FDF46F0}"/>
              </a:ext>
            </a:extLst>
          </p:cNvPr>
          <p:cNvSpPr txBox="1"/>
          <p:nvPr/>
        </p:nvSpPr>
        <p:spPr>
          <a:xfrm>
            <a:off x="4572000" y="2159666"/>
            <a:ext cx="261085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7) </a:t>
            </a:r>
            <a:r>
              <a:rPr lang="it-IT" sz="1700" b="1" dirty="0">
                <a:latin typeface="Gill Sans MT" panose="020B0502020104020203" pitchFamily="34" charset="0"/>
              </a:rPr>
              <a:t>Save the model</a:t>
            </a:r>
            <a:r>
              <a:rPr lang="it-IT" sz="1700" dirty="0">
                <a:latin typeface="Gill Sans MT" panose="020B0502020104020203" pitchFamily="34" charset="0"/>
              </a:rPr>
              <a:t>: </a:t>
            </a:r>
            <a:r>
              <a:rPr lang="it-IT" sz="1700" dirty="0" err="1">
                <a:latin typeface="Gill Sans MT" panose="020B0502020104020203" pitchFamily="34" charset="0"/>
              </a:rPr>
              <a:t>save</a:t>
            </a:r>
            <a:r>
              <a:rPr lang="it-IT" sz="1700" dirty="0">
                <a:latin typeface="Gill Sans MT" panose="020B0502020104020203" pitchFamily="34" charset="0"/>
              </a:rPr>
              <a:t> the model weights and </a:t>
            </a:r>
            <a:r>
              <a:rPr lang="it-IT" sz="1700" dirty="0" err="1">
                <a:latin typeface="Gill Sans MT" panose="020B0502020104020203" pitchFamily="34" charset="0"/>
              </a:rPr>
              <a:t>tokenizer</a:t>
            </a:r>
            <a:r>
              <a:rPr lang="it-IT" sz="1700" dirty="0">
                <a:latin typeface="Gill Sans MT" panose="020B0502020104020203" pitchFamily="34" charset="0"/>
              </a:rPr>
              <a:t> for future use. </a:t>
            </a:r>
            <a:endParaRPr lang="en-US" sz="17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CAE47-F201-C780-E353-4D302FAE14D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05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7A5A-5DF7-04BC-AE7F-77DF30D7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2BE2935F-1E0F-0D04-868C-9A80E509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>
                <a:latin typeface="Gill Sans MT"/>
              </a:rPr>
              <a:t>RE Model – Train Pipeline (III)</a:t>
            </a:r>
            <a:endParaRPr lang="it-IT" dirty="0">
              <a:latin typeface="Gill Sans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DE9E55-2897-AAB1-D639-C1DF5179A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7" b="31647"/>
          <a:stretch/>
        </p:blipFill>
        <p:spPr>
          <a:xfrm>
            <a:off x="384725" y="557707"/>
            <a:ext cx="4030864" cy="26751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5B592E-735E-C5C9-3EB3-F743E26E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00" b="9111"/>
          <a:stretch/>
        </p:blipFill>
        <p:spPr>
          <a:xfrm>
            <a:off x="384726" y="3232861"/>
            <a:ext cx="4030864" cy="17917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B96986-60C1-E222-2313-4A119E2CF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412" y="557707"/>
            <a:ext cx="4063842" cy="30304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A9DB5F-805B-7ACB-D7C6-365B66EF22C5}"/>
              </a:ext>
            </a:extLst>
          </p:cNvPr>
          <p:cNvSpPr txBox="1"/>
          <p:nvPr/>
        </p:nvSpPr>
        <p:spPr>
          <a:xfrm>
            <a:off x="4728412" y="3588154"/>
            <a:ext cx="3885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Process</a:t>
            </a:r>
            <a:r>
              <a:rPr lang="it-IT" dirty="0">
                <a:latin typeface="Gill Sans MT" panose="020B0502020104020203" pitchFamily="34" charset="0"/>
              </a:rPr>
              <a:t> data and relations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 and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train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8D0A00-C8AF-4B84-2610-4AF8D721D25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35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4640-B328-00D2-DF10-82637D84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C02859-E5D3-9D4B-F1AA-B37C3BF1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4" y="206674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RE Model – Key Points</a:t>
            </a:r>
            <a:endParaRPr lang="it-IT" dirty="0">
              <a:latin typeface="Gill Sans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C69A2-DC68-AD8B-76EA-8C1D8BBD6455}"/>
              </a:ext>
            </a:extLst>
          </p:cNvPr>
          <p:cNvSpPr txBox="1"/>
          <p:nvPr/>
        </p:nvSpPr>
        <p:spPr>
          <a:xfrm>
            <a:off x="384724" y="1002089"/>
            <a:ext cx="83745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1) Using a </a:t>
            </a:r>
            <a:r>
              <a:rPr lang="it-IT" dirty="0" err="1">
                <a:latin typeface="Gill Sans MT" panose="020B0502020104020203" pitchFamily="34" charset="0"/>
              </a:rPr>
              <a:t>pre-trained</a:t>
            </a:r>
            <a:r>
              <a:rPr lang="it-IT" dirty="0">
                <a:latin typeface="Gill Sans MT" panose="020B0502020104020203" pitchFamily="34" charset="0"/>
              </a:rPr>
              <a:t> model on </a:t>
            </a:r>
            <a:r>
              <a:rPr lang="it-IT" dirty="0" err="1">
                <a:latin typeface="Gill Sans MT" panose="020B0502020104020203" pitchFamily="34" charset="0"/>
              </a:rPr>
              <a:t>PubMed</a:t>
            </a:r>
            <a:r>
              <a:rPr lang="it-IT" dirty="0">
                <a:latin typeface="Gill Sans MT" panose="020B0502020104020203" pitchFamily="34" charset="0"/>
              </a:rPr>
              <a:t> abstracts </a:t>
            </a:r>
            <a:r>
              <a:rPr lang="it-IT" dirty="0" err="1">
                <a:latin typeface="Gill Sans MT" panose="020B0502020104020203" pitchFamily="34" charset="0"/>
              </a:rPr>
              <a:t>improved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precision</a:t>
            </a:r>
            <a:r>
              <a:rPr lang="it-IT" dirty="0">
                <a:latin typeface="Gill Sans MT" panose="020B0502020104020203" pitchFamily="34" charset="0"/>
              </a:rPr>
              <a:t>, recall and f1 score of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r>
              <a:rPr lang="it-IT" dirty="0">
                <a:latin typeface="Gill Sans MT" panose="020B0502020104020203" pitchFamily="34" charset="0"/>
              </a:rPr>
              <a:t>The model </a:t>
            </a:r>
            <a:r>
              <a:rPr lang="it-IT" dirty="0" err="1">
                <a:latin typeface="Gill Sans MT" panose="020B0502020104020203" pitchFamily="34" charset="0"/>
              </a:rPr>
              <a:t>uses</a:t>
            </a:r>
            <a:r>
              <a:rPr lang="it-IT" dirty="0">
                <a:latin typeface="Gill Sans MT" panose="020B0502020104020203" pitchFamily="34" charset="0"/>
              </a:rPr>
              <a:t> special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markers to </a:t>
            </a:r>
            <a:r>
              <a:rPr lang="it-IT" dirty="0" err="1">
                <a:latin typeface="Gill Sans MT" panose="020B0502020104020203" pitchFamily="34" charset="0"/>
              </a:rPr>
              <a:t>improve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ability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recognize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relationships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between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2) </a:t>
            </a:r>
            <a:r>
              <a:rPr lang="it-IT" b="1" dirty="0">
                <a:latin typeface="Gill Sans MT" panose="020B0502020104020203" pitchFamily="34" charset="0"/>
              </a:rPr>
              <a:t>Label2id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converts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relationship</a:t>
            </a:r>
            <a:r>
              <a:rPr lang="it-IT" dirty="0">
                <a:latin typeface="Gill Sans MT" panose="020B0502020104020203" pitchFamily="34" charset="0"/>
              </a:rPr>
              <a:t> labels from text to </a:t>
            </a:r>
            <a:r>
              <a:rPr lang="it-IT" dirty="0" err="1">
                <a:latin typeface="Gill Sans MT" panose="020B0502020104020203" pitchFamily="34" charset="0"/>
              </a:rPr>
              <a:t>numerical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form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essential</a:t>
            </a:r>
            <a:r>
              <a:rPr lang="it-IT" dirty="0">
                <a:latin typeface="Gill Sans MT" panose="020B0502020104020203" pitchFamily="34" charset="0"/>
              </a:rPr>
              <a:t> for multi-class </a:t>
            </a:r>
            <a:r>
              <a:rPr lang="it-IT" dirty="0" err="1">
                <a:latin typeface="Gill Sans MT" panose="020B0502020104020203" pitchFamily="34" charset="0"/>
              </a:rPr>
              <a:t>classification</a:t>
            </a:r>
            <a:r>
              <a:rPr lang="it-IT" dirty="0">
                <a:latin typeface="Gill Sans MT" panose="020B0502020104020203" pitchFamily="34" charset="0"/>
              </a:rPr>
              <a:t>.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allows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loss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calculation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b="1" dirty="0" err="1">
                <a:latin typeface="Gill Sans MT" panose="020B0502020104020203" pitchFamily="34" charset="0"/>
              </a:rPr>
              <a:t>efficient</a:t>
            </a:r>
            <a:r>
              <a:rPr lang="it-IT" dirty="0">
                <a:latin typeface="Gill Sans MT" panose="020B0502020104020203" pitchFamily="34" charset="0"/>
              </a:rPr>
              <a:t> model training, </a:t>
            </a:r>
            <a:r>
              <a:rPr lang="en-US" b="1" dirty="0">
                <a:latin typeface="Gill Sans MT" panose="020B0502020104020203" pitchFamily="34" charset="0"/>
              </a:rPr>
              <a:t>simplifies</a:t>
            </a:r>
            <a:r>
              <a:rPr lang="en-US" dirty="0">
                <a:latin typeface="Gill Sans MT" panose="020B0502020104020203" pitchFamily="34" charset="0"/>
              </a:rPr>
              <a:t> predictions, calculates loss, and interprets</a:t>
            </a:r>
            <a:r>
              <a:rPr lang="it-IT" dirty="0">
                <a:latin typeface="Gill Sans MT" panose="020B0502020104020203" pitchFamily="34" charset="0"/>
              </a:rPr>
              <a:t> model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easily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3) The </a:t>
            </a:r>
            <a:r>
              <a:rPr lang="it-IT" dirty="0" err="1">
                <a:latin typeface="Gill Sans MT" panose="020B0502020104020203" pitchFamily="34" charset="0"/>
              </a:rPr>
              <a:t>controlled</a:t>
            </a:r>
            <a:r>
              <a:rPr lang="it-IT" dirty="0">
                <a:latin typeface="Gill Sans MT" panose="020B0502020104020203" pitchFamily="34" charset="0"/>
              </a:rPr>
              <a:t> negative ratio helps to create negative samples: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helps the model to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distinguish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between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actual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relationships</a:t>
            </a:r>
            <a:r>
              <a:rPr lang="it-IT" dirty="0">
                <a:latin typeface="Gill Sans MT" panose="020B0502020104020203" pitchFamily="34" charset="0"/>
              </a:rPr>
              <a:t> and non-</a:t>
            </a:r>
            <a:r>
              <a:rPr lang="it-IT" dirty="0" err="1">
                <a:latin typeface="Gill Sans MT" panose="020B0502020104020203" pitchFamily="34" charset="0"/>
              </a:rPr>
              <a:t>relationships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FD8A4-7EF6-98F1-82E7-DF949D9FACF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2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F7B19-D77F-CFA3-D36F-767B3FF5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D7AB4E4-B76E-BB0D-2952-FBBF3CB0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7326D3-F231-357D-6483-C6A1FB1D4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F91713-C0B6-17DE-E37D-D14CD8C59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C07DAE-2A50-9A19-B07F-4DEE0DEA5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B421A32-A332-7041-3855-E66B60A4A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EC01E-3613-8509-97A4-514476E69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4. Model Evaluation</a:t>
            </a:r>
            <a:endParaRPr lang="en-US" dirty="0">
              <a:latin typeface="Gill Sans M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FA7219-D4B8-1CCF-4C12-35A596332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91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9FA4-F9F4-7D17-8BD4-23C033FA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0EF044-A01B-3B4D-541A-14955952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83" y="2441122"/>
            <a:ext cx="6554115" cy="200052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87681A3-7796-6D8D-3072-F5D1EF0B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83" y="200658"/>
            <a:ext cx="293813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Evaluation </a:t>
            </a:r>
            <a:r>
              <a:rPr lang="it-IT" b="1" dirty="0" err="1">
                <a:latin typeface="Gill Sans MT"/>
              </a:rPr>
              <a:t>Metrics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D5FF3-C269-7332-B6CF-93BC12800F6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05BA9-87CA-98D6-8760-8852E767FABA}"/>
              </a:ext>
            </a:extLst>
          </p:cNvPr>
          <p:cNvSpPr txBox="1"/>
          <p:nvPr/>
        </p:nvSpPr>
        <p:spPr>
          <a:xfrm>
            <a:off x="245431" y="841415"/>
            <a:ext cx="8653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TP (True </a:t>
            </a:r>
            <a:r>
              <a:rPr lang="it-IT" b="1" i="1" dirty="0" err="1">
                <a:latin typeface="Gill Sans MT" panose="020B0502020104020203" pitchFamily="34" charset="0"/>
              </a:rPr>
              <a:t>Positives</a:t>
            </a:r>
            <a:r>
              <a:rPr lang="it-IT" b="1" i="1" dirty="0">
                <a:latin typeface="Gill Sans MT" panose="020B0502020104020203" pitchFamily="34" charset="0"/>
              </a:rPr>
              <a:t>)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refers</a:t>
            </a:r>
            <a:r>
              <a:rPr lang="it-IT" dirty="0">
                <a:latin typeface="Gill Sans MT" panose="020B0502020104020203" pitchFamily="34" charset="0"/>
              </a:rPr>
              <a:t> to the </a:t>
            </a:r>
            <a:r>
              <a:rPr lang="it-IT" dirty="0" err="1">
                <a:latin typeface="Gill Sans MT" panose="020B0502020104020203" pitchFamily="34" charset="0"/>
              </a:rPr>
              <a:t>number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correctly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predicted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or relations.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FP (False </a:t>
            </a:r>
            <a:r>
              <a:rPr lang="it-IT" b="1" i="1" dirty="0" err="1">
                <a:latin typeface="Gill Sans MT" panose="020B0502020104020203" pitchFamily="34" charset="0"/>
              </a:rPr>
              <a:t>Positives</a:t>
            </a:r>
            <a:r>
              <a:rPr lang="it-IT" b="1" i="1" dirty="0">
                <a:latin typeface="Gill Sans MT" panose="020B0502020104020203" pitchFamily="34" charset="0"/>
              </a:rPr>
              <a:t>) </a:t>
            </a:r>
            <a:r>
              <a:rPr lang="it-IT" dirty="0" err="1">
                <a:latin typeface="Gill Sans MT" panose="020B0502020104020203" pitchFamily="34" charset="0"/>
              </a:rPr>
              <a:t>refers</a:t>
            </a:r>
            <a:r>
              <a:rPr lang="it-IT" dirty="0">
                <a:latin typeface="Gill Sans MT" panose="020B0502020104020203" pitchFamily="34" charset="0"/>
              </a:rPr>
              <a:t> to the </a:t>
            </a:r>
            <a:r>
              <a:rPr lang="it-IT" dirty="0" err="1">
                <a:latin typeface="Gill Sans MT" panose="020B0502020104020203" pitchFamily="34" charset="0"/>
              </a:rPr>
              <a:t>number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wrongly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predicted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or relations.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FN (False </a:t>
            </a:r>
            <a:r>
              <a:rPr lang="it-IT" b="1" i="1" dirty="0" err="1">
                <a:latin typeface="Gill Sans MT" panose="020B0502020104020203" pitchFamily="34" charset="0"/>
              </a:rPr>
              <a:t>Negatives</a:t>
            </a:r>
            <a:r>
              <a:rPr lang="it-IT" b="1" i="1" dirty="0">
                <a:latin typeface="Gill Sans MT" panose="020B0502020104020203" pitchFamily="34" charset="0"/>
              </a:rPr>
              <a:t>) </a:t>
            </a:r>
            <a:r>
              <a:rPr lang="it-IT" dirty="0" err="1">
                <a:latin typeface="Gill Sans MT" panose="020B0502020104020203" pitchFamily="34" charset="0"/>
              </a:rPr>
              <a:t>refers</a:t>
            </a:r>
            <a:r>
              <a:rPr lang="it-IT" dirty="0">
                <a:latin typeface="Gill Sans MT" panose="020B0502020104020203" pitchFamily="34" charset="0"/>
              </a:rPr>
              <a:t> to the </a:t>
            </a:r>
            <a:r>
              <a:rPr lang="it-IT" dirty="0" err="1">
                <a:latin typeface="Gill Sans MT" panose="020B0502020104020203" pitchFamily="34" charset="0"/>
              </a:rPr>
              <a:t>number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or relations in the ground truth</a:t>
            </a:r>
          </a:p>
          <a:p>
            <a:r>
              <a:rPr lang="it-IT" dirty="0">
                <a:latin typeface="Gill Sans MT" panose="020B0502020104020203" pitchFamily="34" charset="0"/>
              </a:rPr>
              <a:t>    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were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not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predicted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set of labels </a:t>
            </a:r>
            <a:r>
              <a:rPr lang="it-IT" dirty="0" err="1">
                <a:latin typeface="Gill Sans MT" panose="020B0502020104020203" pitchFamily="34" charset="0"/>
              </a:rPr>
              <a:t>referring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each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subtask</a:t>
            </a:r>
            <a:r>
              <a:rPr lang="it-IT" dirty="0">
                <a:latin typeface="Gill Sans MT" panose="020B0502020104020203" pitchFamily="34" charset="0"/>
              </a:rPr>
              <a:t> (e.g. for </a:t>
            </a:r>
            <a:r>
              <a:rPr lang="it-IT" u="sng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labels; for </a:t>
            </a:r>
            <a:r>
              <a:rPr lang="it-IT" u="sng" dirty="0" err="1">
                <a:latin typeface="Gill Sans MT" panose="020B0502020104020203" pitchFamily="34" charset="0"/>
              </a:rPr>
              <a:t>Binary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subject</a:t>
            </a:r>
            <a:r>
              <a:rPr lang="en-US" dirty="0">
                <a:latin typeface="Gill Sans MT" panose="020B0502020104020203" pitchFamily="34" charset="0"/>
              </a:rPr>
              <a:t>, object)</a:t>
            </a:r>
            <a:endParaRPr lang="it-IT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13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20E1-7CEC-3771-CA6A-85EB52B5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047E1A-3648-4366-C036-55C72D86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- Evaluation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93B61-A219-B474-6CEA-F869C6CC762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2307D5-F21E-E605-3405-017C9B7DE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612702"/>
              </p:ext>
            </p:extLst>
          </p:nvPr>
        </p:nvGraphicFramePr>
        <p:xfrm>
          <a:off x="1699257" y="555172"/>
          <a:ext cx="6220100" cy="3199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020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            Test                </a:t>
                      </a:r>
                      <a:r>
                        <a:rPr lang="en-US" sz="1500" dirty="0">
                          <a:latin typeface="Gill Sans MT" panose="020B0502020104020203" pitchFamily="34" charset="0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Gold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Silver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 err="1">
                          <a:latin typeface="Gill Sans MT" panose="020B0502020104020203" pitchFamily="34" charset="0"/>
                        </a:rPr>
                        <a:t>Bronze</a:t>
                      </a:r>
                      <a:endParaRPr lang="it-IT" sz="1500" dirty="0">
                        <a:latin typeface="Gill Sans MT" panose="020B0502020104020203" pitchFamily="34" charset="0"/>
                      </a:endParaRP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Gold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P:0.9634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R:0.8906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F1:0.9256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P:0.9775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R:0.8775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F1:0.9248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P:0.7862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R:0.6708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F1:0.7239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P:0.9021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R:0.7905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F1:0.8426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Gold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Silver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P:0.8179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R:0.8233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F1:0.8205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P:0.8325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R:0.8386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P:0.8074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R:0.7799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F1:0.7934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P:0.8165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R:0.8179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F1:0.8172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841726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Gold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</a:t>
                      </a:r>
                      <a:r>
                        <a:rPr lang="it-IT" sz="1500" dirty="0" err="1">
                          <a:latin typeface="Gill Sans MT" panose="020B0502020104020203" pitchFamily="34" charset="0"/>
                        </a:rPr>
                        <a:t>Bronze</a:t>
                      </a:r>
                      <a:r>
                        <a:rPr lang="en-US" sz="1500" dirty="0">
                          <a:latin typeface="Gill Sans MT" panose="020B0502020104020203" pitchFamily="34" charset="0"/>
                        </a:rPr>
                        <a:t> Augmented</a:t>
                      </a:r>
                      <a:endParaRPr lang="it-IT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Gill Sans MT" panose="020B0502020104020203" pitchFamily="34" charset="0"/>
                        </a:rPr>
                        <a:t>-</a:t>
                      </a:r>
                      <a:endParaRPr lang="en-US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P:0.7071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R:0.8025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F1:0.7518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Gill Sans MT" panose="020B0502020104020203" pitchFamily="34" charset="0"/>
                        </a:rPr>
                        <a:t>-</a:t>
                      </a:r>
                      <a:endParaRPr lang="en-US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Gill Sans MT" panose="020B0502020104020203" pitchFamily="34" charset="0"/>
                        </a:rPr>
                        <a:t>-</a:t>
                      </a:r>
                      <a:endParaRPr lang="en-US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8617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17A35B-381A-D025-24FB-0540626E4B9F}"/>
              </a:ext>
            </a:extLst>
          </p:cNvPr>
          <p:cNvSpPr txBox="1"/>
          <p:nvPr/>
        </p:nvSpPr>
        <p:spPr>
          <a:xfrm>
            <a:off x="187779" y="383832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6D041-3CD7-F09B-11E7-1DA4D5594B3E}"/>
              </a:ext>
            </a:extLst>
          </p:cNvPr>
          <p:cNvSpPr txBox="1"/>
          <p:nvPr/>
        </p:nvSpPr>
        <p:spPr>
          <a:xfrm>
            <a:off x="187779" y="4252982"/>
            <a:ext cx="4796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0.8017,      Recall: 0.6947,      F1: 0.7444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96AC6-D50B-1990-309F-96B00D7AB02B}"/>
              </a:ext>
            </a:extLst>
          </p:cNvPr>
          <p:cNvSpPr txBox="1"/>
          <p:nvPr/>
        </p:nvSpPr>
        <p:spPr>
          <a:xfrm>
            <a:off x="187779" y="4667641"/>
            <a:ext cx="648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model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for 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 of the </a:t>
            </a:r>
            <a:r>
              <a:rPr lang="it-IT" i="1" dirty="0">
                <a:latin typeface="Gill Sans MT" panose="020B0502020104020203" pitchFamily="34" charset="0"/>
              </a:rPr>
              <a:t>Dev Dataset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b="1" dirty="0" err="1">
                <a:latin typeface="Gill Sans MT" panose="020B0502020104020203" pitchFamily="34" charset="0"/>
              </a:rPr>
              <a:t>platinum</a:t>
            </a:r>
            <a:r>
              <a:rPr lang="it-IT" b="1" dirty="0">
                <a:latin typeface="Gill Sans MT" panose="020B0502020104020203" pitchFamily="34" charset="0"/>
              </a:rPr>
              <a:t> + </a:t>
            </a:r>
            <a:r>
              <a:rPr lang="it-IT" b="1" dirty="0" err="1">
                <a:latin typeface="Gill Sans MT" panose="020B0502020104020203" pitchFamily="34" charset="0"/>
              </a:rPr>
              <a:t>gold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091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1775-9580-2657-4079-153C38B7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A47946-636D-F45B-8086-69585AD69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Binary</a:t>
            </a:r>
            <a:r>
              <a:rPr lang="it-IT" b="1" dirty="0">
                <a:latin typeface="Gill Sans MT"/>
              </a:rPr>
              <a:t> Tag-</a:t>
            </a:r>
            <a:r>
              <a:rPr lang="it-IT" b="1" dirty="0" err="1">
                <a:latin typeface="Gill Sans MT"/>
              </a:rPr>
              <a:t>Based</a:t>
            </a:r>
            <a:r>
              <a:rPr lang="it-IT" b="1" dirty="0">
                <a:latin typeface="Gill Sans MT"/>
              </a:rPr>
              <a:t> Relation </a:t>
            </a:r>
            <a:r>
              <a:rPr lang="it-IT" b="1" dirty="0" err="1">
                <a:latin typeface="Gill Sans MT"/>
              </a:rPr>
              <a:t>Extraction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53119-CB4A-8337-FB21-D82E5EBA6303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0B1E78-974F-88BB-36C9-D994FFF13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75948"/>
              </p:ext>
            </p:extLst>
          </p:nvPr>
        </p:nvGraphicFramePr>
        <p:xfrm>
          <a:off x="1699256" y="702129"/>
          <a:ext cx="57454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097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          Test                </a:t>
                      </a:r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Gold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Silver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Bronze</a:t>
                      </a:r>
                      <a:endParaRPr lang="it-IT" dirty="0"/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+ Gold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P:0.5130</a:t>
                      </a:r>
                    </a:p>
                    <a:p>
                      <a:r>
                        <a:rPr lang="it-IT" dirty="0"/>
                        <a:t>R:0.9135</a:t>
                      </a:r>
                    </a:p>
                    <a:p>
                      <a:r>
                        <a:rPr lang="it-IT" dirty="0"/>
                        <a:t>F1:0.6571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P:0.4154</a:t>
                      </a:r>
                    </a:p>
                    <a:p>
                      <a:r>
                        <a:rPr lang="it-IT" dirty="0"/>
                        <a:t>R:0.8640</a:t>
                      </a:r>
                    </a:p>
                    <a:p>
                      <a:r>
                        <a:rPr lang="it-IT" dirty="0"/>
                        <a:t>F1:0.5610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P:0.4397</a:t>
                      </a:r>
                    </a:p>
                    <a:p>
                      <a:r>
                        <a:rPr lang="it-IT" dirty="0"/>
                        <a:t>R:0.7479</a:t>
                      </a:r>
                    </a:p>
                    <a:p>
                      <a:r>
                        <a:rPr lang="it-IT" dirty="0"/>
                        <a:t>F1:0.5538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P:0.3471</a:t>
                      </a:r>
                    </a:p>
                    <a:p>
                      <a:r>
                        <a:rPr lang="it-IT" dirty="0"/>
                        <a:t>R:0.8646</a:t>
                      </a:r>
                    </a:p>
                    <a:p>
                      <a:r>
                        <a:rPr lang="it-IT" dirty="0"/>
                        <a:t>F1:0.4953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CEE1EC-1B37-8160-CCA4-807293866CCB}"/>
              </a:ext>
            </a:extLst>
          </p:cNvPr>
          <p:cNvSpPr txBox="1"/>
          <p:nvPr/>
        </p:nvSpPr>
        <p:spPr>
          <a:xfrm>
            <a:off x="326571" y="269421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01D8C-D2A5-F03A-6A18-0C06A122E6D2}"/>
              </a:ext>
            </a:extLst>
          </p:cNvPr>
          <p:cNvSpPr txBox="1"/>
          <p:nvPr/>
        </p:nvSpPr>
        <p:spPr>
          <a:xfrm>
            <a:off x="384725" y="3214203"/>
            <a:ext cx="1753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0.5978</a:t>
            </a:r>
          </a:p>
          <a:p>
            <a:r>
              <a:rPr lang="it-IT" dirty="0">
                <a:latin typeface="Gill Sans MT" panose="020B0502020104020203" pitchFamily="34" charset="0"/>
              </a:rPr>
              <a:t>Recall: 0.7364</a:t>
            </a:r>
          </a:p>
          <a:p>
            <a:r>
              <a:rPr lang="it-IT" dirty="0">
                <a:latin typeface="Gill Sans MT" panose="020B0502020104020203" pitchFamily="34" charset="0"/>
              </a:rPr>
              <a:t>F1: 0.6599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1C5DD-46C6-9015-0B82-FC54AEE957EE}"/>
              </a:ext>
            </a:extLst>
          </p:cNvPr>
          <p:cNvSpPr txBox="1"/>
          <p:nvPr/>
        </p:nvSpPr>
        <p:spPr>
          <a:xfrm>
            <a:off x="320578" y="4288190"/>
            <a:ext cx="690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best </a:t>
            </a:r>
            <a:r>
              <a:rPr lang="it-IT" dirty="0" err="1">
                <a:latin typeface="Gill Sans MT" panose="020B0502020104020203" pitchFamily="34" charset="0"/>
              </a:rPr>
              <a:t>result</a:t>
            </a:r>
            <a:r>
              <a:rPr lang="it-IT" dirty="0">
                <a:latin typeface="Gill Sans MT" panose="020B0502020104020203" pitchFamily="34" charset="0"/>
              </a:rPr>
              <a:t> so far, with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 of 0.7 for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76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B81C8-E3F8-9029-9A36-C6070A7F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0E1C5D-9F3F-1A52-1253-8EE6D7CC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Ternary</a:t>
            </a:r>
            <a:r>
              <a:rPr lang="it-IT" b="1" dirty="0">
                <a:latin typeface="Gill Sans MT"/>
              </a:rPr>
              <a:t> Tag-</a:t>
            </a:r>
            <a:r>
              <a:rPr lang="it-IT" b="1" dirty="0" err="1">
                <a:latin typeface="Gill Sans MT"/>
              </a:rPr>
              <a:t>Based</a:t>
            </a:r>
            <a:r>
              <a:rPr lang="it-IT" b="1" dirty="0">
                <a:latin typeface="Gill Sans MT"/>
              </a:rPr>
              <a:t> RE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1A434-91A9-228C-F634-20822222F2F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8556B4-3321-3783-8960-892A331CF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56971"/>
              </p:ext>
            </p:extLst>
          </p:nvPr>
        </p:nvGraphicFramePr>
        <p:xfrm>
          <a:off x="1699256" y="702129"/>
          <a:ext cx="57454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097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          Test                </a:t>
                      </a:r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Gold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Silver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Bronze</a:t>
                      </a:r>
                      <a:r>
                        <a:rPr lang="it-IT" dirty="0"/>
                        <a:t>-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+ Gold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P:0.5130</a:t>
                      </a:r>
                    </a:p>
                    <a:p>
                      <a:r>
                        <a:rPr lang="it-IT" dirty="0"/>
                        <a:t>R:0.9135</a:t>
                      </a:r>
                    </a:p>
                    <a:p>
                      <a:r>
                        <a:rPr lang="it-IT" dirty="0"/>
                        <a:t>F1:0.6571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P:0.4154</a:t>
                      </a:r>
                    </a:p>
                    <a:p>
                      <a:r>
                        <a:rPr lang="it-IT" dirty="0"/>
                        <a:t>R:0.8640</a:t>
                      </a:r>
                    </a:p>
                    <a:p>
                      <a:r>
                        <a:rPr lang="it-IT" dirty="0"/>
                        <a:t>F1:0.5610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P:0.4397</a:t>
                      </a:r>
                    </a:p>
                    <a:p>
                      <a:r>
                        <a:rPr lang="it-IT" dirty="0"/>
                        <a:t>R:0.7479</a:t>
                      </a:r>
                    </a:p>
                    <a:p>
                      <a:r>
                        <a:rPr lang="it-IT" dirty="0"/>
                        <a:t>F1:0.5538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P:0.7060</a:t>
                      </a:r>
                    </a:p>
                    <a:p>
                      <a:r>
                        <a:rPr lang="it-IT" dirty="0"/>
                        <a:t>R:0.5433</a:t>
                      </a:r>
                    </a:p>
                    <a:p>
                      <a:r>
                        <a:rPr lang="it-IT" dirty="0"/>
                        <a:t>F1:0.6140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7CAF77-7642-A8B8-99BF-0F7D26FAF553}"/>
              </a:ext>
            </a:extLst>
          </p:cNvPr>
          <p:cNvSpPr txBox="1"/>
          <p:nvPr/>
        </p:nvSpPr>
        <p:spPr>
          <a:xfrm>
            <a:off x="326571" y="269421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23197-4FBF-C72D-BDDA-38B618DD84E3}"/>
              </a:ext>
            </a:extLst>
          </p:cNvPr>
          <p:cNvSpPr txBox="1"/>
          <p:nvPr/>
        </p:nvSpPr>
        <p:spPr>
          <a:xfrm>
            <a:off x="384725" y="3214203"/>
            <a:ext cx="1753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0.8100</a:t>
            </a:r>
          </a:p>
          <a:p>
            <a:r>
              <a:rPr lang="it-IT" dirty="0">
                <a:latin typeface="Gill Sans MT" panose="020B0502020104020203" pitchFamily="34" charset="0"/>
              </a:rPr>
              <a:t>Recall: 0.3522</a:t>
            </a:r>
          </a:p>
          <a:p>
            <a:r>
              <a:rPr lang="it-IT" dirty="0">
                <a:latin typeface="Gill Sans MT" panose="020B0502020104020203" pitchFamily="34" charset="0"/>
              </a:rPr>
              <a:t>F1: 0.4909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4082B-88E8-FE98-D2C9-28F00FB63A9D}"/>
              </a:ext>
            </a:extLst>
          </p:cNvPr>
          <p:cNvSpPr txBox="1"/>
          <p:nvPr/>
        </p:nvSpPr>
        <p:spPr>
          <a:xfrm>
            <a:off x="320578" y="4288190"/>
            <a:ext cx="690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best </a:t>
            </a:r>
            <a:r>
              <a:rPr lang="it-IT" dirty="0" err="1">
                <a:latin typeface="Gill Sans MT" panose="020B0502020104020203" pitchFamily="34" charset="0"/>
              </a:rPr>
              <a:t>result</a:t>
            </a:r>
            <a:r>
              <a:rPr lang="it-IT" dirty="0">
                <a:latin typeface="Gill Sans MT" panose="020B0502020104020203" pitchFamily="34" charset="0"/>
              </a:rPr>
              <a:t> so far, with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 of 0.7 for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1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6DBF-03E7-8574-983B-D4FBAC60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3C1093-EE96-8CF7-52C5-263F155A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Ternary</a:t>
            </a:r>
            <a:r>
              <a:rPr lang="it-IT" b="1" dirty="0">
                <a:latin typeface="Gill Sans MT"/>
              </a:rPr>
              <a:t> </a:t>
            </a:r>
            <a:r>
              <a:rPr lang="it-IT" b="1" dirty="0" err="1">
                <a:latin typeface="Gill Sans MT"/>
              </a:rPr>
              <a:t>Mention-Based</a:t>
            </a:r>
            <a:r>
              <a:rPr lang="it-IT" b="1" dirty="0">
                <a:latin typeface="Gill Sans MT"/>
              </a:rPr>
              <a:t> RE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57747-47F6-F670-8229-F99B957302DD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D4064D-E9DF-2FE8-48D5-8F27D6AAC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06112"/>
              </p:ext>
            </p:extLst>
          </p:nvPr>
        </p:nvGraphicFramePr>
        <p:xfrm>
          <a:off x="1699256" y="702129"/>
          <a:ext cx="57454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097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          Test                </a:t>
                      </a:r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Gold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Silver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Bronze</a:t>
                      </a:r>
                      <a:endParaRPr lang="it-IT" dirty="0"/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+ Gold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P:0.8288</a:t>
                      </a:r>
                    </a:p>
                    <a:p>
                      <a:r>
                        <a:rPr lang="it-IT" dirty="0"/>
                        <a:t>R:1.2329</a:t>
                      </a:r>
                    </a:p>
                    <a:p>
                      <a:r>
                        <a:rPr lang="it-IT" dirty="0"/>
                        <a:t>F1:0.9912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P:0.7283</a:t>
                      </a:r>
                    </a:p>
                    <a:p>
                      <a:r>
                        <a:rPr lang="it-IT" dirty="0"/>
                        <a:t>R:1.0661</a:t>
                      </a:r>
                    </a:p>
                    <a:p>
                      <a:r>
                        <a:rPr lang="it-IT" dirty="0"/>
                        <a:t>F1:0.8654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P:0.5762</a:t>
                      </a:r>
                    </a:p>
                    <a:p>
                      <a:r>
                        <a:rPr lang="it-IT" dirty="0"/>
                        <a:t>R:0.5259</a:t>
                      </a:r>
                    </a:p>
                    <a:p>
                      <a:r>
                        <a:rPr lang="it-IT" dirty="0"/>
                        <a:t>F1:0.5499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P:0.6382</a:t>
                      </a:r>
                    </a:p>
                    <a:p>
                      <a:r>
                        <a:rPr lang="it-IT" dirty="0"/>
                        <a:t>R:0.9184</a:t>
                      </a:r>
                    </a:p>
                    <a:p>
                      <a:r>
                        <a:rPr lang="it-IT" dirty="0"/>
                        <a:t>F1:0.7531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D8F18-ABB2-AA72-021A-3827C36355D6}"/>
              </a:ext>
            </a:extLst>
          </p:cNvPr>
          <p:cNvSpPr txBox="1"/>
          <p:nvPr/>
        </p:nvSpPr>
        <p:spPr>
          <a:xfrm>
            <a:off x="326571" y="269421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F90E1-853E-0319-4409-70E25513E5E3}"/>
              </a:ext>
            </a:extLst>
          </p:cNvPr>
          <p:cNvSpPr txBox="1"/>
          <p:nvPr/>
        </p:nvSpPr>
        <p:spPr>
          <a:xfrm>
            <a:off x="384725" y="3214203"/>
            <a:ext cx="1753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0.6573</a:t>
            </a:r>
          </a:p>
          <a:p>
            <a:r>
              <a:rPr lang="it-IT" dirty="0">
                <a:latin typeface="Gill Sans MT" panose="020B0502020104020203" pitchFamily="34" charset="0"/>
              </a:rPr>
              <a:t>Recall: 0.5821</a:t>
            </a:r>
          </a:p>
          <a:p>
            <a:r>
              <a:rPr lang="it-IT" dirty="0">
                <a:latin typeface="Gill Sans MT" panose="020B0502020104020203" pitchFamily="34" charset="0"/>
              </a:rPr>
              <a:t>F1: 0.6174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BF4EE-7854-67BB-520D-2E65849DB372}"/>
              </a:ext>
            </a:extLst>
          </p:cNvPr>
          <p:cNvSpPr txBox="1"/>
          <p:nvPr/>
        </p:nvSpPr>
        <p:spPr>
          <a:xfrm>
            <a:off x="320578" y="4288190"/>
            <a:ext cx="690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best </a:t>
            </a:r>
            <a:r>
              <a:rPr lang="it-IT" dirty="0" err="1">
                <a:latin typeface="Gill Sans MT" panose="020B0502020104020203" pitchFamily="34" charset="0"/>
              </a:rPr>
              <a:t>result</a:t>
            </a:r>
            <a:r>
              <a:rPr lang="it-IT" dirty="0">
                <a:latin typeface="Gill Sans MT" panose="020B0502020104020203" pitchFamily="34" charset="0"/>
              </a:rPr>
              <a:t> so far, with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 of 0.7 for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332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5. Conclusions and Future Work</a:t>
            </a:r>
            <a:endParaRPr lang="en-US" dirty="0">
              <a:latin typeface="Gill Sans M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664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467456"/>
            <a:ext cx="8178790" cy="420591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A3B5CC0-0E61-F91B-4864-A2F8B9D3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597446"/>
            <a:ext cx="7468052" cy="675985"/>
          </a:xfrm>
        </p:spPr>
        <p:txBody>
          <a:bodyPr lIns="0" tIns="0" rIns="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200" b="1" dirty="0" err="1">
                <a:latin typeface="Gill Sans MT"/>
              </a:rPr>
              <a:t>Conclusions</a:t>
            </a:r>
            <a:r>
              <a:rPr lang="it-IT" sz="3200" b="1" dirty="0">
                <a:latin typeface="Gill Sans MT"/>
              </a:rPr>
              <a:t> &amp; Future Work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F1E892-6584-2C90-8202-7D06DC34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930" y="1273431"/>
            <a:ext cx="6056111" cy="3181807"/>
          </a:xfr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b="1" dirty="0" err="1">
                <a:latin typeface="Gill Sans MT"/>
                <a:ea typeface="Calibri"/>
                <a:cs typeface="Calibri"/>
              </a:rPr>
              <a:t>Conclusions</a:t>
            </a:r>
            <a:endParaRPr lang="it-IT" sz="1400" b="1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1400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Calibri"/>
                <a:cs typeface="Calibri"/>
              </a:rPr>
              <a:t>The training strategies of the NER and RE models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helped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perform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complex</a:t>
            </a:r>
            <a:r>
              <a:rPr lang="it-IT" sz="1400" dirty="0">
                <a:latin typeface="Gill Sans MT"/>
                <a:ea typeface="Calibri"/>
                <a:cs typeface="Calibri"/>
              </a:rPr>
              <a:t> information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extraction</a:t>
            </a:r>
            <a:r>
              <a:rPr lang="it-IT" sz="1400" dirty="0">
                <a:latin typeface="Gill Sans MT"/>
                <a:ea typeface="Calibri"/>
                <a:cs typeface="Calibri"/>
              </a:rPr>
              <a:t> on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biomedical</a:t>
            </a:r>
            <a:r>
              <a:rPr lang="it-IT" sz="1400" dirty="0">
                <a:latin typeface="Gill Sans MT"/>
                <a:ea typeface="Calibri"/>
                <a:cs typeface="Calibri"/>
              </a:rPr>
              <a:t> data.</a:t>
            </a:r>
            <a:endParaRPr lang="it-IT" sz="1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Calibri"/>
                <a:cs typeface="Calibri"/>
              </a:rPr>
              <a:t>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process</a:t>
            </a:r>
            <a:r>
              <a:rPr lang="it-IT" sz="1400" dirty="0">
                <a:latin typeface="Gill Sans MT"/>
                <a:ea typeface="Calibri"/>
                <a:cs typeface="Calibri"/>
              </a:rPr>
              <a:t> of Data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Augmentation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did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not</a:t>
            </a:r>
            <a:r>
              <a:rPr lang="it-IT" sz="1400" dirty="0">
                <a:latin typeface="Gill Sans MT"/>
                <a:ea typeface="Calibri"/>
                <a:cs typeface="Calibri"/>
              </a:rPr>
              <a:t> help to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improve</a:t>
            </a:r>
            <a:r>
              <a:rPr lang="it-IT" sz="1400" dirty="0">
                <a:latin typeface="Gill Sans MT"/>
                <a:ea typeface="Calibri"/>
                <a:cs typeface="Calibri"/>
              </a:rPr>
              <a:t> the scores of the NER model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caused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by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GLiNER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embeddings</a:t>
            </a:r>
            <a:r>
              <a:rPr lang="it-IT" sz="1400" dirty="0">
                <a:latin typeface="Gill Sans MT"/>
                <a:ea typeface="Calibri"/>
                <a:cs typeface="Calibri"/>
              </a:rPr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+mn-lt"/>
                <a:cs typeface="+mn-lt"/>
              </a:rPr>
              <a:t>The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results</a:t>
            </a:r>
            <a:r>
              <a:rPr lang="it-IT" sz="1400" dirty="0">
                <a:latin typeface="Gill Sans MT"/>
                <a:ea typeface="+mn-lt"/>
                <a:cs typeface="+mn-lt"/>
              </a:rPr>
              <a:t>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compared</a:t>
            </a:r>
            <a:r>
              <a:rPr lang="it-IT" sz="1400" dirty="0">
                <a:latin typeface="Gill Sans MT"/>
                <a:ea typeface="+mn-lt"/>
                <a:cs typeface="+mn-lt"/>
              </a:rPr>
              <a:t> to the Baseline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provided</a:t>
            </a:r>
            <a:r>
              <a:rPr lang="it-IT" sz="1400" dirty="0">
                <a:latin typeface="Gill Sans MT"/>
                <a:ea typeface="+mn-lt"/>
                <a:cs typeface="+mn-lt"/>
              </a:rPr>
              <a:t> in the official site show an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improvement</a:t>
            </a:r>
            <a:r>
              <a:rPr lang="it-IT" sz="1400" dirty="0">
                <a:latin typeface="Gill Sans MT"/>
                <a:ea typeface="+mn-lt"/>
                <a:cs typeface="+mn-lt"/>
              </a:rPr>
              <a:t> for the relation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extraction</a:t>
            </a:r>
            <a:r>
              <a:rPr lang="it-IT" sz="1400" dirty="0">
                <a:latin typeface="Gill Sans MT"/>
                <a:ea typeface="+mn-lt"/>
                <a:cs typeface="+mn-lt"/>
              </a:rPr>
              <a:t>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subtask</a:t>
            </a:r>
            <a:r>
              <a:rPr lang="it-IT" sz="1400" dirty="0">
                <a:latin typeface="Gill Sans MT"/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1400" dirty="0">
              <a:latin typeface="Gill Sans MT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b="1" dirty="0">
                <a:latin typeface="Gill Sans MT"/>
                <a:ea typeface="Calibri"/>
                <a:cs typeface="Calibri"/>
              </a:rPr>
              <a:t>Future Work</a:t>
            </a:r>
            <a:endParaRPr lang="it-IT" sz="1400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 err="1">
                <a:latin typeface="Gill Sans MT"/>
                <a:ea typeface="Calibri"/>
                <a:cs typeface="Calibri"/>
              </a:rPr>
              <a:t>Try</a:t>
            </a:r>
            <a:r>
              <a:rPr lang="it-IT" sz="1400" dirty="0">
                <a:latin typeface="Gill Sans MT"/>
                <a:ea typeface="Calibri"/>
                <a:cs typeface="Calibri"/>
              </a:rPr>
              <a:t>, for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example</a:t>
            </a:r>
            <a:r>
              <a:rPr lang="it-IT" sz="1400" dirty="0">
                <a:latin typeface="Gill Sans MT"/>
                <a:ea typeface="Calibri"/>
                <a:cs typeface="Calibri"/>
              </a:rPr>
              <a:t>,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SCIBert</a:t>
            </a:r>
            <a:r>
              <a:rPr lang="it-IT" sz="1400" dirty="0">
                <a:latin typeface="Gill Sans MT"/>
                <a:ea typeface="Calibri"/>
                <a:cs typeface="Calibri"/>
              </a:rPr>
              <a:t> v2.1-Large for the RE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Subtask</a:t>
            </a:r>
            <a:r>
              <a:rPr lang="it-IT" sz="1400" dirty="0">
                <a:latin typeface="Gill Sans MT"/>
                <a:ea typeface="Calibri"/>
                <a:cs typeface="Calibri"/>
              </a:rPr>
              <a:t> and compare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results</a:t>
            </a:r>
            <a:r>
              <a:rPr lang="it-IT" sz="1400" dirty="0">
                <a:latin typeface="Gill Sans MT"/>
                <a:ea typeface="Calibri"/>
                <a:cs typeface="Calibri"/>
              </a:rPr>
              <a:t> with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PubMedBERT</a:t>
            </a:r>
            <a:r>
              <a:rPr lang="it-IT" sz="1400" dirty="0">
                <a:latin typeface="Gill Sans MT"/>
                <a:ea typeface="Calibri"/>
                <a:cs typeface="Calibri"/>
              </a:rPr>
              <a:t> model.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Calibri"/>
                <a:cs typeface="Calibri"/>
              </a:rPr>
              <a:t>Test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trained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model on the test data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upon</a:t>
            </a:r>
            <a:r>
              <a:rPr lang="it-IT" sz="1400" dirty="0">
                <a:latin typeface="Gill Sans MT"/>
                <a:ea typeface="Calibri"/>
                <a:cs typeface="Calibri"/>
              </a:rPr>
              <a:t> release.</a:t>
            </a:r>
            <a:endParaRPr lang="it-IT" sz="1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700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700" dirty="0">
              <a:latin typeface="Gill Sans MT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it-IT" sz="7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38A11-39C2-5728-B3F9-88E34724678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725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DB9C-E320-0E2C-7A30-C3024294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C2747-5C50-2C3A-B684-0FB7E244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63329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Code, </a:t>
            </a:r>
            <a:r>
              <a:rPr lang="it-IT" b="1" dirty="0" err="1">
                <a:latin typeface="Gill Sans MT"/>
              </a:rPr>
              <a:t>Runs</a:t>
            </a:r>
            <a:r>
              <a:rPr lang="it-IT" b="1" dirty="0">
                <a:latin typeface="Gill Sans MT"/>
              </a:rPr>
              <a:t> &amp; Devices </a:t>
            </a:r>
            <a:r>
              <a:rPr lang="it-IT" b="1" dirty="0" err="1">
                <a:latin typeface="Gill Sans MT"/>
              </a:rPr>
              <a:t>used</a:t>
            </a:r>
            <a:r>
              <a:rPr lang="it-IT" b="1" dirty="0">
                <a:latin typeface="Gill Sans MT"/>
              </a:rPr>
              <a:t> for Training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6C830-E463-8911-647F-2A41D431E78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7B0AF-E7A5-0C94-E31E-6FE6F2D46936}"/>
              </a:ext>
            </a:extLst>
          </p:cNvPr>
          <p:cNvSpPr txBox="1"/>
          <p:nvPr/>
        </p:nvSpPr>
        <p:spPr>
          <a:xfrm>
            <a:off x="288758" y="1106905"/>
            <a:ext cx="6546985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Gill Sans MT" panose="020B0502020104020203" pitchFamily="34" charset="0"/>
              </a:rPr>
              <a:t>The code with the </a:t>
            </a:r>
            <a:r>
              <a:rPr lang="it-IT" sz="2000" dirty="0" err="1">
                <a:latin typeface="Gill Sans MT" panose="020B0502020104020203" pitchFamily="34" charset="0"/>
              </a:rPr>
              <a:t>implementation</a:t>
            </a:r>
            <a:r>
              <a:rPr lang="it-IT" sz="2000" dirty="0">
                <a:latin typeface="Gill Sans MT" panose="020B0502020104020203" pitchFamily="34" charset="0"/>
              </a:rPr>
              <a:t> can be </a:t>
            </a:r>
            <a:r>
              <a:rPr lang="it-IT" sz="2000" dirty="0" err="1">
                <a:latin typeface="Gill Sans MT" panose="020B0502020104020203" pitchFamily="34" charset="0"/>
              </a:rPr>
              <a:t>found</a:t>
            </a:r>
            <a:r>
              <a:rPr lang="it-IT" sz="2000" dirty="0">
                <a:latin typeface="Gill Sans MT" panose="020B0502020104020203" pitchFamily="34" charset="0"/>
              </a:rPr>
              <a:t> </a:t>
            </a:r>
            <a:r>
              <a:rPr lang="it-IT" sz="2000" dirty="0" err="1">
                <a:latin typeface="Gill Sans MT" panose="020B0502020104020203" pitchFamily="34" charset="0"/>
              </a:rPr>
              <a:t>here</a:t>
            </a:r>
            <a:r>
              <a:rPr lang="it-IT" sz="2000" dirty="0">
                <a:latin typeface="Gill Sans MT" panose="020B0502020104020203" pitchFamily="34" charset="0"/>
              </a:rPr>
              <a:t>:</a:t>
            </a:r>
          </a:p>
          <a:p>
            <a:endParaRPr lang="it-IT" sz="2000" dirty="0">
              <a:latin typeface="Gill Sans MT" panose="020B0502020104020203" pitchFamily="34" charset="0"/>
            </a:endParaRPr>
          </a:p>
          <a:p>
            <a:r>
              <a:rPr lang="it-IT" sz="2000" dirty="0">
                <a:latin typeface="Gill Sans MT" panose="020B0502020104020203" pitchFamily="34" charset="0"/>
                <a:hlinkClick r:id="rId2"/>
              </a:rPr>
              <a:t>https://github.com/Vezzero/ataupd2425-gainer</a:t>
            </a:r>
            <a:endParaRPr lang="it-IT" sz="2000" dirty="0">
              <a:latin typeface="Gill Sans MT" panose="020B0502020104020203" pitchFamily="34" charset="0"/>
            </a:endParaRPr>
          </a:p>
          <a:p>
            <a:endParaRPr lang="it-IT" sz="2000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The training setups are: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Tesla T4 GPU Google </a:t>
            </a:r>
            <a:r>
              <a:rPr lang="it-IT" dirty="0" err="1">
                <a:latin typeface="Gill Sans MT" panose="020B0502020104020203" pitchFamily="34" charset="0"/>
              </a:rPr>
              <a:t>Colab</a:t>
            </a:r>
            <a:r>
              <a:rPr lang="it-IT" dirty="0">
                <a:latin typeface="Gill Sans MT" panose="020B0502020104020203" pitchFamily="34" charset="0"/>
              </a:rPr>
              <a:t> (</a:t>
            </a:r>
            <a:r>
              <a:rPr lang="it-IT" dirty="0">
                <a:latin typeface="Gill Sans MT" panose="020B0502020104020203" pitchFamily="34" charset="0"/>
                <a:hlinkClick r:id="rId3"/>
              </a:rPr>
              <a:t>https://colab.research.google.com/</a:t>
            </a:r>
            <a:r>
              <a:rPr lang="it-IT" dirty="0">
                <a:latin typeface="Gill Sans MT" panose="020B05020201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NVIDIA T4 x 2 GPU </a:t>
            </a:r>
            <a:r>
              <a:rPr lang="it-IT" dirty="0" err="1">
                <a:latin typeface="Gill Sans MT" panose="020B0502020104020203" pitchFamily="34" charset="0"/>
              </a:rPr>
              <a:t>Kaggle</a:t>
            </a:r>
            <a:r>
              <a:rPr lang="it-IT" dirty="0">
                <a:latin typeface="Gill Sans MT" panose="020B0502020104020203" pitchFamily="34" charset="0"/>
              </a:rPr>
              <a:t> (</a:t>
            </a:r>
            <a:r>
              <a:rPr lang="it-IT" dirty="0">
                <a:latin typeface="Gill Sans MT" panose="020B0502020104020203" pitchFamily="34" charset="0"/>
                <a:hlinkClick r:id="rId4"/>
              </a:rPr>
              <a:t>https://www.kaggle.com/</a:t>
            </a:r>
            <a:r>
              <a:rPr lang="it-IT" dirty="0">
                <a:latin typeface="Gill Sans MT" panose="020B05020201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8x NVIDIA A40 GPU DEI Machines (</a:t>
            </a:r>
            <a:r>
              <a:rPr lang="en-US" dirty="0">
                <a:latin typeface="Gill Sans MT" panose="020B0502020104020203" pitchFamily="34" charset="0"/>
                <a:hlinkClick r:id="rId5"/>
              </a:rPr>
              <a:t>https://docs.dei.unipd.it/</a:t>
            </a:r>
            <a:r>
              <a:rPr lang="en-US" dirty="0">
                <a:latin typeface="Gill Sans MT" panose="020B05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5981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FEBD-1397-5B6A-69B3-29CDDC87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CA0502-3059-A731-8C29-C5D24F6D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63329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Bibliography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2013D-627F-A9F4-3A1D-D90FBA75FA7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B3CC3-2A2B-1802-104A-CF30F93B26C9}"/>
              </a:ext>
            </a:extLst>
          </p:cNvPr>
          <p:cNvSpPr txBox="1"/>
          <p:nvPr/>
        </p:nvSpPr>
        <p:spPr>
          <a:xfrm>
            <a:off x="384725" y="949685"/>
            <a:ext cx="795538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PubMed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2"/>
              </a:rPr>
              <a:t>https://pubmed.ncbi.nlm.nih.gov/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Clef2025: </a:t>
            </a:r>
            <a:r>
              <a:rPr lang="it-IT" dirty="0">
                <a:latin typeface="Gill Sans MT" panose="020B0502020104020203" pitchFamily="34" charset="0"/>
                <a:hlinkClick r:id="rId3"/>
              </a:rPr>
              <a:t>https://clef2025.clef-initiative.eu/index.php?page=Pages/Labs/BioASQ.html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Embedding</a:t>
            </a:r>
            <a:r>
              <a:rPr lang="it-IT" dirty="0">
                <a:latin typeface="Gill Sans MT" panose="020B0502020104020203" pitchFamily="34" charset="0"/>
              </a:rPr>
              <a:t> Model: </a:t>
            </a:r>
            <a:r>
              <a:rPr lang="it-IT" dirty="0">
                <a:latin typeface="Gill Sans MT" panose="020B0502020104020203" pitchFamily="34" charset="0"/>
                <a:hlinkClick r:id="rId4"/>
              </a:rPr>
              <a:t>https://huggingface.co/sentence-transformers/all-mpnet-base-v2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NuNer_Zero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5"/>
              </a:rPr>
              <a:t>https://huggingface.co/numind/NuNER_Zero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MeSH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6"/>
              </a:rPr>
              <a:t>https://www.nlm.nih.gov/mesh/meshhome.html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PubMedBERT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7"/>
              </a:rPr>
              <a:t>https://huggingface.co/microsoft/BiomedNLP-BiomedBERT-base-</a:t>
            </a:r>
          </a:p>
          <a:p>
            <a:r>
              <a:rPr lang="it-IT" dirty="0" err="1">
                <a:latin typeface="Gill Sans MT" panose="020B0502020104020203" pitchFamily="34" charset="0"/>
                <a:hlinkClick r:id="rId7"/>
              </a:rPr>
              <a:t>uncased</a:t>
            </a:r>
            <a:r>
              <a:rPr lang="it-IT" dirty="0">
                <a:latin typeface="Gill Sans MT" panose="020B0502020104020203" pitchFamily="34" charset="0"/>
                <a:hlinkClick r:id="rId7"/>
              </a:rPr>
              <a:t>-abstract-</a:t>
            </a:r>
            <a:r>
              <a:rPr lang="it-IT" dirty="0" err="1">
                <a:latin typeface="Gill Sans MT" panose="020B0502020104020203" pitchFamily="34" charset="0"/>
                <a:hlinkClick r:id="rId7"/>
              </a:rPr>
              <a:t>fulltext</a:t>
            </a:r>
            <a:endParaRPr lang="it-IT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670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2988"/>
            <a:ext cx="7032474" cy="51435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49" y="2988"/>
            <a:ext cx="7329572" cy="51435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772" y="1849000"/>
            <a:ext cx="7280223" cy="12032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3335" algn="ctr">
              <a:lnSpc>
                <a:spcPct val="90000"/>
              </a:lnSpc>
              <a:spcBef>
                <a:spcPct val="0"/>
              </a:spcBef>
            </a:pPr>
            <a:r>
              <a:rPr lang="en-US" sz="3900" kern="1200" dirty="0">
                <a:latin typeface="Gill Sans MT" panose="020B0502020104020203" pitchFamily="34" charset="0"/>
                <a:cs typeface="+mj-cs"/>
              </a:rPr>
              <a:t>THANK YOU FOR YOUR ATTENTION</a:t>
            </a:r>
            <a:endParaRPr lang="en-US" dirty="0">
              <a:latin typeface="Gill Sans MT" panose="020B0502020104020203" pitchFamily="34" charset="0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8141" y="3601102"/>
            <a:ext cx="4087487" cy="5115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R="5080" algn="ctr">
              <a:lnSpc>
                <a:spcPct val="90000"/>
              </a:lnSpc>
              <a:spcBef>
                <a:spcPts val="1000"/>
              </a:spcBef>
            </a:pPr>
            <a:r>
              <a:rPr lang="en-US" sz="2000" spc="90" dirty="0">
                <a:latin typeface="Gill Sans MT" panose="020B0502020104020203" pitchFamily="34" charset="0"/>
                <a:ea typeface="Calibri"/>
                <a:cs typeface="Calibri"/>
              </a:rPr>
              <a:t>Any Questions?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56" y="2140"/>
            <a:ext cx="2087566" cy="1804834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62939" y="3342501"/>
            <a:ext cx="2087566" cy="1804834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501437-FB88-7A2A-3F59-139A1089EF71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DA097-A460-FC34-9717-992B1047E122}"/>
              </a:ext>
            </a:extLst>
          </p:cNvPr>
          <p:cNvSpPr txBox="1"/>
          <p:nvPr/>
        </p:nvSpPr>
        <p:spPr>
          <a:xfrm>
            <a:off x="2012367" y="810578"/>
            <a:ext cx="524925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dirty="0">
                <a:latin typeface="Gill Sans MT" panose="020B0502020104020203" pitchFamily="34" charset="0"/>
              </a:rPr>
              <a:t>Gut Brain 2025 Challenge</a:t>
            </a:r>
          </a:p>
          <a:p>
            <a:pPr algn="ctr"/>
            <a:r>
              <a:rPr lang="it-IT" sz="3000" dirty="0">
                <a:latin typeface="Gill Sans MT" panose="020B0502020104020203" pitchFamily="34" charset="0"/>
                <a:ea typeface="Calibri"/>
                <a:cs typeface="Calibri"/>
              </a:rPr>
              <a:t>ADVANCED TEXT ANALYTICS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2F572-E8F0-896E-85A5-0BF386CC3D85}"/>
              </a:ext>
            </a:extLst>
          </p:cNvPr>
          <p:cNvSpPr txBox="1"/>
          <p:nvPr/>
        </p:nvSpPr>
        <p:spPr>
          <a:xfrm>
            <a:off x="4026060" y="2909653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10/04/2025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61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2227</Words>
  <Application>Microsoft Office PowerPoint</Application>
  <PresentationFormat>On-screen Show (16:9)</PresentationFormat>
  <Paragraphs>417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Arial</vt:lpstr>
      <vt:lpstr>Arial MT</vt:lpstr>
      <vt:lpstr>Arial,Sans-Serif</vt:lpstr>
      <vt:lpstr>Calibri</vt:lpstr>
      <vt:lpstr>Gill Sans MT</vt:lpstr>
      <vt:lpstr>Inter</vt:lpstr>
      <vt:lpstr>Office Theme</vt:lpstr>
      <vt:lpstr>GutBrain Task 6 Challenge:  NER &amp; RE models ADVANCED TEXT ANALYTICS Prof. Giorgio Maria di Nunzio  SAMUEL PIRON  10/04/2025 </vt:lpstr>
      <vt:lpstr>OVERVIEW</vt:lpstr>
      <vt:lpstr>1. Introduction</vt:lpstr>
      <vt:lpstr>PowerPoint Presentation</vt:lpstr>
      <vt:lpstr>PowerPoint Presentation</vt:lpstr>
      <vt:lpstr>2. Data Overview</vt:lpstr>
      <vt:lpstr>PowerPoint Presentation</vt:lpstr>
      <vt:lpstr>3. NER Model</vt:lpstr>
      <vt:lpstr>NER MODEL – GliNER (I)</vt:lpstr>
      <vt:lpstr>NER Model – GliNER (II)</vt:lpstr>
      <vt:lpstr>NER Model – GliNER (III)</vt:lpstr>
      <vt:lpstr>NER Model - Implementation</vt:lpstr>
      <vt:lpstr>NER Model – Train Pipeline (I)</vt:lpstr>
      <vt:lpstr>NER Model – Train Pipeline (II)</vt:lpstr>
      <vt:lpstr>NER Model – Train Pipeline (III)</vt:lpstr>
      <vt:lpstr>4. Data Augmentation</vt:lpstr>
      <vt:lpstr>Data Augmentation</vt:lpstr>
      <vt:lpstr>Data Augmentation -  Implementation (I)</vt:lpstr>
      <vt:lpstr>Data Augmentation -  Implementation (II)</vt:lpstr>
      <vt:lpstr>Data Augmentation -  Implementation (II)</vt:lpstr>
      <vt:lpstr>5. RE Model</vt:lpstr>
      <vt:lpstr>RE Model – Implementation (I)</vt:lpstr>
      <vt:lpstr>RE Model – Implementation (II)</vt:lpstr>
      <vt:lpstr>RE Model – Train Pipeline (III)</vt:lpstr>
      <vt:lpstr>RE Model – Key Points</vt:lpstr>
      <vt:lpstr>4. Model Evaluation</vt:lpstr>
      <vt:lpstr>Evaluation Metrics</vt:lpstr>
      <vt:lpstr>NER Model - Evaluation</vt:lpstr>
      <vt:lpstr>Binary Tag-Based Relation Extraction</vt:lpstr>
      <vt:lpstr>Ternary Tag-Based RE</vt:lpstr>
      <vt:lpstr>Ternary Mention-Based RE</vt:lpstr>
      <vt:lpstr>5. Conclusions and Future Work</vt:lpstr>
      <vt:lpstr>Conclusions &amp; Future Work</vt:lpstr>
      <vt:lpstr>Code, Runs &amp; Devices used for Training</vt:lpstr>
      <vt:lpstr>Bibliography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filippo franceschini</dc:creator>
  <cp:lastModifiedBy>Samuel Piron</cp:lastModifiedBy>
  <cp:revision>258</cp:revision>
  <dcterms:created xsi:type="dcterms:W3CDTF">2024-11-19T14:57:57Z</dcterms:created>
  <dcterms:modified xsi:type="dcterms:W3CDTF">2025-04-09T12:51:09Z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2023-11-14T00:00:00Z</vt:filetime>
  </property>
  <property fmtid="{D5CDD505-2E9C-101B-9397-08002B2CF9AE}" pid="3" name="Creator">
    <vt:lpwstr>PDFium</vt:lpwstr>
  </property>
  <property fmtid="{D5CDD505-2E9C-101B-9397-08002B2CF9AE}" pid="4" name="LastSaved">
    <vt:filetime>2023-11-14T00:00:00Z</vt:filetime>
  </property>
</Properties>
</file>
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8"/>
  </p:notesMasterIdLst>
  <p:sldIdLst>
    <p:sldId id="292" r:id="rId2"/>
    <p:sldId id="276" r:id="rId3"/>
    <p:sldId id="290" r:id="rId4"/>
    <p:sldId id="261" r:id="rId5"/>
    <p:sldId id="303" r:id="rId6"/>
    <p:sldId id="311" r:id="rId7"/>
    <p:sldId id="298" r:id="rId8"/>
    <p:sldId id="293" r:id="rId9"/>
    <p:sldId id="283" r:id="rId10"/>
    <p:sldId id="304" r:id="rId11"/>
    <p:sldId id="282" r:id="rId12"/>
    <p:sldId id="287" r:id="rId13"/>
    <p:sldId id="305" r:id="rId14"/>
    <p:sldId id="306" r:id="rId15"/>
    <p:sldId id="307" r:id="rId16"/>
    <p:sldId id="294" r:id="rId17"/>
    <p:sldId id="299" r:id="rId18"/>
    <p:sldId id="309" r:id="rId19"/>
    <p:sldId id="310" r:id="rId20"/>
    <p:sldId id="319" r:id="rId21"/>
    <p:sldId id="312" r:id="rId22"/>
    <p:sldId id="300" r:id="rId23"/>
    <p:sldId id="313" r:id="rId24"/>
    <p:sldId id="314" r:id="rId25"/>
    <p:sldId id="318" r:id="rId26"/>
    <p:sldId id="321" r:id="rId27"/>
    <p:sldId id="308" r:id="rId28"/>
    <p:sldId id="322" r:id="rId29"/>
    <p:sldId id="315" r:id="rId30"/>
    <p:sldId id="316" r:id="rId31"/>
    <p:sldId id="317" r:id="rId32"/>
    <p:sldId id="295" r:id="rId33"/>
    <p:sldId id="281" r:id="rId34"/>
    <p:sldId id="320" r:id="rId35"/>
    <p:sldId id="324" r:id="rId36"/>
    <p:sldId id="273" r:id="rId37"/>
  </p:sldIdLst>
  <p:sldSz cx="9144000" cy="5143500" type="screen16x9"/>
  <p:notesSz cx="9144000" cy="5143500"/>
  <p:defaultTextStyle>
    <a:defPPr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848A7F2-04B2-46C6-CEEB-768004FC526A}" v="480" dt="2025-01-14T16:28:57.913"/>
    <p1510:client id="{28C0B537-2BA8-B83E-3DA1-66C5F837B3F5}" v="15" dt="2025-01-14T09:30:12.711"/>
    <p1510:client id="{2DEF6C62-B744-41DB-F274-60DBC8F4E77B}" v="304" dt="2025-01-14T09:09:18.380"/>
    <p1510:client id="{31E8ED7B-F0DC-5D6F-3EAF-52AF70E2B962}" v="225" dt="2025-01-14T17:24:54.090"/>
    <p1510:client id="{45DB416A-9D2A-6ECC-7A4C-3200267B65BC}" v="10" dt="2025-01-14T18:58:49.429"/>
    <p1510:client id="{5F74D5CB-A1FB-5BD7-B911-6862BFF96281}" v="26" dt="2025-01-14T20:11:54.527"/>
    <p1510:client id="{65C688FA-9073-9DC1-D399-86D8B0A0EC82}" v="22" dt="2025-01-14T18:39:12.041"/>
    <p1510:client id="{68EAD68B-96A9-B32B-A166-89B7D62418A6}" v="81" dt="2025-01-14T13:31:52.885"/>
    <p1510:client id="{6AD7F139-5E39-8772-B07E-69E77E16E31F}" v="373" dt="2025-01-14T18:45:53.800"/>
    <p1510:client id="{7A68A902-2ACD-1CAF-E86A-3736EDB8A16B}" v="232" dt="2025-01-14T15:52:56.095"/>
    <p1510:client id="{80928E30-3A77-6DAC-289F-8090B85E0B23}" v="3" dt="2025-01-14T19:07:09.948"/>
    <p1510:client id="{875CBE9B-4515-11BA-6C9A-87CE1F79D175}" v="4" dt="2025-01-14T18:46:20.616"/>
    <p1510:client id="{8A14DC1E-8067-09A0-E586-E56AB045ADB7}" v="22" dt="2025-01-14T10:48:43.365"/>
    <p1510:client id="{9ACA7160-295C-4ADA-84F3-B1EEA3E3FF0B}" v="55" dt="2025-01-14T19:38:57.395"/>
    <p1510:client id="{9C217298-47AE-BD24-5E40-EDEC022BD410}" v="4" dt="2025-01-14T20:07:18.758"/>
    <p1510:client id="{A0C5E859-5BB3-FE82-BC79-304A6B990C12}" v="506" dt="2025-01-14T10:18:33.785"/>
    <p1510:client id="{A5489AAA-4ECF-5DCA-EF99-C0F9F2F145BC}" v="549" dt="2025-01-14T10:38:54.157"/>
    <p1510:client id="{B49C7AFA-28AE-2B17-E4A7-23C6896D4704}" v="408" dt="2025-01-14T18:37:23.912"/>
    <p1510:client id="{B4DBC5B1-D441-252F-0892-F746276356AD}" v="557" dt="2025-01-14T10:52:18.584"/>
    <p1510:client id="{B8F0BAAE-1E1D-E7F9-D4E5-473131A3CE5B}" v="956" dt="2025-01-14T11:17:09.698"/>
    <p1510:client id="{B9545B4E-1DC9-B160-FDE6-F16956ACAC6C}" v="35" dt="2025-01-14T19:04:38.256"/>
    <p1510:client id="{D31E8AE0-EAD8-540D-13ED-65C65349B4BD}" v="113" dt="2025-01-16T08:20:39.821"/>
    <p1510:client id="{D5447AA0-CAA8-91E9-2C4C-DA2790ED40A3}" v="2" dt="2025-01-14T09:30:36.030"/>
    <p1510:client id="{DA1581FC-2F1C-8EE8-448E-E104610D3EAD}" v="1315" dt="2025-01-14T11:28:51.173"/>
    <p1510:client id="{E4142245-ABA0-F97F-083C-08D7835408D0}" v="4" dt="2025-01-14T19:01:14.428"/>
    <p1510:client id="{F339FE4D-14E6-8DF1-A6BE-F441D05A53B2}" v="33" dt="2025-01-14T09:46:00.425"/>
  </p1510:revLst>
</p1510:revInfo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C22544A-7EE6-4342-B048-85BDC9FD1C3A}" styleName="Stile medio 2 - Color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940" y="56"/>
      </p:cViewPr>
      <p:guideLst>
        <p:guide orient="horz" pos="2880"/>
        <p:guide pos="216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presProps" Target="pres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microsoft.com/office/2015/10/relationships/revisionInfo" Target="revisionInfo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notesMaster" Target="notesMasters/notesMaster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0_3">
  <dgm:title val=""/>
  <dgm:desc val=""/>
  <dgm:catLst>
    <dgm:cat type="mainScheme" pri="10300"/>
  </dgm:catLst>
  <dgm:styleLbl name="node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lignNode1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ln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vennNode1">
    <dgm:fillClrLst meth="repeat">
      <a:schemeClr val="dk2">
        <a:alpha val="50000"/>
      </a:schemeClr>
    </dgm:fillClrLst>
    <dgm:linClrLst meth="repeat">
      <a:schemeClr val="lt2"/>
    </dgm:linClrLst>
    <dgm:effectClrLst/>
    <dgm:txLinClrLst/>
    <dgm:txFillClrLst/>
    <dgm:txEffectClrLst/>
  </dgm:styleLbl>
  <dgm:styleLbl name="node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fgImgPlace1">
    <dgm:fillClrLst meth="repeat">
      <a:schemeClr val="dk2">
        <a:tint val="50000"/>
      </a:schemeClr>
    </dgm:fillClrLst>
    <dgm:linClrLst meth="repeat">
      <a:schemeClr val="lt2"/>
    </dgm:linClrLst>
    <dgm:effectClrLst/>
    <dgm:txLinClrLst/>
    <dgm:txFillClrLst meth="repeat">
      <a:schemeClr val="lt2"/>
    </dgm:txFillClrLst>
    <dgm:txEffectClrLst/>
  </dgm:styleLbl>
  <dgm:styleLbl name="align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bg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callout">
    <dgm:fillClrLst meth="repeat">
      <a:schemeClr val="dk2"/>
    </dgm:fillClrLst>
    <dgm:linClrLst meth="repeat">
      <a:schemeClr val="dk2">
        <a:tint val="50000"/>
      </a:schemeClr>
    </dgm:linClrLst>
    <dgm:effectClrLst/>
    <dgm:txLinClrLst/>
    <dgm:txFillClrLst meth="repeat">
      <a:schemeClr val="lt2"/>
    </dgm:txFillClrLst>
    <dgm:txEffectClrLst/>
  </dgm:styleLbl>
  <dgm:styleLbl name="asst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parCh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lt2"/>
    </dgm:txFillClrLst>
    <dgm:txEffectClrLst/>
  </dgm:styleLbl>
  <dgm:styleLbl name="parChTrans2D2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3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4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1D1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2">
        <a:alpha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2">
        <a:tint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2">
        <a:shade val="8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2">
        <a:tint val="50000"/>
        <a:alpha val="4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2">
        <a:tint val="60000"/>
      </a:schemeClr>
    </dgm:fillClrLst>
    <dgm:linClrLst meth="repeat">
      <a:schemeClr val="lt2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2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F92518A5-4E0D-402D-9FA3-7036149162D0}" type="doc">
      <dgm:prSet loTypeId="urn:microsoft.com/office/officeart/2008/layout/LinedList" loCatId="list" qsTypeId="urn:microsoft.com/office/officeart/2005/8/quickstyle/simple1" qsCatId="simple" csTypeId="urn:microsoft.com/office/officeart/2005/8/colors/accent0_3" csCatId="mainScheme" phldr="1"/>
      <dgm:spPr/>
      <dgm:t>
        <a:bodyPr/>
        <a:lstStyle/>
        <a:p>
          <a:endParaRPr lang="en-US"/>
        </a:p>
      </dgm:t>
    </dgm:pt>
    <dgm:pt modelId="{E108F733-A09A-4277-841B-12A43FFBA159}">
      <dgm:prSet/>
      <dgm:spPr/>
      <dgm:t>
        <a:bodyPr/>
        <a:lstStyle/>
        <a:p>
          <a:pPr rtl="0"/>
          <a:r>
            <a:rPr lang="it-IT" dirty="0" err="1">
              <a:latin typeface="Gill Sans MT" panose="020B0502020104020203" pitchFamily="34" charset="0"/>
            </a:rPr>
            <a:t>Introduction</a:t>
          </a:r>
          <a:endParaRPr lang="en-US" dirty="0">
            <a:latin typeface="Gill Sans MT" panose="020B0502020104020203" pitchFamily="34" charset="0"/>
          </a:endParaRPr>
        </a:p>
      </dgm:t>
    </dgm:pt>
    <dgm:pt modelId="{9322C2B1-7F10-4E97-9CA5-43F479D96A9F}" type="parTrans" cxnId="{DF4D45F6-A69F-4426-84D3-09C7BA1087F0}">
      <dgm:prSet/>
      <dgm:spPr/>
      <dgm:t>
        <a:bodyPr/>
        <a:lstStyle/>
        <a:p>
          <a:endParaRPr lang="en-US"/>
        </a:p>
      </dgm:t>
    </dgm:pt>
    <dgm:pt modelId="{AD20D677-7F97-47A9-B7CE-C933B0917D41}" type="sibTrans" cxnId="{DF4D45F6-A69F-4426-84D3-09C7BA1087F0}">
      <dgm:prSet/>
      <dgm:spPr/>
      <dgm:t>
        <a:bodyPr/>
        <a:lstStyle/>
        <a:p>
          <a:endParaRPr lang="en-US"/>
        </a:p>
      </dgm:t>
    </dgm:pt>
    <dgm:pt modelId="{7404313A-FCE1-4714-A09E-88CD111DEAB5}">
      <dgm:prSet/>
      <dgm:spPr/>
      <dgm:t>
        <a:bodyPr/>
        <a:lstStyle/>
        <a:p>
          <a:r>
            <a:rPr lang="it-IT" dirty="0">
              <a:latin typeface="Gill Sans MT" panose="020B0502020104020203" pitchFamily="34" charset="0"/>
            </a:rPr>
            <a:t>Data </a:t>
          </a:r>
          <a:r>
            <a:rPr lang="it-IT" dirty="0" err="1">
              <a:latin typeface="Gill Sans MT" panose="020B0502020104020203" pitchFamily="34" charset="0"/>
            </a:rPr>
            <a:t>Overview</a:t>
          </a:r>
          <a:endParaRPr lang="it-IT" dirty="0">
            <a:latin typeface="Gill Sans MT" panose="020B0502020104020203" pitchFamily="34" charset="0"/>
          </a:endParaRPr>
        </a:p>
      </dgm:t>
    </dgm:pt>
    <dgm:pt modelId="{AE9C14AA-8AAE-4AEC-8690-6FDC96A634E7}" type="parTrans" cxnId="{2C848349-7E68-49ED-972A-3B17A69D0662}">
      <dgm:prSet/>
      <dgm:spPr/>
      <dgm:t>
        <a:bodyPr/>
        <a:lstStyle/>
        <a:p>
          <a:endParaRPr lang="en-US"/>
        </a:p>
      </dgm:t>
    </dgm:pt>
    <dgm:pt modelId="{7D9E78F9-6C43-4FFF-96D2-1E8250E5102A}" type="sibTrans" cxnId="{2C848349-7E68-49ED-972A-3B17A69D0662}">
      <dgm:prSet/>
      <dgm:spPr/>
      <dgm:t>
        <a:bodyPr/>
        <a:lstStyle/>
        <a:p>
          <a:endParaRPr lang="en-US"/>
        </a:p>
      </dgm:t>
    </dgm:pt>
    <dgm:pt modelId="{53D5092B-DFC9-4C82-8E3A-73799C5F4698}">
      <dgm:prSet/>
      <dgm:spPr/>
      <dgm:t>
        <a:bodyPr/>
        <a:lstStyle/>
        <a:p>
          <a:r>
            <a:rPr lang="it-IT" dirty="0">
              <a:latin typeface="Gill Sans MT" panose="020B0502020104020203" pitchFamily="34" charset="0"/>
            </a:rPr>
            <a:t>NER Model</a:t>
          </a:r>
          <a:endParaRPr lang="en-US" dirty="0">
            <a:latin typeface="Gill Sans MT" panose="020B0502020104020203" pitchFamily="34" charset="0"/>
          </a:endParaRPr>
        </a:p>
      </dgm:t>
    </dgm:pt>
    <dgm:pt modelId="{1A93C0B7-A171-484D-AFE9-91CAF880C97E}" type="parTrans" cxnId="{8099B7FF-DB0C-42A9-80AE-30EA76ED31EA}">
      <dgm:prSet/>
      <dgm:spPr/>
      <dgm:t>
        <a:bodyPr/>
        <a:lstStyle/>
        <a:p>
          <a:endParaRPr lang="en-US"/>
        </a:p>
      </dgm:t>
    </dgm:pt>
    <dgm:pt modelId="{4DB0651D-E11A-48AC-893D-A38383647C04}" type="sibTrans" cxnId="{8099B7FF-DB0C-42A9-80AE-30EA76ED31EA}">
      <dgm:prSet/>
      <dgm:spPr/>
      <dgm:t>
        <a:bodyPr/>
        <a:lstStyle/>
        <a:p>
          <a:endParaRPr lang="en-US"/>
        </a:p>
      </dgm:t>
    </dgm:pt>
    <dgm:pt modelId="{3B9AAFE3-2976-4676-8A29-3AC3744E9ABA}">
      <dgm:prSet/>
      <dgm:spPr/>
      <dgm:t>
        <a:bodyPr/>
        <a:lstStyle/>
        <a:p>
          <a:r>
            <a:rPr lang="it-IT" dirty="0">
              <a:latin typeface="Gill Sans MT" panose="020B0502020104020203" pitchFamily="34" charset="0"/>
            </a:rPr>
            <a:t>Data </a:t>
          </a:r>
          <a:r>
            <a:rPr lang="it-IT" dirty="0" err="1">
              <a:latin typeface="Gill Sans MT" panose="020B0502020104020203" pitchFamily="34" charset="0"/>
            </a:rPr>
            <a:t>Augmentation</a:t>
          </a:r>
          <a:endParaRPr lang="en-US" dirty="0">
            <a:latin typeface="Gill Sans MT" panose="020B0502020104020203" pitchFamily="34" charset="0"/>
          </a:endParaRPr>
        </a:p>
      </dgm:t>
    </dgm:pt>
    <dgm:pt modelId="{C4345FF8-DAB9-4F6D-BEAB-F4768E11F222}" type="parTrans" cxnId="{C7B9CF75-E5AB-40BC-B07C-D40E6675C9A6}">
      <dgm:prSet/>
      <dgm:spPr/>
      <dgm:t>
        <a:bodyPr/>
        <a:lstStyle/>
        <a:p>
          <a:endParaRPr lang="en-US"/>
        </a:p>
      </dgm:t>
    </dgm:pt>
    <dgm:pt modelId="{03DD4589-A84F-4BC2-AD45-17FFBB03E0A6}" type="sibTrans" cxnId="{C7B9CF75-E5AB-40BC-B07C-D40E6675C9A6}">
      <dgm:prSet/>
      <dgm:spPr/>
      <dgm:t>
        <a:bodyPr/>
        <a:lstStyle/>
        <a:p>
          <a:endParaRPr lang="en-US"/>
        </a:p>
      </dgm:t>
    </dgm:pt>
    <dgm:pt modelId="{7A608B82-38D5-4A8E-A8A8-D12D8361E90F}">
      <dgm:prSet/>
      <dgm:spPr/>
      <dgm:t>
        <a:bodyPr/>
        <a:lstStyle/>
        <a:p>
          <a:r>
            <a:rPr lang="it-IT" dirty="0">
              <a:latin typeface="Gill Sans MT" panose="020B0502020104020203" pitchFamily="34" charset="0"/>
            </a:rPr>
            <a:t>RE Model</a:t>
          </a:r>
        </a:p>
      </dgm:t>
    </dgm:pt>
    <dgm:pt modelId="{90300C84-A12F-4664-8344-2E3805C38165}" type="parTrans" cxnId="{BDE2C32E-7932-4476-9C33-285CA5529649}">
      <dgm:prSet/>
      <dgm:spPr/>
      <dgm:t>
        <a:bodyPr/>
        <a:lstStyle/>
        <a:p>
          <a:endParaRPr lang="en-US"/>
        </a:p>
      </dgm:t>
    </dgm:pt>
    <dgm:pt modelId="{45B86B6E-E887-4DDE-9531-B9F7514C79F4}" type="sibTrans" cxnId="{BDE2C32E-7932-4476-9C33-285CA5529649}">
      <dgm:prSet/>
      <dgm:spPr/>
      <dgm:t>
        <a:bodyPr/>
        <a:lstStyle/>
        <a:p>
          <a:endParaRPr lang="en-US"/>
        </a:p>
      </dgm:t>
    </dgm:pt>
    <dgm:pt modelId="{E08A924F-C163-435C-8680-031F79FE78D8}">
      <dgm:prSet/>
      <dgm:spPr/>
      <dgm:t>
        <a:bodyPr/>
        <a:lstStyle/>
        <a:p>
          <a:r>
            <a:rPr lang="it-IT" dirty="0">
              <a:latin typeface="Gill Sans MT" panose="020B0502020104020203" pitchFamily="34" charset="0"/>
            </a:rPr>
            <a:t>Model Evaluation</a:t>
          </a:r>
        </a:p>
      </dgm:t>
    </dgm:pt>
    <dgm:pt modelId="{B7EE4A2C-4D71-4C7A-AEBD-D50247AB7666}" type="parTrans" cxnId="{66914892-5A34-40BA-9746-8ADC2298A719}">
      <dgm:prSet/>
      <dgm:spPr/>
      <dgm:t>
        <a:bodyPr/>
        <a:lstStyle/>
        <a:p>
          <a:endParaRPr lang="en-US"/>
        </a:p>
      </dgm:t>
    </dgm:pt>
    <dgm:pt modelId="{EA6ACFF6-3180-4F7D-B991-D18C765C4A5C}" type="sibTrans" cxnId="{66914892-5A34-40BA-9746-8ADC2298A719}">
      <dgm:prSet/>
      <dgm:spPr/>
      <dgm:t>
        <a:bodyPr/>
        <a:lstStyle/>
        <a:p>
          <a:endParaRPr lang="en-US"/>
        </a:p>
      </dgm:t>
    </dgm:pt>
    <dgm:pt modelId="{988F5488-A203-40EC-BDC6-B42CB4AECF9A}" type="pres">
      <dgm:prSet presAssocID="{F92518A5-4E0D-402D-9FA3-7036149162D0}" presName="vert0" presStyleCnt="0">
        <dgm:presLayoutVars>
          <dgm:dir/>
          <dgm:animOne val="branch"/>
          <dgm:animLvl val="lvl"/>
        </dgm:presLayoutVars>
      </dgm:prSet>
      <dgm:spPr/>
    </dgm:pt>
    <dgm:pt modelId="{D1D7DC89-64E1-4A11-B475-A4E11FC05423}" type="pres">
      <dgm:prSet presAssocID="{E108F733-A09A-4277-841B-12A43FFBA159}" presName="thickLine" presStyleLbl="alignNode1" presStyleIdx="0" presStyleCnt="6"/>
      <dgm:spPr/>
    </dgm:pt>
    <dgm:pt modelId="{1FFC386E-B11B-4A1E-B476-179A5CBEE2C2}" type="pres">
      <dgm:prSet presAssocID="{E108F733-A09A-4277-841B-12A43FFBA159}" presName="horz1" presStyleCnt="0"/>
      <dgm:spPr/>
    </dgm:pt>
    <dgm:pt modelId="{7AB626CE-126C-410E-8ACA-11D68B7BFF21}" type="pres">
      <dgm:prSet presAssocID="{E108F733-A09A-4277-841B-12A43FFBA159}" presName="tx1" presStyleLbl="revTx" presStyleIdx="0" presStyleCnt="6"/>
      <dgm:spPr/>
    </dgm:pt>
    <dgm:pt modelId="{8FDE7545-D130-45DC-AB95-312A9349C7FE}" type="pres">
      <dgm:prSet presAssocID="{E108F733-A09A-4277-841B-12A43FFBA159}" presName="vert1" presStyleCnt="0"/>
      <dgm:spPr/>
    </dgm:pt>
    <dgm:pt modelId="{E2374BFC-C1B0-4C6F-8636-016093BB1186}" type="pres">
      <dgm:prSet presAssocID="{7404313A-FCE1-4714-A09E-88CD111DEAB5}" presName="thickLine" presStyleLbl="alignNode1" presStyleIdx="1" presStyleCnt="6"/>
      <dgm:spPr/>
    </dgm:pt>
    <dgm:pt modelId="{1792EAC7-FC3B-4374-B2FA-DB82AD998290}" type="pres">
      <dgm:prSet presAssocID="{7404313A-FCE1-4714-A09E-88CD111DEAB5}" presName="horz1" presStyleCnt="0"/>
      <dgm:spPr/>
    </dgm:pt>
    <dgm:pt modelId="{793176B3-75BA-4F41-B5FE-CA9468E15A85}" type="pres">
      <dgm:prSet presAssocID="{7404313A-FCE1-4714-A09E-88CD111DEAB5}" presName="tx1" presStyleLbl="revTx" presStyleIdx="1" presStyleCnt="6"/>
      <dgm:spPr/>
    </dgm:pt>
    <dgm:pt modelId="{480EB5D1-6B00-4E5F-9C55-4FA1B5EB7BB4}" type="pres">
      <dgm:prSet presAssocID="{7404313A-FCE1-4714-A09E-88CD111DEAB5}" presName="vert1" presStyleCnt="0"/>
      <dgm:spPr/>
    </dgm:pt>
    <dgm:pt modelId="{DAE942C9-B6EE-46B6-B0E5-224759E20D1E}" type="pres">
      <dgm:prSet presAssocID="{53D5092B-DFC9-4C82-8E3A-73799C5F4698}" presName="thickLine" presStyleLbl="alignNode1" presStyleIdx="2" presStyleCnt="6"/>
      <dgm:spPr/>
    </dgm:pt>
    <dgm:pt modelId="{08FACC7B-9E5E-4405-9DA6-4BDB9D514878}" type="pres">
      <dgm:prSet presAssocID="{53D5092B-DFC9-4C82-8E3A-73799C5F4698}" presName="horz1" presStyleCnt="0"/>
      <dgm:spPr/>
    </dgm:pt>
    <dgm:pt modelId="{2ABF4439-26CB-48C3-A110-D9C31C0AD07B}" type="pres">
      <dgm:prSet presAssocID="{53D5092B-DFC9-4C82-8E3A-73799C5F4698}" presName="tx1" presStyleLbl="revTx" presStyleIdx="2" presStyleCnt="6"/>
      <dgm:spPr/>
    </dgm:pt>
    <dgm:pt modelId="{5A34580F-A950-430D-A36C-9A95927ABF06}" type="pres">
      <dgm:prSet presAssocID="{53D5092B-DFC9-4C82-8E3A-73799C5F4698}" presName="vert1" presStyleCnt="0"/>
      <dgm:spPr/>
    </dgm:pt>
    <dgm:pt modelId="{90032318-E746-4592-A02C-F8E18F9DE133}" type="pres">
      <dgm:prSet presAssocID="{3B9AAFE3-2976-4676-8A29-3AC3744E9ABA}" presName="thickLine" presStyleLbl="alignNode1" presStyleIdx="3" presStyleCnt="6"/>
      <dgm:spPr/>
    </dgm:pt>
    <dgm:pt modelId="{C644E65D-CD62-4CC8-BA11-C0653AB01727}" type="pres">
      <dgm:prSet presAssocID="{3B9AAFE3-2976-4676-8A29-3AC3744E9ABA}" presName="horz1" presStyleCnt="0"/>
      <dgm:spPr/>
    </dgm:pt>
    <dgm:pt modelId="{7F0F54F7-9F7B-45DD-A1D2-A93E7100D731}" type="pres">
      <dgm:prSet presAssocID="{3B9AAFE3-2976-4676-8A29-3AC3744E9ABA}" presName="tx1" presStyleLbl="revTx" presStyleIdx="3" presStyleCnt="6"/>
      <dgm:spPr/>
    </dgm:pt>
    <dgm:pt modelId="{EDACDCB8-6713-4252-B5FB-95D816F633EE}" type="pres">
      <dgm:prSet presAssocID="{3B9AAFE3-2976-4676-8A29-3AC3744E9ABA}" presName="vert1" presStyleCnt="0"/>
      <dgm:spPr/>
    </dgm:pt>
    <dgm:pt modelId="{2238FAAD-F38B-4182-A7ED-2C0CFB80B353}" type="pres">
      <dgm:prSet presAssocID="{7A608B82-38D5-4A8E-A8A8-D12D8361E90F}" presName="thickLine" presStyleLbl="alignNode1" presStyleIdx="4" presStyleCnt="6"/>
      <dgm:spPr/>
    </dgm:pt>
    <dgm:pt modelId="{3062AC00-1C07-4B35-8D48-866277DF0126}" type="pres">
      <dgm:prSet presAssocID="{7A608B82-38D5-4A8E-A8A8-D12D8361E90F}" presName="horz1" presStyleCnt="0"/>
      <dgm:spPr/>
    </dgm:pt>
    <dgm:pt modelId="{C52A4A07-180A-48F7-A6E3-62D94EEFEDCA}" type="pres">
      <dgm:prSet presAssocID="{7A608B82-38D5-4A8E-A8A8-D12D8361E90F}" presName="tx1" presStyleLbl="revTx" presStyleIdx="4" presStyleCnt="6"/>
      <dgm:spPr/>
    </dgm:pt>
    <dgm:pt modelId="{D7C805F8-6643-45B8-B4F0-E35FC9161194}" type="pres">
      <dgm:prSet presAssocID="{7A608B82-38D5-4A8E-A8A8-D12D8361E90F}" presName="vert1" presStyleCnt="0"/>
      <dgm:spPr/>
    </dgm:pt>
    <dgm:pt modelId="{1CCDE934-D83E-4968-B318-6B56F3F38406}" type="pres">
      <dgm:prSet presAssocID="{E08A924F-C163-435C-8680-031F79FE78D8}" presName="thickLine" presStyleLbl="alignNode1" presStyleIdx="5" presStyleCnt="6"/>
      <dgm:spPr/>
    </dgm:pt>
    <dgm:pt modelId="{8F4A7B43-1B56-4C1B-8A83-BCFDDE76B59D}" type="pres">
      <dgm:prSet presAssocID="{E08A924F-C163-435C-8680-031F79FE78D8}" presName="horz1" presStyleCnt="0"/>
      <dgm:spPr/>
    </dgm:pt>
    <dgm:pt modelId="{46AAC4F3-7621-4039-8E98-9912AEFCA0EA}" type="pres">
      <dgm:prSet presAssocID="{E08A924F-C163-435C-8680-031F79FE78D8}" presName="tx1" presStyleLbl="revTx" presStyleIdx="5" presStyleCnt="6"/>
      <dgm:spPr/>
    </dgm:pt>
    <dgm:pt modelId="{14388CE9-50AD-4A2B-8127-3012A84CE7EA}" type="pres">
      <dgm:prSet presAssocID="{E08A924F-C163-435C-8680-031F79FE78D8}" presName="vert1" presStyleCnt="0"/>
      <dgm:spPr/>
    </dgm:pt>
  </dgm:ptLst>
  <dgm:cxnLst>
    <dgm:cxn modelId="{08B1950E-C8CF-4542-AC4C-1336D4BA66CA}" type="presOf" srcId="{7404313A-FCE1-4714-A09E-88CD111DEAB5}" destId="{793176B3-75BA-4F41-B5FE-CA9468E15A85}" srcOrd="0" destOrd="0" presId="urn:microsoft.com/office/officeart/2008/layout/LinedList"/>
    <dgm:cxn modelId="{722EA714-2846-454F-8E41-A08372C4B264}" type="presOf" srcId="{53D5092B-DFC9-4C82-8E3A-73799C5F4698}" destId="{2ABF4439-26CB-48C3-A110-D9C31C0AD07B}" srcOrd="0" destOrd="0" presId="urn:microsoft.com/office/officeart/2008/layout/LinedList"/>
    <dgm:cxn modelId="{BDE2C32E-7932-4476-9C33-285CA5529649}" srcId="{F92518A5-4E0D-402D-9FA3-7036149162D0}" destId="{7A608B82-38D5-4A8E-A8A8-D12D8361E90F}" srcOrd="4" destOrd="0" parTransId="{90300C84-A12F-4664-8344-2E3805C38165}" sibTransId="{45B86B6E-E887-4DDE-9531-B9F7514C79F4}"/>
    <dgm:cxn modelId="{2C848349-7E68-49ED-972A-3B17A69D0662}" srcId="{F92518A5-4E0D-402D-9FA3-7036149162D0}" destId="{7404313A-FCE1-4714-A09E-88CD111DEAB5}" srcOrd="1" destOrd="0" parTransId="{AE9C14AA-8AAE-4AEC-8690-6FDC96A634E7}" sibTransId="{7D9E78F9-6C43-4FFF-96D2-1E8250E5102A}"/>
    <dgm:cxn modelId="{C7B9CF75-E5AB-40BC-B07C-D40E6675C9A6}" srcId="{F92518A5-4E0D-402D-9FA3-7036149162D0}" destId="{3B9AAFE3-2976-4676-8A29-3AC3744E9ABA}" srcOrd="3" destOrd="0" parTransId="{C4345FF8-DAB9-4F6D-BEAB-F4768E11F222}" sibTransId="{03DD4589-A84F-4BC2-AD45-17FFBB03E0A6}"/>
    <dgm:cxn modelId="{206C4856-B442-4B4D-B98B-C6013CDBCC96}" type="presOf" srcId="{E08A924F-C163-435C-8680-031F79FE78D8}" destId="{46AAC4F3-7621-4039-8E98-9912AEFCA0EA}" srcOrd="0" destOrd="0" presId="urn:microsoft.com/office/officeart/2008/layout/LinedList"/>
    <dgm:cxn modelId="{66914892-5A34-40BA-9746-8ADC2298A719}" srcId="{F92518A5-4E0D-402D-9FA3-7036149162D0}" destId="{E08A924F-C163-435C-8680-031F79FE78D8}" srcOrd="5" destOrd="0" parTransId="{B7EE4A2C-4D71-4C7A-AEBD-D50247AB7666}" sibTransId="{EA6ACFF6-3180-4F7D-B991-D18C765C4A5C}"/>
    <dgm:cxn modelId="{14295DB8-4979-4721-A9B1-CAF3F6DC09AC}" type="presOf" srcId="{F92518A5-4E0D-402D-9FA3-7036149162D0}" destId="{988F5488-A203-40EC-BDC6-B42CB4AECF9A}" srcOrd="0" destOrd="0" presId="urn:microsoft.com/office/officeart/2008/layout/LinedList"/>
    <dgm:cxn modelId="{D5DA0AD8-566F-469E-BBA8-D66FA24885B7}" type="presOf" srcId="{3B9AAFE3-2976-4676-8A29-3AC3744E9ABA}" destId="{7F0F54F7-9F7B-45DD-A1D2-A93E7100D731}" srcOrd="0" destOrd="0" presId="urn:microsoft.com/office/officeart/2008/layout/LinedList"/>
    <dgm:cxn modelId="{D7E2B5E6-7796-460F-B604-D3F6404D854E}" type="presOf" srcId="{E108F733-A09A-4277-841B-12A43FFBA159}" destId="{7AB626CE-126C-410E-8ACA-11D68B7BFF21}" srcOrd="0" destOrd="0" presId="urn:microsoft.com/office/officeart/2008/layout/LinedList"/>
    <dgm:cxn modelId="{DF4D45F6-A69F-4426-84D3-09C7BA1087F0}" srcId="{F92518A5-4E0D-402D-9FA3-7036149162D0}" destId="{E108F733-A09A-4277-841B-12A43FFBA159}" srcOrd="0" destOrd="0" parTransId="{9322C2B1-7F10-4E97-9CA5-43F479D96A9F}" sibTransId="{AD20D677-7F97-47A9-B7CE-C933B0917D41}"/>
    <dgm:cxn modelId="{CB5650F8-926C-4936-905F-B0B483164A7B}" type="presOf" srcId="{7A608B82-38D5-4A8E-A8A8-D12D8361E90F}" destId="{C52A4A07-180A-48F7-A6E3-62D94EEFEDCA}" srcOrd="0" destOrd="0" presId="urn:microsoft.com/office/officeart/2008/layout/LinedList"/>
    <dgm:cxn modelId="{8099B7FF-DB0C-42A9-80AE-30EA76ED31EA}" srcId="{F92518A5-4E0D-402D-9FA3-7036149162D0}" destId="{53D5092B-DFC9-4C82-8E3A-73799C5F4698}" srcOrd="2" destOrd="0" parTransId="{1A93C0B7-A171-484D-AFE9-91CAF880C97E}" sibTransId="{4DB0651D-E11A-48AC-893D-A38383647C04}"/>
    <dgm:cxn modelId="{C784AD46-5A68-4058-B341-6EA8D1B2C3E3}" type="presParOf" srcId="{988F5488-A203-40EC-BDC6-B42CB4AECF9A}" destId="{D1D7DC89-64E1-4A11-B475-A4E11FC05423}" srcOrd="0" destOrd="0" presId="urn:microsoft.com/office/officeart/2008/layout/LinedList"/>
    <dgm:cxn modelId="{A7795D6C-E211-4293-A3D9-32729125837A}" type="presParOf" srcId="{988F5488-A203-40EC-BDC6-B42CB4AECF9A}" destId="{1FFC386E-B11B-4A1E-B476-179A5CBEE2C2}" srcOrd="1" destOrd="0" presId="urn:microsoft.com/office/officeart/2008/layout/LinedList"/>
    <dgm:cxn modelId="{EC3844F0-8F2C-4FF7-A9EB-2F60F7E6FC82}" type="presParOf" srcId="{1FFC386E-B11B-4A1E-B476-179A5CBEE2C2}" destId="{7AB626CE-126C-410E-8ACA-11D68B7BFF21}" srcOrd="0" destOrd="0" presId="urn:microsoft.com/office/officeart/2008/layout/LinedList"/>
    <dgm:cxn modelId="{1272BD49-B68B-4F68-9137-5039E505DF2B}" type="presParOf" srcId="{1FFC386E-B11B-4A1E-B476-179A5CBEE2C2}" destId="{8FDE7545-D130-45DC-AB95-312A9349C7FE}" srcOrd="1" destOrd="0" presId="urn:microsoft.com/office/officeart/2008/layout/LinedList"/>
    <dgm:cxn modelId="{83B58554-20FB-4933-A501-EEB80B2E0CC2}" type="presParOf" srcId="{988F5488-A203-40EC-BDC6-B42CB4AECF9A}" destId="{E2374BFC-C1B0-4C6F-8636-016093BB1186}" srcOrd="2" destOrd="0" presId="urn:microsoft.com/office/officeart/2008/layout/LinedList"/>
    <dgm:cxn modelId="{A221BA7C-61AA-4B3D-890B-7F802A562035}" type="presParOf" srcId="{988F5488-A203-40EC-BDC6-B42CB4AECF9A}" destId="{1792EAC7-FC3B-4374-B2FA-DB82AD998290}" srcOrd="3" destOrd="0" presId="urn:microsoft.com/office/officeart/2008/layout/LinedList"/>
    <dgm:cxn modelId="{B541BABC-12CC-4BED-BFD6-E4CC260E86E4}" type="presParOf" srcId="{1792EAC7-FC3B-4374-B2FA-DB82AD998290}" destId="{793176B3-75BA-4F41-B5FE-CA9468E15A85}" srcOrd="0" destOrd="0" presId="urn:microsoft.com/office/officeart/2008/layout/LinedList"/>
    <dgm:cxn modelId="{B330F02F-5FB9-4D02-AA12-4E247E94F0BA}" type="presParOf" srcId="{1792EAC7-FC3B-4374-B2FA-DB82AD998290}" destId="{480EB5D1-6B00-4E5F-9C55-4FA1B5EB7BB4}" srcOrd="1" destOrd="0" presId="urn:microsoft.com/office/officeart/2008/layout/LinedList"/>
    <dgm:cxn modelId="{DAC1A277-D68A-4138-9B77-8B10E0853E14}" type="presParOf" srcId="{988F5488-A203-40EC-BDC6-B42CB4AECF9A}" destId="{DAE942C9-B6EE-46B6-B0E5-224759E20D1E}" srcOrd="4" destOrd="0" presId="urn:microsoft.com/office/officeart/2008/layout/LinedList"/>
    <dgm:cxn modelId="{C008CC55-397F-46D0-BE20-0566659B60EA}" type="presParOf" srcId="{988F5488-A203-40EC-BDC6-B42CB4AECF9A}" destId="{08FACC7B-9E5E-4405-9DA6-4BDB9D514878}" srcOrd="5" destOrd="0" presId="urn:microsoft.com/office/officeart/2008/layout/LinedList"/>
    <dgm:cxn modelId="{E0613870-F51E-4B90-ADAD-E9C1BFBCEBBF}" type="presParOf" srcId="{08FACC7B-9E5E-4405-9DA6-4BDB9D514878}" destId="{2ABF4439-26CB-48C3-A110-D9C31C0AD07B}" srcOrd="0" destOrd="0" presId="urn:microsoft.com/office/officeart/2008/layout/LinedList"/>
    <dgm:cxn modelId="{55560E38-2F1A-4180-A55F-A2BA676A0D3D}" type="presParOf" srcId="{08FACC7B-9E5E-4405-9DA6-4BDB9D514878}" destId="{5A34580F-A950-430D-A36C-9A95927ABF06}" srcOrd="1" destOrd="0" presId="urn:microsoft.com/office/officeart/2008/layout/LinedList"/>
    <dgm:cxn modelId="{2590FDD4-A5E3-48FE-99A8-1910509E11B1}" type="presParOf" srcId="{988F5488-A203-40EC-BDC6-B42CB4AECF9A}" destId="{90032318-E746-4592-A02C-F8E18F9DE133}" srcOrd="6" destOrd="0" presId="urn:microsoft.com/office/officeart/2008/layout/LinedList"/>
    <dgm:cxn modelId="{6AFF4060-82CA-4E0A-A91A-9219011BD688}" type="presParOf" srcId="{988F5488-A203-40EC-BDC6-B42CB4AECF9A}" destId="{C644E65D-CD62-4CC8-BA11-C0653AB01727}" srcOrd="7" destOrd="0" presId="urn:microsoft.com/office/officeart/2008/layout/LinedList"/>
    <dgm:cxn modelId="{11A6345B-EE7C-46DD-87F7-0E07E346091A}" type="presParOf" srcId="{C644E65D-CD62-4CC8-BA11-C0653AB01727}" destId="{7F0F54F7-9F7B-45DD-A1D2-A93E7100D731}" srcOrd="0" destOrd="0" presId="urn:microsoft.com/office/officeart/2008/layout/LinedList"/>
    <dgm:cxn modelId="{3B1D0C6E-A485-4678-B99E-EDF9AF910A85}" type="presParOf" srcId="{C644E65D-CD62-4CC8-BA11-C0653AB01727}" destId="{EDACDCB8-6713-4252-B5FB-95D816F633EE}" srcOrd="1" destOrd="0" presId="urn:microsoft.com/office/officeart/2008/layout/LinedList"/>
    <dgm:cxn modelId="{E5BBA117-587C-45A1-832A-C4F5D9A48BAF}" type="presParOf" srcId="{988F5488-A203-40EC-BDC6-B42CB4AECF9A}" destId="{2238FAAD-F38B-4182-A7ED-2C0CFB80B353}" srcOrd="8" destOrd="0" presId="urn:microsoft.com/office/officeart/2008/layout/LinedList"/>
    <dgm:cxn modelId="{6FCC17B3-370E-4B25-AC16-2B02137DD924}" type="presParOf" srcId="{988F5488-A203-40EC-BDC6-B42CB4AECF9A}" destId="{3062AC00-1C07-4B35-8D48-866277DF0126}" srcOrd="9" destOrd="0" presId="urn:microsoft.com/office/officeart/2008/layout/LinedList"/>
    <dgm:cxn modelId="{38D1E1D0-DB94-428A-B387-AA25934D20B9}" type="presParOf" srcId="{3062AC00-1C07-4B35-8D48-866277DF0126}" destId="{C52A4A07-180A-48F7-A6E3-62D94EEFEDCA}" srcOrd="0" destOrd="0" presId="urn:microsoft.com/office/officeart/2008/layout/LinedList"/>
    <dgm:cxn modelId="{5A2C4F15-3A1C-45F7-BACB-DB14AD938D1C}" type="presParOf" srcId="{3062AC00-1C07-4B35-8D48-866277DF0126}" destId="{D7C805F8-6643-45B8-B4F0-E35FC9161194}" srcOrd="1" destOrd="0" presId="urn:microsoft.com/office/officeart/2008/layout/LinedList"/>
    <dgm:cxn modelId="{CB1809A7-164D-4B57-8340-FBBC34BA1153}" type="presParOf" srcId="{988F5488-A203-40EC-BDC6-B42CB4AECF9A}" destId="{1CCDE934-D83E-4968-B318-6B56F3F38406}" srcOrd="10" destOrd="0" presId="urn:microsoft.com/office/officeart/2008/layout/LinedList"/>
    <dgm:cxn modelId="{15B959A7-9B7E-4E9F-924F-DD4B0E150F07}" type="presParOf" srcId="{988F5488-A203-40EC-BDC6-B42CB4AECF9A}" destId="{8F4A7B43-1B56-4C1B-8A83-BCFDDE76B59D}" srcOrd="11" destOrd="0" presId="urn:microsoft.com/office/officeart/2008/layout/LinedList"/>
    <dgm:cxn modelId="{2DA78AD2-023B-409B-91F3-306C6BD2AB04}" type="presParOf" srcId="{8F4A7B43-1B56-4C1B-8A83-BCFDDE76B59D}" destId="{46AAC4F3-7621-4039-8E98-9912AEFCA0EA}" srcOrd="0" destOrd="0" presId="urn:microsoft.com/office/officeart/2008/layout/LinedList"/>
    <dgm:cxn modelId="{77BFBC1F-7123-4959-96E5-FC96CC4576FC}" type="presParOf" srcId="{8F4A7B43-1B56-4C1B-8A83-BCFDDE76B59D}" destId="{14388CE9-50AD-4A2B-8127-3012A84CE7EA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1D7DC89-64E1-4A11-B475-A4E11FC05423}">
      <dsp:nvSpPr>
        <dsp:cNvPr id="0" name=""/>
        <dsp:cNvSpPr/>
      </dsp:nvSpPr>
      <dsp:spPr>
        <a:xfrm>
          <a:off x="0" y="1879"/>
          <a:ext cx="4611711" cy="0"/>
        </a:xfrm>
        <a:prstGeom prst="line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AB626CE-126C-410E-8ACA-11D68B7BFF21}">
      <dsp:nvSpPr>
        <dsp:cNvPr id="0" name=""/>
        <dsp:cNvSpPr/>
      </dsp:nvSpPr>
      <dsp:spPr>
        <a:xfrm>
          <a:off x="0" y="1879"/>
          <a:ext cx="4611711" cy="64092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4300" tIns="114300" rIns="114300" bIns="114300" numCol="1" spcCol="1270" anchor="t" anchorCtr="0">
          <a:noAutofit/>
        </a:bodyPr>
        <a:lstStyle/>
        <a:p>
          <a:pPr marL="0" lvl="0" indent="0" algn="l" defTabSz="13335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3000" kern="1200" dirty="0" err="1">
              <a:latin typeface="Gill Sans MT" panose="020B0502020104020203" pitchFamily="34" charset="0"/>
            </a:rPr>
            <a:t>Introduction</a:t>
          </a:r>
          <a:endParaRPr lang="en-US" sz="3000" kern="1200" dirty="0">
            <a:latin typeface="Gill Sans MT" panose="020B0502020104020203" pitchFamily="34" charset="0"/>
          </a:endParaRPr>
        </a:p>
      </dsp:txBody>
      <dsp:txXfrm>
        <a:off x="0" y="1879"/>
        <a:ext cx="4611711" cy="640923"/>
      </dsp:txXfrm>
    </dsp:sp>
    <dsp:sp modelId="{E2374BFC-C1B0-4C6F-8636-016093BB1186}">
      <dsp:nvSpPr>
        <dsp:cNvPr id="0" name=""/>
        <dsp:cNvSpPr/>
      </dsp:nvSpPr>
      <dsp:spPr>
        <a:xfrm>
          <a:off x="0" y="642803"/>
          <a:ext cx="4611711" cy="0"/>
        </a:xfrm>
        <a:prstGeom prst="line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93176B3-75BA-4F41-B5FE-CA9468E15A85}">
      <dsp:nvSpPr>
        <dsp:cNvPr id="0" name=""/>
        <dsp:cNvSpPr/>
      </dsp:nvSpPr>
      <dsp:spPr>
        <a:xfrm>
          <a:off x="0" y="642803"/>
          <a:ext cx="4611711" cy="64092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4300" tIns="114300" rIns="114300" bIns="114300" numCol="1" spcCol="1270" anchor="t" anchorCtr="0">
          <a:noAutofit/>
        </a:bodyPr>
        <a:lstStyle/>
        <a:p>
          <a:pPr marL="0" lvl="0" indent="0" algn="l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3000" kern="1200" dirty="0">
              <a:latin typeface="Gill Sans MT" panose="020B0502020104020203" pitchFamily="34" charset="0"/>
            </a:rPr>
            <a:t>Data </a:t>
          </a:r>
          <a:r>
            <a:rPr lang="it-IT" sz="3000" kern="1200" dirty="0" err="1">
              <a:latin typeface="Gill Sans MT" panose="020B0502020104020203" pitchFamily="34" charset="0"/>
            </a:rPr>
            <a:t>Overview</a:t>
          </a:r>
          <a:endParaRPr lang="it-IT" sz="3000" kern="1200" dirty="0">
            <a:latin typeface="Gill Sans MT" panose="020B0502020104020203" pitchFamily="34" charset="0"/>
          </a:endParaRPr>
        </a:p>
      </dsp:txBody>
      <dsp:txXfrm>
        <a:off x="0" y="642803"/>
        <a:ext cx="4611711" cy="640923"/>
      </dsp:txXfrm>
    </dsp:sp>
    <dsp:sp modelId="{DAE942C9-B6EE-46B6-B0E5-224759E20D1E}">
      <dsp:nvSpPr>
        <dsp:cNvPr id="0" name=""/>
        <dsp:cNvSpPr/>
      </dsp:nvSpPr>
      <dsp:spPr>
        <a:xfrm>
          <a:off x="0" y="1283727"/>
          <a:ext cx="4611711" cy="0"/>
        </a:xfrm>
        <a:prstGeom prst="line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ABF4439-26CB-48C3-A110-D9C31C0AD07B}">
      <dsp:nvSpPr>
        <dsp:cNvPr id="0" name=""/>
        <dsp:cNvSpPr/>
      </dsp:nvSpPr>
      <dsp:spPr>
        <a:xfrm>
          <a:off x="0" y="1283727"/>
          <a:ext cx="4611711" cy="64092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4300" tIns="114300" rIns="114300" bIns="114300" numCol="1" spcCol="1270" anchor="t" anchorCtr="0">
          <a:noAutofit/>
        </a:bodyPr>
        <a:lstStyle/>
        <a:p>
          <a:pPr marL="0" lvl="0" indent="0" algn="l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3000" kern="1200" dirty="0">
              <a:latin typeface="Gill Sans MT" panose="020B0502020104020203" pitchFamily="34" charset="0"/>
            </a:rPr>
            <a:t>NER Model</a:t>
          </a:r>
          <a:endParaRPr lang="en-US" sz="3000" kern="1200" dirty="0">
            <a:latin typeface="Gill Sans MT" panose="020B0502020104020203" pitchFamily="34" charset="0"/>
          </a:endParaRPr>
        </a:p>
      </dsp:txBody>
      <dsp:txXfrm>
        <a:off x="0" y="1283727"/>
        <a:ext cx="4611711" cy="640923"/>
      </dsp:txXfrm>
    </dsp:sp>
    <dsp:sp modelId="{90032318-E746-4592-A02C-F8E18F9DE133}">
      <dsp:nvSpPr>
        <dsp:cNvPr id="0" name=""/>
        <dsp:cNvSpPr/>
      </dsp:nvSpPr>
      <dsp:spPr>
        <a:xfrm>
          <a:off x="0" y="1924651"/>
          <a:ext cx="4611711" cy="0"/>
        </a:xfrm>
        <a:prstGeom prst="line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F0F54F7-9F7B-45DD-A1D2-A93E7100D731}">
      <dsp:nvSpPr>
        <dsp:cNvPr id="0" name=""/>
        <dsp:cNvSpPr/>
      </dsp:nvSpPr>
      <dsp:spPr>
        <a:xfrm>
          <a:off x="0" y="1924651"/>
          <a:ext cx="4611711" cy="64092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4300" tIns="114300" rIns="114300" bIns="114300" numCol="1" spcCol="1270" anchor="t" anchorCtr="0">
          <a:noAutofit/>
        </a:bodyPr>
        <a:lstStyle/>
        <a:p>
          <a:pPr marL="0" lvl="0" indent="0" algn="l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3000" kern="1200" dirty="0">
              <a:latin typeface="Gill Sans MT" panose="020B0502020104020203" pitchFamily="34" charset="0"/>
            </a:rPr>
            <a:t>Data </a:t>
          </a:r>
          <a:r>
            <a:rPr lang="it-IT" sz="3000" kern="1200" dirty="0" err="1">
              <a:latin typeface="Gill Sans MT" panose="020B0502020104020203" pitchFamily="34" charset="0"/>
            </a:rPr>
            <a:t>Augmentation</a:t>
          </a:r>
          <a:endParaRPr lang="en-US" sz="3000" kern="1200" dirty="0">
            <a:latin typeface="Gill Sans MT" panose="020B0502020104020203" pitchFamily="34" charset="0"/>
          </a:endParaRPr>
        </a:p>
      </dsp:txBody>
      <dsp:txXfrm>
        <a:off x="0" y="1924651"/>
        <a:ext cx="4611711" cy="640923"/>
      </dsp:txXfrm>
    </dsp:sp>
    <dsp:sp modelId="{2238FAAD-F38B-4182-A7ED-2C0CFB80B353}">
      <dsp:nvSpPr>
        <dsp:cNvPr id="0" name=""/>
        <dsp:cNvSpPr/>
      </dsp:nvSpPr>
      <dsp:spPr>
        <a:xfrm>
          <a:off x="0" y="2565575"/>
          <a:ext cx="4611711" cy="0"/>
        </a:xfrm>
        <a:prstGeom prst="line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52A4A07-180A-48F7-A6E3-62D94EEFEDCA}">
      <dsp:nvSpPr>
        <dsp:cNvPr id="0" name=""/>
        <dsp:cNvSpPr/>
      </dsp:nvSpPr>
      <dsp:spPr>
        <a:xfrm>
          <a:off x="0" y="2565575"/>
          <a:ext cx="4611711" cy="64092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4300" tIns="114300" rIns="114300" bIns="114300" numCol="1" spcCol="1270" anchor="t" anchorCtr="0">
          <a:noAutofit/>
        </a:bodyPr>
        <a:lstStyle/>
        <a:p>
          <a:pPr marL="0" lvl="0" indent="0" algn="l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3000" kern="1200" dirty="0">
              <a:latin typeface="Gill Sans MT" panose="020B0502020104020203" pitchFamily="34" charset="0"/>
            </a:rPr>
            <a:t>RE Model</a:t>
          </a:r>
        </a:p>
      </dsp:txBody>
      <dsp:txXfrm>
        <a:off x="0" y="2565575"/>
        <a:ext cx="4611711" cy="640923"/>
      </dsp:txXfrm>
    </dsp:sp>
    <dsp:sp modelId="{1CCDE934-D83E-4968-B318-6B56F3F38406}">
      <dsp:nvSpPr>
        <dsp:cNvPr id="0" name=""/>
        <dsp:cNvSpPr/>
      </dsp:nvSpPr>
      <dsp:spPr>
        <a:xfrm>
          <a:off x="0" y="3206499"/>
          <a:ext cx="4611711" cy="0"/>
        </a:xfrm>
        <a:prstGeom prst="line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6AAC4F3-7621-4039-8E98-9912AEFCA0EA}">
      <dsp:nvSpPr>
        <dsp:cNvPr id="0" name=""/>
        <dsp:cNvSpPr/>
      </dsp:nvSpPr>
      <dsp:spPr>
        <a:xfrm>
          <a:off x="0" y="3206499"/>
          <a:ext cx="4611711" cy="64092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4300" tIns="114300" rIns="114300" bIns="114300" numCol="1" spcCol="1270" anchor="t" anchorCtr="0">
          <a:noAutofit/>
        </a:bodyPr>
        <a:lstStyle/>
        <a:p>
          <a:pPr marL="0" lvl="0" indent="0" algn="l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3000" kern="1200" dirty="0">
              <a:latin typeface="Gill Sans MT" panose="020B0502020104020203" pitchFamily="34" charset="0"/>
            </a:rPr>
            <a:t>Model Evaluation</a:t>
          </a:r>
        </a:p>
      </dsp:txBody>
      <dsp:txXfrm>
        <a:off x="0" y="3206499"/>
        <a:ext cx="4611711" cy="640923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2571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2571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6E9EC8B-23A7-4F9D-885D-5C40232F2C05}" type="datetimeFigureOut">
              <a:rPr lang="it-IT" smtClean="0"/>
              <a:t>09/04/2025</a:t>
            </a:fld>
            <a:endParaRPr lang="it-IT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3028950" y="642938"/>
            <a:ext cx="3086100" cy="17367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IT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914400" y="2474913"/>
            <a:ext cx="7315200" cy="20256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4886325"/>
            <a:ext cx="3962400" cy="2571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5180013" y="4886325"/>
            <a:ext cx="3962400" cy="2571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D33D81A-A43B-49EE-BB04-CC5C13F2F772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8002945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>
              <a:solidFill>
                <a:srgbClr val="3C4043"/>
              </a:solidFill>
              <a:latin typeface="Inter"/>
            </a:endParaRPr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D33D81A-A43B-49EE-BB04-CC5C13F2F772}" type="slidenum">
              <a:rPr lang="it-IT" smtClean="0"/>
              <a:t>4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50648983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A94275-12BE-CDB3-19DF-CCCDC74972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D5D2E0AB-EF42-0FDB-237F-C23C1647F6E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8B7ACEAA-9CC3-AC63-08D2-36B6CFE1484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>
              <a:solidFill>
                <a:srgbClr val="3C4043"/>
              </a:solidFill>
              <a:latin typeface="Inter"/>
            </a:endParaRP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A9DF2EF3-475A-85D8-1A71-4F97D39CE61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D33D81A-A43B-49EE-BB04-CC5C13F2F772}" type="slidenum">
              <a:rPr lang="it-IT" smtClean="0"/>
              <a:t>5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80676761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>
              <a:solidFill>
                <a:srgbClr val="3C4043"/>
              </a:solidFill>
              <a:latin typeface="Inter"/>
            </a:endParaRPr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D33D81A-A43B-49EE-BB04-CC5C13F2F772}" type="slidenum">
              <a:rPr lang="it-IT" smtClean="0"/>
              <a:t>7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08014306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D33D81A-A43B-49EE-BB04-CC5C13F2F772}" type="slidenum">
              <a:rPr lang="it-IT" smtClean="0"/>
              <a:t>19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26467352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07CAE0-BA93-9DB0-C617-8EEB2DE3A5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6C0BF44-1684-1811-64D4-35C600E5E89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900FB91-890C-3859-73B4-278C0ACFB21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D2DE456-C68D-CDE6-B271-239660E3BBC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D33D81A-A43B-49EE-BB04-CC5C13F2F772}" type="slidenum">
              <a:rPr lang="it-IT" smtClean="0"/>
              <a:t>20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05496817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D32059-6699-4834-A032-AB853DF99049}" type="slidenum">
              <a:rPr lang="it-IT" smtClean="0"/>
              <a:t>36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18988441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384725" y="505248"/>
            <a:ext cx="8374549" cy="4095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371600" y="2880360"/>
            <a:ext cx="6400800" cy="12858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4/9/2025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500" b="0" i="0">
                <a:solidFill>
                  <a:schemeClr val="tx1"/>
                </a:solidFill>
                <a:latin typeface="Arial MT"/>
                <a:cs typeface="Arial MT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4/9/2025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500" b="0" i="0">
                <a:solidFill>
                  <a:schemeClr val="tx1"/>
                </a:solidFill>
                <a:latin typeface="Arial MT"/>
                <a:cs typeface="Arial MT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457200" y="1183005"/>
            <a:ext cx="3977640" cy="339471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4709160" y="1183005"/>
            <a:ext cx="3977640" cy="339471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4/9/2025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500" b="0" i="0">
                <a:solidFill>
                  <a:schemeClr val="tx1"/>
                </a:solidFill>
                <a:latin typeface="Arial MT"/>
                <a:cs typeface="Arial MT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4/9/2025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4/9/2025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384725" y="505248"/>
            <a:ext cx="8374549" cy="4095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500" b="0" i="0">
                <a:solidFill>
                  <a:schemeClr val="tx1"/>
                </a:solidFill>
                <a:latin typeface="Arial MT"/>
                <a:cs typeface="Arial MT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384725" y="1175208"/>
            <a:ext cx="8374549" cy="253872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3108960" y="4783455"/>
            <a:ext cx="2926080" cy="2571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457200" y="4783455"/>
            <a:ext cx="2103120" cy="2571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4/9/2025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6583680" y="4783455"/>
            <a:ext cx="2103120" cy="2571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hyperlink" Target="https://arxiv.org/abs/2311.08526" TargetMode="Externa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jpg"/><Relationship Id="rId4" Type="http://schemas.openxmlformats.org/officeDocument/2006/relationships/image" Target="../media/image9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8.jp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jpg"/><Relationship Id="rId5" Type="http://schemas.openxmlformats.org/officeDocument/2006/relationships/image" Target="../media/image7.png"/><Relationship Id="rId4" Type="http://schemas.openxmlformats.org/officeDocument/2006/relationships/image" Target="../media/image23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jpg"/><Relationship Id="rId4" Type="http://schemas.openxmlformats.org/officeDocument/2006/relationships/image" Target="../media/image26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9.png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hyperlink" Target="https://colab.research.google.com/" TargetMode="External"/><Relationship Id="rId2" Type="http://schemas.openxmlformats.org/officeDocument/2006/relationships/hyperlink" Target="https://github.com/Vezzero/ataupd2425-gainer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docs.dei.unipd.it/" TargetMode="External"/><Relationship Id="rId4" Type="http://schemas.openxmlformats.org/officeDocument/2006/relationships/hyperlink" Target="https://www.kaggle.com/" TargetMode="Externa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hyperlink" Target="https://clef2025.clef-initiative.eu/index.php?page=Pages/Labs/BioASQ.html" TargetMode="External"/><Relationship Id="rId7" Type="http://schemas.openxmlformats.org/officeDocument/2006/relationships/hyperlink" Target="https://huggingface.co/microsoft/BiomedNLP-BiomedBERT-base-uncased-abstract-fulltext" TargetMode="External"/><Relationship Id="rId2" Type="http://schemas.openxmlformats.org/officeDocument/2006/relationships/hyperlink" Target="https://pubmed.ncbi.nlm.nih.gov/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ww.nlm.nih.gov/mesh/meshhome.html" TargetMode="External"/><Relationship Id="rId5" Type="http://schemas.openxmlformats.org/officeDocument/2006/relationships/hyperlink" Target="https://huggingface.co/numind/NuNER_Zero" TargetMode="External"/><Relationship Id="rId4" Type="http://schemas.openxmlformats.org/officeDocument/2006/relationships/hyperlink" Target="https://huggingface.co/sentence-transformers/all-mpnet-base-v2" TargetMode="Externa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" name="Rectangle 3">
            <a:extLst>
              <a:ext uri="{FF2B5EF4-FFF2-40B4-BE49-F238E27FC236}">
                <a16:creationId xmlns:a16="http://schemas.microsoft.com/office/drawing/2014/main" id="{FFD48BC7-DC40-47DE-87EE-9F4B6ECB9A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51435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5" name="Freeform: Shape 14">
            <a:extLst>
              <a:ext uri="{FF2B5EF4-FFF2-40B4-BE49-F238E27FC236}">
                <a16:creationId xmlns:a16="http://schemas.microsoft.com/office/drawing/2014/main" id="{E502BBC7-2C76-46F3-BC24-5985BC13DB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35818" y="0"/>
            <a:ext cx="7472363" cy="5143500"/>
          </a:xfrm>
          <a:custGeom>
            <a:avLst/>
            <a:gdLst>
              <a:gd name="connsiteX0" fmla="*/ 1595771 w 9963150"/>
              <a:gd name="connsiteY0" fmla="*/ 0 h 6858000"/>
              <a:gd name="connsiteX1" fmla="*/ 8367379 w 9963150"/>
              <a:gd name="connsiteY1" fmla="*/ 0 h 6858000"/>
              <a:gd name="connsiteX2" fmla="*/ 8504080 w 9963150"/>
              <a:gd name="connsiteY2" fmla="*/ 130333 h 6858000"/>
              <a:gd name="connsiteX3" fmla="*/ 9963150 w 9963150"/>
              <a:gd name="connsiteY3" fmla="*/ 3652838 h 6858000"/>
              <a:gd name="connsiteX4" fmla="*/ 8825600 w 9963150"/>
              <a:gd name="connsiteY4" fmla="*/ 6821583 h 6858000"/>
              <a:gd name="connsiteX5" fmla="*/ 8794055 w 9963150"/>
              <a:gd name="connsiteY5" fmla="*/ 6858000 h 6858000"/>
              <a:gd name="connsiteX6" fmla="*/ 1169096 w 9963150"/>
              <a:gd name="connsiteY6" fmla="*/ 6858000 h 6858000"/>
              <a:gd name="connsiteX7" fmla="*/ 1137550 w 9963150"/>
              <a:gd name="connsiteY7" fmla="*/ 6821583 h 6858000"/>
              <a:gd name="connsiteX8" fmla="*/ 0 w 9963150"/>
              <a:gd name="connsiteY8" fmla="*/ 3652838 h 6858000"/>
              <a:gd name="connsiteX9" fmla="*/ 1459070 w 9963150"/>
              <a:gd name="connsiteY9" fmla="*/ 13033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963150" h="6858000">
                <a:moveTo>
                  <a:pt x="1595771" y="0"/>
                </a:moveTo>
                <a:lnTo>
                  <a:pt x="8367379" y="0"/>
                </a:lnTo>
                <a:lnTo>
                  <a:pt x="8504080" y="130333"/>
                </a:lnTo>
                <a:cubicBezTo>
                  <a:pt x="9405568" y="1031820"/>
                  <a:pt x="9963150" y="2277214"/>
                  <a:pt x="9963150" y="3652838"/>
                </a:cubicBezTo>
                <a:cubicBezTo>
                  <a:pt x="9963150" y="4856509"/>
                  <a:pt x="9536251" y="5960473"/>
                  <a:pt x="8825600" y="6821583"/>
                </a:cubicBezTo>
                <a:lnTo>
                  <a:pt x="8794055" y="6858000"/>
                </a:lnTo>
                <a:lnTo>
                  <a:pt x="1169096" y="6858000"/>
                </a:lnTo>
                <a:lnTo>
                  <a:pt x="1137550" y="6821583"/>
                </a:lnTo>
                <a:cubicBezTo>
                  <a:pt x="426899" y="5960473"/>
                  <a:pt x="0" y="4856509"/>
                  <a:pt x="0" y="3652838"/>
                </a:cubicBezTo>
                <a:cubicBezTo>
                  <a:pt x="0" y="2277214"/>
                  <a:pt x="557582" y="1031820"/>
                  <a:pt x="1459070" y="130333"/>
                </a:cubicBezTo>
                <a:close/>
              </a:path>
            </a:pathLst>
          </a:custGeom>
          <a:ln w="9525">
            <a:solidFill>
              <a:srgbClr val="EFEFEF"/>
            </a:solidFill>
          </a:ln>
          <a:effectLst>
            <a:outerShdw blurRad="139700" sx="102000" sy="102000" algn="ctr" rotWithShape="0">
              <a:schemeClr val="bg1">
                <a:lumMod val="85000"/>
                <a:alpha val="38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7" name="Freeform: Shape 16">
            <a:extLst>
              <a:ext uri="{FF2B5EF4-FFF2-40B4-BE49-F238E27FC236}">
                <a16:creationId xmlns:a16="http://schemas.microsoft.com/office/drawing/2014/main" id="{C7F28D52-2A5F-4D23-81AE-7CB8B591C7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41248" y="0"/>
            <a:ext cx="7461504" cy="5143500"/>
          </a:xfrm>
          <a:custGeom>
            <a:avLst/>
            <a:gdLst>
              <a:gd name="connsiteX0" fmla="*/ 1595771 w 9963150"/>
              <a:gd name="connsiteY0" fmla="*/ 0 h 6858000"/>
              <a:gd name="connsiteX1" fmla="*/ 8367379 w 9963150"/>
              <a:gd name="connsiteY1" fmla="*/ 0 h 6858000"/>
              <a:gd name="connsiteX2" fmla="*/ 8504080 w 9963150"/>
              <a:gd name="connsiteY2" fmla="*/ 130333 h 6858000"/>
              <a:gd name="connsiteX3" fmla="*/ 9963150 w 9963150"/>
              <a:gd name="connsiteY3" fmla="*/ 3652838 h 6858000"/>
              <a:gd name="connsiteX4" fmla="*/ 8825600 w 9963150"/>
              <a:gd name="connsiteY4" fmla="*/ 6821583 h 6858000"/>
              <a:gd name="connsiteX5" fmla="*/ 8794055 w 9963150"/>
              <a:gd name="connsiteY5" fmla="*/ 6858000 h 6858000"/>
              <a:gd name="connsiteX6" fmla="*/ 1169096 w 9963150"/>
              <a:gd name="connsiteY6" fmla="*/ 6858000 h 6858000"/>
              <a:gd name="connsiteX7" fmla="*/ 1137550 w 9963150"/>
              <a:gd name="connsiteY7" fmla="*/ 6821583 h 6858000"/>
              <a:gd name="connsiteX8" fmla="*/ 0 w 9963150"/>
              <a:gd name="connsiteY8" fmla="*/ 3652838 h 6858000"/>
              <a:gd name="connsiteX9" fmla="*/ 1459070 w 9963150"/>
              <a:gd name="connsiteY9" fmla="*/ 13033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963150" h="6858000">
                <a:moveTo>
                  <a:pt x="1595771" y="0"/>
                </a:moveTo>
                <a:lnTo>
                  <a:pt x="8367379" y="0"/>
                </a:lnTo>
                <a:lnTo>
                  <a:pt x="8504080" y="130333"/>
                </a:lnTo>
                <a:cubicBezTo>
                  <a:pt x="9405568" y="1031820"/>
                  <a:pt x="9963150" y="2277214"/>
                  <a:pt x="9963150" y="3652838"/>
                </a:cubicBezTo>
                <a:cubicBezTo>
                  <a:pt x="9963150" y="4856509"/>
                  <a:pt x="9536251" y="5960473"/>
                  <a:pt x="8825600" y="6821583"/>
                </a:cubicBezTo>
                <a:lnTo>
                  <a:pt x="8794055" y="6858000"/>
                </a:lnTo>
                <a:lnTo>
                  <a:pt x="1169096" y="6858000"/>
                </a:lnTo>
                <a:lnTo>
                  <a:pt x="1137550" y="6821583"/>
                </a:lnTo>
                <a:cubicBezTo>
                  <a:pt x="426899" y="5960473"/>
                  <a:pt x="0" y="4856509"/>
                  <a:pt x="0" y="3652838"/>
                </a:cubicBezTo>
                <a:cubicBezTo>
                  <a:pt x="0" y="2277214"/>
                  <a:pt x="557582" y="1031820"/>
                  <a:pt x="1459070" y="130333"/>
                </a:cubicBezTo>
                <a:close/>
              </a:path>
            </a:pathLst>
          </a:cu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D969554-E7A8-07AC-F75E-58F46793E2EC}"/>
              </a:ext>
            </a:extLst>
          </p:cNvPr>
          <p:cNvSpPr>
            <a:spLocks noGrp="1"/>
          </p:cNvSpPr>
          <p:nvPr>
            <p:ph type="ctrTitle" idx="4294967295"/>
          </p:nvPr>
        </p:nvSpPr>
        <p:spPr>
          <a:xfrm>
            <a:off x="1143002" y="1499711"/>
            <a:ext cx="6858000" cy="2073021"/>
          </a:xfrm>
        </p:spPr>
        <p:txBody>
          <a:bodyPr vert="horz" lIns="91440" tIns="45720" rIns="91440" bIns="45720" rtlCol="0" anchor="ctr">
            <a:normAutofit fontScale="90000"/>
          </a:bodyPr>
          <a:lstStyle/>
          <a:p>
            <a:pPr algn="ctr" rtl="0">
              <a:lnSpc>
                <a:spcPct val="90000"/>
              </a:lnSpc>
              <a:spcBef>
                <a:spcPct val="0"/>
              </a:spcBef>
            </a:pPr>
            <a:r>
              <a:rPr lang="en-US" sz="5400" kern="1200" dirty="0" err="1">
                <a:latin typeface="Gill Sans MT" panose="020B0502020104020203" pitchFamily="34" charset="0"/>
                <a:cs typeface="+mj-cs"/>
              </a:rPr>
              <a:t>GutBrain</a:t>
            </a:r>
            <a:r>
              <a:rPr lang="en-US" sz="5400" kern="1200" dirty="0">
                <a:latin typeface="Gill Sans MT" panose="020B0502020104020203" pitchFamily="34" charset="0"/>
                <a:cs typeface="+mj-cs"/>
              </a:rPr>
              <a:t> Task 6 Challenge: </a:t>
            </a:r>
            <a:br>
              <a:rPr lang="en-US" sz="5400" kern="1200" dirty="0">
                <a:latin typeface="Gill Sans MT" panose="020B0502020104020203" pitchFamily="34" charset="0"/>
                <a:cs typeface="+mj-cs"/>
              </a:rPr>
            </a:br>
            <a:r>
              <a:rPr lang="en-US" sz="5400" kern="1200" dirty="0">
                <a:latin typeface="Gill Sans MT" panose="020B0502020104020203" pitchFamily="34" charset="0"/>
                <a:cs typeface="+mj-cs"/>
              </a:rPr>
              <a:t>NER &amp; RE models</a:t>
            </a:r>
          </a:p>
          <a:p>
            <a:pPr marL="2248535" marR="5080" indent="-2236470" algn="ctr">
              <a:lnSpc>
                <a:spcPts val="2280"/>
              </a:lnSpc>
              <a:spcBef>
                <a:spcPts val="655"/>
              </a:spcBef>
            </a:pPr>
            <a:r>
              <a:rPr lang="it-IT" dirty="0">
                <a:latin typeface="Gill Sans MT" panose="020B0502020104020203" pitchFamily="34" charset="0"/>
                <a:ea typeface="Calibri"/>
                <a:cs typeface="Calibri"/>
              </a:rPr>
              <a:t>ADVANCED TEXT ANALYTICS</a:t>
            </a:r>
            <a:endParaRPr lang="en-US" dirty="0">
              <a:latin typeface="Gill Sans MT" panose="020B0502020104020203" pitchFamily="34" charset="0"/>
              <a:ea typeface="Calibri"/>
              <a:cs typeface="Calibri"/>
            </a:endParaRPr>
          </a:p>
          <a:p>
            <a:pPr marL="12700" algn="ctr">
              <a:spcBef>
                <a:spcPts val="100"/>
              </a:spcBef>
            </a:pPr>
            <a:r>
              <a:rPr lang="it-IT" sz="2700" dirty="0">
                <a:latin typeface="Gill Sans MT" panose="020B0502020104020203" pitchFamily="34" charset="0"/>
                <a:ea typeface="Calibri"/>
                <a:cs typeface="Calibri"/>
              </a:rPr>
              <a:t>Prof. Giorgio Maria di Nunzio</a:t>
            </a:r>
            <a:br>
              <a:rPr lang="it-IT" dirty="0">
                <a:latin typeface="+mj-lt"/>
                <a:ea typeface="Calibri"/>
                <a:cs typeface="Calibri"/>
              </a:rPr>
            </a:br>
            <a:br>
              <a:rPr lang="it-IT" dirty="0">
                <a:latin typeface="Calibri"/>
                <a:ea typeface="Calibri"/>
                <a:cs typeface="Calibri"/>
              </a:rPr>
            </a:br>
            <a:r>
              <a:rPr lang="it-IT" sz="1400" kern="1200" dirty="0">
                <a:solidFill>
                  <a:srgbClr val="000000"/>
                </a:solidFill>
                <a:latin typeface="Gill Sans MT" panose="020B0502020104020203" pitchFamily="34" charset="0"/>
                <a:ea typeface="Tahoma"/>
                <a:cs typeface="Tahoma"/>
              </a:rPr>
              <a:t>SAMUEL PIRON</a:t>
            </a:r>
            <a:br>
              <a:rPr lang="it-IT" sz="1400" kern="1200" dirty="0">
                <a:latin typeface="Gill Sans MT" panose="020B0502020104020203" pitchFamily="34" charset="0"/>
                <a:ea typeface="Tahoma"/>
                <a:cs typeface="Tahoma"/>
              </a:rPr>
            </a:br>
            <a:br>
              <a:rPr lang="it-IT" sz="1400" kern="1200" dirty="0">
                <a:latin typeface="Gill Sans MT" panose="020B0502020104020203" pitchFamily="34" charset="0"/>
                <a:ea typeface="Tahoma"/>
                <a:cs typeface="Tahoma"/>
              </a:rPr>
            </a:br>
            <a:r>
              <a:rPr lang="it-IT" sz="1400" kern="1200" dirty="0">
                <a:latin typeface="Gill Sans MT" panose="020B0502020104020203" pitchFamily="34" charset="0"/>
                <a:ea typeface="Tahoma"/>
                <a:cs typeface="Tahoma"/>
              </a:rPr>
              <a:t>10/04/2025</a:t>
            </a:r>
          </a:p>
          <a:p>
            <a:pPr algn="ctr" rtl="0">
              <a:lnSpc>
                <a:spcPct val="90000"/>
              </a:lnSpc>
              <a:spcBef>
                <a:spcPct val="0"/>
              </a:spcBef>
            </a:pPr>
            <a:endParaRPr lang="en-US" sz="5400" kern="1200" dirty="0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629484E-3792-4B3D-89AD-7C8A1ED0E0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788920" y="4143589"/>
            <a:ext cx="3566160" cy="20574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6272136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9" name="Rectangle 38">
            <a:extLst>
              <a:ext uri="{FF2B5EF4-FFF2-40B4-BE49-F238E27FC236}">
                <a16:creationId xmlns:a16="http://schemas.microsoft.com/office/drawing/2014/main" id="{9DBC8166-481C-4473-95F5-9A5B9073B7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51435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Freeform: Shape 40">
            <a:extLst>
              <a:ext uri="{FF2B5EF4-FFF2-40B4-BE49-F238E27FC236}">
                <a16:creationId xmlns:a16="http://schemas.microsoft.com/office/drawing/2014/main" id="{A5A5CE6E-90AF-4D43-A014-1F9EC83EB9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3384350" cy="5143500"/>
          </a:xfrm>
          <a:custGeom>
            <a:avLst/>
            <a:gdLst>
              <a:gd name="connsiteX0" fmla="*/ 0 w 4512467"/>
              <a:gd name="connsiteY0" fmla="*/ 0 h 6858000"/>
              <a:gd name="connsiteX1" fmla="*/ 2579526 w 4512467"/>
              <a:gd name="connsiteY1" fmla="*/ 0 h 6858000"/>
              <a:gd name="connsiteX2" fmla="*/ 2583267 w 4512467"/>
              <a:gd name="connsiteY2" fmla="*/ 2151 h 6858000"/>
              <a:gd name="connsiteX3" fmla="*/ 4512467 w 4512467"/>
              <a:gd name="connsiteY3" fmla="*/ 3429000 h 6858000"/>
              <a:gd name="connsiteX4" fmla="*/ 2583267 w 4512467"/>
              <a:gd name="connsiteY4" fmla="*/ 6855849 h 6858000"/>
              <a:gd name="connsiteX5" fmla="*/ 2579526 w 4512467"/>
              <a:gd name="connsiteY5" fmla="*/ 6858000 h 6858000"/>
              <a:gd name="connsiteX6" fmla="*/ 0 w 4512467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512467" h="6858000">
                <a:moveTo>
                  <a:pt x="0" y="0"/>
                </a:moveTo>
                <a:lnTo>
                  <a:pt x="2579526" y="0"/>
                </a:lnTo>
                <a:lnTo>
                  <a:pt x="2583267" y="2151"/>
                </a:lnTo>
                <a:cubicBezTo>
                  <a:pt x="3739868" y="704919"/>
                  <a:pt x="4512467" y="1976735"/>
                  <a:pt x="4512467" y="3429000"/>
                </a:cubicBezTo>
                <a:cubicBezTo>
                  <a:pt x="4512467" y="4881266"/>
                  <a:pt x="3739868" y="6153081"/>
                  <a:pt x="2583267" y="6855849"/>
                </a:cubicBezTo>
                <a:lnTo>
                  <a:pt x="2579526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52E0DC3D-21C9-4896-8F44-48519FD5C6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482600"/>
            <a:ext cx="2213403" cy="4178299"/>
          </a:xfrm>
        </p:spPr>
        <p:txBody>
          <a:bodyPr lIns="0" tIns="0" rIns="0" bIns="0">
            <a:normAutofit/>
          </a:bodyPr>
          <a:lstStyle/>
          <a:p>
            <a:r>
              <a:rPr lang="it-IT">
                <a:solidFill>
                  <a:srgbClr val="FFFFFF"/>
                </a:solidFill>
                <a:latin typeface="Gill Sans MT"/>
              </a:rPr>
              <a:t>OVERVIEW</a:t>
            </a:r>
          </a:p>
        </p:txBody>
      </p:sp>
      <p:graphicFrame>
        <p:nvGraphicFramePr>
          <p:cNvPr id="35" name="Segnaposto testo 2">
            <a:extLst>
              <a:ext uri="{FF2B5EF4-FFF2-40B4-BE49-F238E27FC236}">
                <a16:creationId xmlns:a16="http://schemas.microsoft.com/office/drawing/2014/main" id="{9468EC9B-477D-030D-3BD5-FF30E244787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744436231"/>
              </p:ext>
            </p:extLst>
          </p:nvPr>
        </p:nvGraphicFramePr>
        <p:xfrm>
          <a:off x="3957175" y="382450"/>
          <a:ext cx="4611711" cy="384930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3" name="Straight Connector 2">
            <a:extLst>
              <a:ext uri="{FF2B5EF4-FFF2-40B4-BE49-F238E27FC236}">
                <a16:creationId xmlns:a16="http://schemas.microsoft.com/office/drawing/2014/main" id="{70FC2A68-9236-DAD8-3D92-3948E864F1FD}"/>
              </a:ext>
            </a:extLst>
          </p:cNvPr>
          <p:cNvSpPr/>
          <p:nvPr/>
        </p:nvSpPr>
        <p:spPr>
          <a:xfrm>
            <a:off x="3957175" y="4231753"/>
            <a:ext cx="4673327" cy="0"/>
          </a:xfrm>
          <a:prstGeom prst="line">
            <a:avLst/>
          </a:prstGeom>
        </p:spPr>
        <p:style>
          <a:lnRef idx="2">
            <a:schemeClr val="dk2">
              <a:hueOff val="0"/>
              <a:satOff val="0"/>
              <a:lumOff val="0"/>
              <a:alphaOff val="0"/>
            </a:schemeClr>
          </a:lnRef>
          <a:fillRef idx="1">
            <a:schemeClr val="dk2">
              <a:hueOff val="0"/>
              <a:satOff val="0"/>
              <a:lumOff val="0"/>
              <a:alphaOff val="0"/>
            </a:schemeClr>
          </a:fillRef>
          <a:effectRef idx="0">
            <a:schemeClr val="dk2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/>
          <a:lstStyle/>
          <a:p>
            <a:endParaRPr lang="en-US" dirty="0"/>
          </a:p>
        </p:txBody>
      </p:sp>
      <p:sp>
        <p:nvSpPr>
          <p:cNvPr id="4" name="Straight Connector 3">
            <a:extLst>
              <a:ext uri="{FF2B5EF4-FFF2-40B4-BE49-F238E27FC236}">
                <a16:creationId xmlns:a16="http://schemas.microsoft.com/office/drawing/2014/main" id="{1DE31950-CE45-A431-7428-FA03FC787DF6}"/>
              </a:ext>
            </a:extLst>
          </p:cNvPr>
          <p:cNvSpPr/>
          <p:nvPr/>
        </p:nvSpPr>
        <p:spPr>
          <a:xfrm flipV="1">
            <a:off x="3957175" y="4767946"/>
            <a:ext cx="4673327" cy="6889"/>
          </a:xfrm>
          <a:prstGeom prst="line">
            <a:avLst/>
          </a:prstGeom>
        </p:spPr>
        <p:style>
          <a:lnRef idx="2">
            <a:schemeClr val="dk2">
              <a:hueOff val="0"/>
              <a:satOff val="0"/>
              <a:lumOff val="0"/>
              <a:alphaOff val="0"/>
            </a:schemeClr>
          </a:lnRef>
          <a:fillRef idx="1">
            <a:schemeClr val="dk2">
              <a:hueOff val="0"/>
              <a:satOff val="0"/>
              <a:lumOff val="0"/>
              <a:alphaOff val="0"/>
            </a:schemeClr>
          </a:fillRef>
          <a:effectRef idx="0">
            <a:schemeClr val="dk2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7A88446-D031-754D-72DA-1C9E9739A6C8}"/>
              </a:ext>
            </a:extLst>
          </p:cNvPr>
          <p:cNvSpPr txBox="1"/>
          <p:nvPr/>
        </p:nvSpPr>
        <p:spPr>
          <a:xfrm>
            <a:off x="3909952" y="4213947"/>
            <a:ext cx="4706160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3000" dirty="0" err="1">
                <a:latin typeface="Gill Sans MT" panose="020B0502020104020203" pitchFamily="34" charset="0"/>
              </a:rPr>
              <a:t>Conclusion</a:t>
            </a:r>
            <a:r>
              <a:rPr lang="it-IT" sz="3000" dirty="0">
                <a:latin typeface="Gill Sans MT" panose="020B0502020104020203" pitchFamily="34" charset="0"/>
              </a:rPr>
              <a:t> and Future Work</a:t>
            </a:r>
          </a:p>
        </p:txBody>
      </p:sp>
    </p:spTree>
    <p:extLst>
      <p:ext uri="{BB962C8B-B14F-4D97-AF65-F5344CB8AC3E}">
        <p14:creationId xmlns:p14="http://schemas.microsoft.com/office/powerpoint/2010/main" val="196932776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AE1C45F0-260A-458C-96ED-C1F6D21512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912447"/>
            <a:ext cx="548639" cy="505095"/>
            <a:chOff x="3940602" y="308034"/>
            <a:chExt cx="2116791" cy="3428999"/>
          </a:xfrm>
          <a:solidFill>
            <a:schemeClr val="accent4"/>
          </a:solidFill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A6604B49-AD5C-4590-B051-06C8222ECD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940602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743ECCAF-29C5-4537-947C-7EA1292463D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715626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ED49787B-8DE6-4467-AD0A-8DECC6E0C2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490650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6" name="Rectangle 15">
            <a:extLst>
              <a:ext uri="{FF2B5EF4-FFF2-40B4-BE49-F238E27FC236}">
                <a16:creationId xmlns:a16="http://schemas.microsoft.com/office/drawing/2014/main" id="{D5B0017B-2ECA-49AF-B397-DC140825DF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0059" y="460465"/>
            <a:ext cx="8180615" cy="142058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A1D4C52-9B60-3622-E82C-62530D1A522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82723" y="607423"/>
            <a:ext cx="7457037" cy="1165860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rtl="0">
              <a:spcBef>
                <a:spcPct val="0"/>
              </a:spcBef>
            </a:pPr>
            <a:r>
              <a:rPr lang="en-US" sz="3600" kern="1200" dirty="0">
                <a:latin typeface="Gill Sans MT"/>
                <a:ea typeface="Calibri"/>
                <a:cs typeface="Calibri"/>
              </a:rPr>
              <a:t>1. Introduction</a:t>
            </a:r>
            <a:endParaRPr lang="en-US" dirty="0">
              <a:latin typeface="Gill Sans MT"/>
            </a:endParaRP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6CF1BAF6-AD41-4082-B212-8A1F9A2E87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628650" y="4863984"/>
            <a:ext cx="7886700" cy="0"/>
          </a:xfrm>
          <a:prstGeom prst="line">
            <a:avLst/>
          </a:prstGeom>
          <a:ln w="571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2910142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6" name="Rectangle 25">
            <a:extLst>
              <a:ext uri="{FF2B5EF4-FFF2-40B4-BE49-F238E27FC236}">
                <a16:creationId xmlns:a16="http://schemas.microsoft.com/office/drawing/2014/main" id="{2EB492CD-616E-47F8-933B-5E2D952A05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0" y="0"/>
            <a:ext cx="9144000" cy="51435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27" name="Arc 26">
            <a:extLst>
              <a:ext uri="{FF2B5EF4-FFF2-40B4-BE49-F238E27FC236}">
                <a16:creationId xmlns:a16="http://schemas.microsoft.com/office/drawing/2014/main" id="{59383CF9-23B5-4335-9B21-1791C4CF1C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3967198" flipH="1">
            <a:off x="6473511" y="367870"/>
            <a:ext cx="2240924" cy="2240924"/>
          </a:xfrm>
          <a:prstGeom prst="arc">
            <a:avLst>
              <a:gd name="adj1" fmla="val 14441841"/>
              <a:gd name="adj2" fmla="val 0"/>
            </a:avLst>
          </a:prstGeom>
          <a:ln w="127000" cap="rnd">
            <a:solidFill>
              <a:schemeClr val="accent4"/>
            </a:solidFill>
            <a:prstDash val="dash"/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object 2"/>
          <p:cNvSpPr txBox="1"/>
          <p:nvPr/>
        </p:nvSpPr>
        <p:spPr>
          <a:xfrm>
            <a:off x="5166081" y="494159"/>
            <a:ext cx="3657341" cy="99417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127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3100" b="1" kern="1200" spc="5" dirty="0">
                <a:latin typeface="Gill Sans MT" panose="020B0502020104020203" pitchFamily="34" charset="0"/>
                <a:ea typeface="+mj-ea"/>
                <a:cs typeface="+mj-cs"/>
              </a:rPr>
              <a:t>Introduction</a:t>
            </a:r>
            <a:endParaRPr lang="en-US" sz="3100" b="1" i="1" kern="1200" spc="-60" dirty="0">
              <a:latin typeface="Gill Sans MT" panose="020B0502020104020203" pitchFamily="34" charset="0"/>
              <a:ea typeface="+mj-ea"/>
              <a:cs typeface="+mj-cs"/>
            </a:endParaRPr>
          </a:p>
        </p:txBody>
      </p: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0007FE00-9498-4706-B255-6437B0252C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4114800"/>
            <a:ext cx="2004647" cy="1028700"/>
          </a:xfrm>
          <a:custGeom>
            <a:avLst/>
            <a:gdLst>
              <a:gd name="connsiteX0" fmla="*/ 1721734 w 2672863"/>
              <a:gd name="connsiteY0" fmla="*/ 0 h 1371600"/>
              <a:gd name="connsiteX1" fmla="*/ 2564444 w 2672863"/>
              <a:gd name="connsiteY1" fmla="*/ 213382 h 1371600"/>
              <a:gd name="connsiteX2" fmla="*/ 2672863 w 2672863"/>
              <a:gd name="connsiteY2" fmla="*/ 279248 h 1371600"/>
              <a:gd name="connsiteX3" fmla="*/ 2672863 w 2672863"/>
              <a:gd name="connsiteY3" fmla="*/ 1371600 h 1371600"/>
              <a:gd name="connsiteX4" fmla="*/ 0 w 2672863"/>
              <a:gd name="connsiteY4" fmla="*/ 1371600 h 1371600"/>
              <a:gd name="connsiteX5" fmla="*/ 33268 w 2672863"/>
              <a:gd name="connsiteY5" fmla="*/ 1242216 h 1371600"/>
              <a:gd name="connsiteX6" fmla="*/ 1721734 w 2672863"/>
              <a:gd name="connsiteY6" fmla="*/ 0 h 1371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672863" h="1371600">
                <a:moveTo>
                  <a:pt x="1721734" y="0"/>
                </a:moveTo>
                <a:cubicBezTo>
                  <a:pt x="2026863" y="0"/>
                  <a:pt x="2313937" y="77299"/>
                  <a:pt x="2564444" y="213382"/>
                </a:cubicBezTo>
                <a:lnTo>
                  <a:pt x="2672863" y="279248"/>
                </a:lnTo>
                <a:lnTo>
                  <a:pt x="2672863" y="1371600"/>
                </a:lnTo>
                <a:lnTo>
                  <a:pt x="0" y="1371600"/>
                </a:lnTo>
                <a:lnTo>
                  <a:pt x="33268" y="1242216"/>
                </a:lnTo>
                <a:cubicBezTo>
                  <a:pt x="257110" y="522539"/>
                  <a:pt x="928399" y="0"/>
                  <a:pt x="1721734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6" name="object 3">
            <a:extLst>
              <a:ext uri="{FF2B5EF4-FFF2-40B4-BE49-F238E27FC236}">
                <a16:creationId xmlns:a16="http://schemas.microsoft.com/office/drawing/2014/main" id="{7855E228-E157-EF1C-9216-FA936ED972F3}"/>
              </a:ext>
            </a:extLst>
          </p:cNvPr>
          <p:cNvSpPr txBox="1"/>
          <p:nvPr/>
        </p:nvSpPr>
        <p:spPr>
          <a:xfrm>
            <a:off x="4506686" y="1209260"/>
            <a:ext cx="4094129" cy="314439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marL="12700" marR="5080" indent="-228600">
              <a:lnSpc>
                <a:spcPct val="90000"/>
              </a:lnSpc>
              <a:spcBef>
                <a:spcPts val="100"/>
              </a:spcBef>
              <a:buFont typeface="Arial" panose="020B0604020202020204" pitchFamily="34" charset="0"/>
              <a:buChar char="•"/>
            </a:pPr>
            <a:endParaRPr lang="en-US" dirty="0">
              <a:latin typeface="Gill Sans MT" panose="020B0502020104020203" pitchFamily="34" charset="0"/>
            </a:endParaRPr>
          </a:p>
          <a:p>
            <a:pPr marL="355600" marR="5080" indent="-285750">
              <a:lnSpc>
                <a:spcPct val="90000"/>
              </a:lnSpc>
              <a:spcBef>
                <a:spcPts val="100"/>
              </a:spcBef>
              <a:buFont typeface="Arial" panose="020B0604020202020204" pitchFamily="34" charset="0"/>
              <a:buChar char="•"/>
            </a:pPr>
            <a:r>
              <a:rPr lang="en-US" b="1" dirty="0">
                <a:latin typeface="Gill Sans MT" panose="020B0502020104020203" pitchFamily="34" charset="0"/>
                <a:ea typeface="Calibri"/>
                <a:cs typeface="Calibri"/>
              </a:rPr>
              <a:t>PubMed</a:t>
            </a:r>
            <a:r>
              <a:rPr lang="en-US" dirty="0">
                <a:latin typeface="Gill Sans MT" panose="020B0502020104020203" pitchFamily="34" charset="0"/>
                <a:ea typeface="Calibri"/>
                <a:cs typeface="Calibri"/>
              </a:rPr>
              <a:t> is a popular website that </a:t>
            </a:r>
            <a:r>
              <a:rPr lang="en-US" b="0" i="0" dirty="0">
                <a:effectLst/>
                <a:latin typeface="Gill Sans MT" panose="020B0502020104020203" pitchFamily="34" charset="0"/>
              </a:rPr>
              <a:t>offers a searchable database of citations and abstracts of biomedical and life sciences literature.</a:t>
            </a:r>
            <a:endParaRPr lang="en-US" dirty="0">
              <a:latin typeface="Gill Sans MT" panose="020B0502020104020203" pitchFamily="34" charset="0"/>
            </a:endParaRPr>
          </a:p>
          <a:p>
            <a:pPr marL="355600" marR="5080" indent="-285750">
              <a:lnSpc>
                <a:spcPct val="90000"/>
              </a:lnSpc>
              <a:spcBef>
                <a:spcPts val="100"/>
              </a:spcBef>
              <a:buFont typeface="Arial" panose="020B0604020202020204" pitchFamily="34" charset="0"/>
              <a:buChar char="•"/>
            </a:pPr>
            <a:endParaRPr lang="en-US" dirty="0">
              <a:latin typeface="Gill Sans MT" panose="020B0502020104020203" pitchFamily="34" charset="0"/>
              <a:ea typeface="Calibri"/>
              <a:cs typeface="Calibri"/>
            </a:endParaRPr>
          </a:p>
          <a:p>
            <a:pPr marL="355600" marR="5080" indent="-285750">
              <a:lnSpc>
                <a:spcPct val="90000"/>
              </a:lnSpc>
              <a:spcBef>
                <a:spcPts val="100"/>
              </a:spcBef>
              <a:buFont typeface="Arial" panose="020B0604020202020204" pitchFamily="34" charset="0"/>
              <a:buChar char="•"/>
            </a:pPr>
            <a:r>
              <a:rPr lang="en-US" dirty="0">
                <a:latin typeface="Gill Sans MT" panose="020B0502020104020203" pitchFamily="34" charset="0"/>
                <a:ea typeface="Calibri"/>
                <a:cs typeface="Calibri"/>
              </a:rPr>
              <a:t>It comprises more than </a:t>
            </a:r>
            <a:r>
              <a:rPr lang="en-US" b="1" dirty="0">
                <a:latin typeface="Gill Sans MT" panose="020B0502020104020203" pitchFamily="34" charset="0"/>
                <a:ea typeface="Calibri"/>
                <a:cs typeface="Calibri"/>
              </a:rPr>
              <a:t>38 million</a:t>
            </a:r>
            <a:r>
              <a:rPr lang="en-US" dirty="0">
                <a:latin typeface="Gill Sans MT" panose="020B0502020104020203" pitchFamily="34" charset="0"/>
                <a:ea typeface="Calibri"/>
                <a:cs typeface="Calibri"/>
              </a:rPr>
              <a:t> citations and abstracts.</a:t>
            </a:r>
          </a:p>
          <a:p>
            <a:pPr marL="355600" marR="5080" indent="-285750">
              <a:lnSpc>
                <a:spcPct val="90000"/>
              </a:lnSpc>
              <a:spcBef>
                <a:spcPts val="100"/>
              </a:spcBef>
              <a:buFont typeface="Arial" panose="020B0604020202020204" pitchFamily="34" charset="0"/>
              <a:buChar char="•"/>
            </a:pPr>
            <a:endParaRPr lang="en-US" dirty="0">
              <a:latin typeface="Gill Sans MT" panose="020B0502020104020203" pitchFamily="34" charset="0"/>
              <a:ea typeface="Calibri"/>
              <a:cs typeface="Calibri"/>
            </a:endParaRPr>
          </a:p>
          <a:p>
            <a:pPr marL="355600" marR="5080" indent="-285750">
              <a:lnSpc>
                <a:spcPct val="90000"/>
              </a:lnSpc>
              <a:spcBef>
                <a:spcPts val="100"/>
              </a:spcBef>
              <a:buFont typeface="Arial" panose="020B0604020202020204" pitchFamily="34" charset="0"/>
              <a:buChar char="•"/>
            </a:pPr>
            <a:r>
              <a:rPr lang="en-US" dirty="0">
                <a:latin typeface="Gill Sans MT" panose="020B0502020104020203" pitchFamily="34" charset="0"/>
                <a:ea typeface="Calibri"/>
                <a:cs typeface="Calibri"/>
              </a:rPr>
              <a:t>From </a:t>
            </a:r>
            <a:r>
              <a:rPr lang="en-US" b="1" dirty="0">
                <a:latin typeface="Gill Sans MT" panose="020B0502020104020203" pitchFamily="34" charset="0"/>
                <a:ea typeface="Calibri"/>
                <a:cs typeface="Calibri"/>
              </a:rPr>
              <a:t>1996</a:t>
            </a:r>
            <a:r>
              <a:rPr lang="en-US" dirty="0">
                <a:latin typeface="Gill Sans MT" panose="020B0502020104020203" pitchFamily="34" charset="0"/>
                <a:ea typeface="Calibri"/>
                <a:cs typeface="Calibri"/>
              </a:rPr>
              <a:t>, it has been maintained by the National Center for Biotechnology Information (</a:t>
            </a:r>
            <a:r>
              <a:rPr lang="en-US" b="1" dirty="0">
                <a:latin typeface="Gill Sans MT" panose="020B0502020104020203" pitchFamily="34" charset="0"/>
                <a:ea typeface="Calibri"/>
                <a:cs typeface="Calibri"/>
              </a:rPr>
              <a:t>NCBI</a:t>
            </a:r>
            <a:r>
              <a:rPr lang="en-US" dirty="0">
                <a:latin typeface="Gill Sans MT" panose="020B0502020104020203" pitchFamily="34" charset="0"/>
                <a:ea typeface="Calibri"/>
                <a:cs typeface="Calibri"/>
              </a:rPr>
              <a:t>).</a:t>
            </a:r>
          </a:p>
        </p:txBody>
      </p:sp>
      <p:pic>
        <p:nvPicPr>
          <p:cNvPr id="8" name="Picture 7" descr="A diagram of a company&#10;&#10;AI-generated content may be incorrect.">
            <a:extLst>
              <a:ext uri="{FF2B5EF4-FFF2-40B4-BE49-F238E27FC236}">
                <a16:creationId xmlns:a16="http://schemas.microsoft.com/office/drawing/2014/main" id="{1F5A5803-11EB-7682-F791-E8F567B9F0F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2639" y="1522176"/>
            <a:ext cx="3810008" cy="1920244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A539438-7363-73DC-3711-C2696779CCF9}"/>
              </a:ext>
            </a:extLst>
          </p:cNvPr>
          <p:cNvSpPr txBox="1"/>
          <p:nvPr/>
        </p:nvSpPr>
        <p:spPr>
          <a:xfrm>
            <a:off x="7422076" y="4667641"/>
            <a:ext cx="14013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>
                <a:latin typeface="Gill Sans MT" panose="020B0502020104020203" pitchFamily="34" charset="0"/>
              </a:rPr>
              <a:t>Samuel Piron</a:t>
            </a:r>
            <a:endParaRPr lang="en-US" dirty="0">
              <a:latin typeface="Gill Sans MT" panose="020B0502020104020203" pitchFamily="34" charset="0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A3C44F0-3ED3-2995-E6F8-4A500D5B74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6" name="Rectangle 25">
            <a:extLst>
              <a:ext uri="{FF2B5EF4-FFF2-40B4-BE49-F238E27FC236}">
                <a16:creationId xmlns:a16="http://schemas.microsoft.com/office/drawing/2014/main" id="{2250FB82-93BE-DD0E-F60A-9375E2EB42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0" y="0"/>
            <a:ext cx="9144000" cy="51435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27" name="Arc 26">
            <a:extLst>
              <a:ext uri="{FF2B5EF4-FFF2-40B4-BE49-F238E27FC236}">
                <a16:creationId xmlns:a16="http://schemas.microsoft.com/office/drawing/2014/main" id="{6CDA190E-A803-8073-53E9-5EA56B78C0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3967198" flipH="1">
            <a:off x="6473511" y="367870"/>
            <a:ext cx="2240924" cy="2240924"/>
          </a:xfrm>
          <a:prstGeom prst="arc">
            <a:avLst>
              <a:gd name="adj1" fmla="val 14441841"/>
              <a:gd name="adj2" fmla="val 0"/>
            </a:avLst>
          </a:prstGeom>
          <a:ln w="127000" cap="rnd">
            <a:solidFill>
              <a:schemeClr val="accent4"/>
            </a:solidFill>
            <a:prstDash val="dash"/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object 2">
            <a:extLst>
              <a:ext uri="{FF2B5EF4-FFF2-40B4-BE49-F238E27FC236}">
                <a16:creationId xmlns:a16="http://schemas.microsoft.com/office/drawing/2014/main" id="{89BFD2FB-13AD-BCC7-6E0D-75855DBF168C}"/>
              </a:ext>
            </a:extLst>
          </p:cNvPr>
          <p:cNvSpPr txBox="1"/>
          <p:nvPr/>
        </p:nvSpPr>
        <p:spPr>
          <a:xfrm>
            <a:off x="4724314" y="439578"/>
            <a:ext cx="4336821" cy="99417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127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3100" b="1" kern="1200" spc="5" dirty="0">
                <a:latin typeface="Gill Sans MT" panose="020B0502020104020203" pitchFamily="34" charset="0"/>
                <a:ea typeface="+mj-ea"/>
                <a:cs typeface="+mj-cs"/>
              </a:rPr>
              <a:t>Introduction (II)</a:t>
            </a:r>
            <a:endParaRPr lang="en-US" sz="3100" b="1" i="1" kern="1200" spc="-60" dirty="0">
              <a:latin typeface="Gill Sans MT" panose="020B0502020104020203" pitchFamily="34" charset="0"/>
              <a:ea typeface="+mj-ea"/>
              <a:cs typeface="+mj-cs"/>
            </a:endParaRPr>
          </a:p>
        </p:txBody>
      </p: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A024CAEC-BC95-9625-6526-34464DE1267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4114800"/>
            <a:ext cx="2004647" cy="1028700"/>
          </a:xfrm>
          <a:custGeom>
            <a:avLst/>
            <a:gdLst>
              <a:gd name="connsiteX0" fmla="*/ 1721734 w 2672863"/>
              <a:gd name="connsiteY0" fmla="*/ 0 h 1371600"/>
              <a:gd name="connsiteX1" fmla="*/ 2564444 w 2672863"/>
              <a:gd name="connsiteY1" fmla="*/ 213382 h 1371600"/>
              <a:gd name="connsiteX2" fmla="*/ 2672863 w 2672863"/>
              <a:gd name="connsiteY2" fmla="*/ 279248 h 1371600"/>
              <a:gd name="connsiteX3" fmla="*/ 2672863 w 2672863"/>
              <a:gd name="connsiteY3" fmla="*/ 1371600 h 1371600"/>
              <a:gd name="connsiteX4" fmla="*/ 0 w 2672863"/>
              <a:gd name="connsiteY4" fmla="*/ 1371600 h 1371600"/>
              <a:gd name="connsiteX5" fmla="*/ 33268 w 2672863"/>
              <a:gd name="connsiteY5" fmla="*/ 1242216 h 1371600"/>
              <a:gd name="connsiteX6" fmla="*/ 1721734 w 2672863"/>
              <a:gd name="connsiteY6" fmla="*/ 0 h 1371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672863" h="1371600">
                <a:moveTo>
                  <a:pt x="1721734" y="0"/>
                </a:moveTo>
                <a:cubicBezTo>
                  <a:pt x="2026863" y="0"/>
                  <a:pt x="2313937" y="77299"/>
                  <a:pt x="2564444" y="213382"/>
                </a:cubicBezTo>
                <a:lnTo>
                  <a:pt x="2672863" y="279248"/>
                </a:lnTo>
                <a:lnTo>
                  <a:pt x="2672863" y="1371600"/>
                </a:lnTo>
                <a:lnTo>
                  <a:pt x="0" y="1371600"/>
                </a:lnTo>
                <a:lnTo>
                  <a:pt x="33268" y="1242216"/>
                </a:lnTo>
                <a:cubicBezTo>
                  <a:pt x="257110" y="522539"/>
                  <a:pt x="928399" y="0"/>
                  <a:pt x="1721734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6" name="object 3">
            <a:extLst>
              <a:ext uri="{FF2B5EF4-FFF2-40B4-BE49-F238E27FC236}">
                <a16:creationId xmlns:a16="http://schemas.microsoft.com/office/drawing/2014/main" id="{1E2E6A75-75EC-B781-5D77-C92CE1222A15}"/>
              </a:ext>
            </a:extLst>
          </p:cNvPr>
          <p:cNvSpPr txBox="1"/>
          <p:nvPr/>
        </p:nvSpPr>
        <p:spPr>
          <a:xfrm>
            <a:off x="3927596" y="1256587"/>
            <a:ext cx="4689308" cy="3447335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marR="5080">
              <a:lnSpc>
                <a:spcPct val="90000"/>
              </a:lnSpc>
              <a:spcBef>
                <a:spcPts val="100"/>
              </a:spcBef>
            </a:pPr>
            <a:r>
              <a:rPr lang="en-US" sz="1600" dirty="0">
                <a:latin typeface="Gill Sans MT" panose="020B0502020104020203" pitchFamily="34" charset="0"/>
              </a:rPr>
              <a:t>The </a:t>
            </a:r>
            <a:r>
              <a:rPr lang="en-US" sz="1600" b="1" dirty="0">
                <a:latin typeface="Gill Sans MT" panose="020B0502020104020203" pitchFamily="34" charset="0"/>
              </a:rPr>
              <a:t>Gut Brain Challenge</a:t>
            </a:r>
            <a:r>
              <a:rPr lang="en-US" sz="1600" dirty="0">
                <a:latin typeface="Gill Sans MT" panose="020B0502020104020203" pitchFamily="34" charset="0"/>
              </a:rPr>
              <a:t> aims to foster the development of </a:t>
            </a:r>
            <a:r>
              <a:rPr lang="en-US" sz="1600" b="1" dirty="0">
                <a:latin typeface="Gill Sans MT" panose="020B0502020104020203" pitchFamily="34" charset="0"/>
              </a:rPr>
              <a:t>Information Extraction </a:t>
            </a:r>
            <a:r>
              <a:rPr lang="en-US" sz="1600" dirty="0">
                <a:latin typeface="Gill Sans MT" panose="020B0502020104020203" pitchFamily="34" charset="0"/>
              </a:rPr>
              <a:t>(IE) systems that support experts by automatically extracting and linking knowledge from scientific literature.</a:t>
            </a:r>
          </a:p>
          <a:p>
            <a:pPr marR="5080">
              <a:lnSpc>
                <a:spcPct val="90000"/>
              </a:lnSpc>
              <a:spcBef>
                <a:spcPts val="100"/>
              </a:spcBef>
            </a:pPr>
            <a:endParaRPr lang="en-US" sz="1600" dirty="0">
              <a:latin typeface="Gill Sans MT" panose="020B0502020104020203" pitchFamily="34" charset="0"/>
            </a:endParaRPr>
          </a:p>
          <a:p>
            <a:pPr marR="5080">
              <a:lnSpc>
                <a:spcPct val="90000"/>
              </a:lnSpc>
              <a:spcBef>
                <a:spcPts val="100"/>
              </a:spcBef>
            </a:pPr>
            <a:r>
              <a:rPr lang="en-US" sz="1600" dirty="0">
                <a:latin typeface="Gill Sans MT" panose="020B0502020104020203" pitchFamily="34" charset="0"/>
              </a:rPr>
              <a:t>The challenge is divided into two main subtasks: </a:t>
            </a:r>
          </a:p>
          <a:p>
            <a:pPr marR="5080">
              <a:lnSpc>
                <a:spcPct val="90000"/>
              </a:lnSpc>
              <a:spcBef>
                <a:spcPts val="100"/>
              </a:spcBef>
            </a:pPr>
            <a:endParaRPr lang="en-US" sz="1600" dirty="0">
              <a:latin typeface="Gill Sans MT" panose="020B0502020104020203" pitchFamily="34" charset="0"/>
            </a:endParaRPr>
          </a:p>
          <a:p>
            <a:pPr marL="285750" marR="5080" indent="-285750">
              <a:lnSpc>
                <a:spcPct val="90000"/>
              </a:lnSpc>
              <a:spcBef>
                <a:spcPts val="100"/>
              </a:spcBef>
              <a:buFont typeface="Arial" panose="020B0604020202020204" pitchFamily="34" charset="0"/>
              <a:buChar char="•"/>
            </a:pPr>
            <a:r>
              <a:rPr lang="en-US" sz="1600" b="1" dirty="0">
                <a:latin typeface="Gill Sans MT" panose="020B0502020104020203" pitchFamily="34" charset="0"/>
                <a:ea typeface="Calibri"/>
                <a:cs typeface="Calibri"/>
              </a:rPr>
              <a:t>NER subtask</a:t>
            </a:r>
            <a:r>
              <a:rPr lang="en-US" sz="1600" dirty="0">
                <a:latin typeface="Gill Sans MT" panose="020B0502020104020203" pitchFamily="34" charset="0"/>
                <a:ea typeface="Calibri"/>
                <a:cs typeface="Calibri"/>
              </a:rPr>
              <a:t>:  from PubMed abstracts, the participants are asked to extract named entities about the gut-brain interplay.</a:t>
            </a:r>
          </a:p>
          <a:p>
            <a:pPr marL="285750" marR="5080" indent="-285750">
              <a:lnSpc>
                <a:spcPct val="90000"/>
              </a:lnSpc>
              <a:spcBef>
                <a:spcPts val="100"/>
              </a:spcBef>
              <a:buFont typeface="Arial" panose="020B0604020202020204" pitchFamily="34" charset="0"/>
              <a:buChar char="•"/>
            </a:pPr>
            <a:endParaRPr lang="en-US" sz="1600" dirty="0">
              <a:latin typeface="Gill Sans MT" panose="020B0502020104020203" pitchFamily="34" charset="0"/>
              <a:ea typeface="Calibri"/>
              <a:cs typeface="Calibri"/>
            </a:endParaRPr>
          </a:p>
          <a:p>
            <a:pPr marL="285750" marR="5080" indent="-285750">
              <a:lnSpc>
                <a:spcPct val="90000"/>
              </a:lnSpc>
              <a:spcBef>
                <a:spcPts val="100"/>
              </a:spcBef>
              <a:buFont typeface="Arial" panose="020B0604020202020204" pitchFamily="34" charset="0"/>
              <a:buChar char="•"/>
            </a:pPr>
            <a:r>
              <a:rPr lang="en-US" sz="1600" b="1" dirty="0">
                <a:latin typeface="Gill Sans MT" panose="020B0502020104020203" pitchFamily="34" charset="0"/>
                <a:ea typeface="Calibri"/>
                <a:cs typeface="Calibri"/>
              </a:rPr>
              <a:t>RE subtask</a:t>
            </a:r>
            <a:r>
              <a:rPr lang="en-US" sz="1600" dirty="0">
                <a:latin typeface="Gill Sans MT" panose="020B0502020104020203" pitchFamily="34" charset="0"/>
                <a:ea typeface="Calibri"/>
                <a:cs typeface="Calibri"/>
              </a:rPr>
              <a:t>:  the participants are asked to identify binary and ternary relations between any pair of entities they extract within an abstract.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9320E9E-36EA-CA48-B48F-66B64C9388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0066" y="2038457"/>
            <a:ext cx="1926055" cy="1856017"/>
          </a:xfrm>
          <a:prstGeom prst="rect">
            <a:avLst/>
          </a:prstGeom>
        </p:spPr>
      </p:pic>
      <p:pic>
        <p:nvPicPr>
          <p:cNvPr id="4" name="Picture 3" descr="A key with a city silhouette&#10;&#10;AI-generated content may be incorrect.">
            <a:extLst>
              <a:ext uri="{FF2B5EF4-FFF2-40B4-BE49-F238E27FC236}">
                <a16:creationId xmlns:a16="http://schemas.microsoft.com/office/drawing/2014/main" id="{DFE1D6FB-14FC-1D41-8E3D-DB6C5342B8A4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7096" y="439578"/>
            <a:ext cx="2956269" cy="1581009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A64FA9BA-A3CC-E2D5-EF45-5218676FBD57}"/>
              </a:ext>
            </a:extLst>
          </p:cNvPr>
          <p:cNvSpPr txBox="1"/>
          <p:nvPr/>
        </p:nvSpPr>
        <p:spPr>
          <a:xfrm>
            <a:off x="7422076" y="4667641"/>
            <a:ext cx="14013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>
                <a:latin typeface="Gill Sans MT" panose="020B0502020104020203" pitchFamily="34" charset="0"/>
              </a:rPr>
              <a:t>Samuel Piron</a:t>
            </a:r>
            <a:endParaRPr lang="en-US" dirty="0">
              <a:latin typeface="Gill Sans MT" panose="020B05020201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2240048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4337A1F-E246-279B-176C-F0B38CCFFD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7E8F3AB5-065A-52FF-FE92-2AC817428E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912447"/>
            <a:ext cx="548639" cy="505095"/>
            <a:chOff x="3940602" y="308034"/>
            <a:chExt cx="2116791" cy="3428999"/>
          </a:xfrm>
          <a:solidFill>
            <a:schemeClr val="accent4"/>
          </a:solidFill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B1DF25EF-8A5A-2EA3-1D4E-97612274F40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940602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F7484399-49DF-4A46-2FBA-22D82778F95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715626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18F9A026-4B63-65BF-C1B3-11A39C67CCA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490650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6" name="Rectangle 15">
            <a:extLst>
              <a:ext uri="{FF2B5EF4-FFF2-40B4-BE49-F238E27FC236}">
                <a16:creationId xmlns:a16="http://schemas.microsoft.com/office/drawing/2014/main" id="{2DB1912F-E799-AD3B-1299-8DE5D8C5DC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0059" y="460465"/>
            <a:ext cx="8180615" cy="142058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C5E7AB9-DF91-684F-1EB6-964B51AB039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82723" y="607423"/>
            <a:ext cx="7457037" cy="1165860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rtl="0">
              <a:spcBef>
                <a:spcPct val="0"/>
              </a:spcBef>
            </a:pPr>
            <a:r>
              <a:rPr lang="it-IT" sz="3600" kern="1200" dirty="0">
                <a:latin typeface="Gill Sans MT"/>
                <a:ea typeface="Calibri"/>
                <a:cs typeface="Calibri"/>
              </a:rPr>
              <a:t>2</a:t>
            </a:r>
            <a:r>
              <a:rPr lang="en-US" sz="3600" kern="1200" dirty="0">
                <a:latin typeface="Gill Sans MT"/>
                <a:ea typeface="Calibri"/>
                <a:cs typeface="Calibri"/>
              </a:rPr>
              <a:t>. Data Overview</a:t>
            </a:r>
            <a:endParaRPr lang="en-US" dirty="0">
              <a:latin typeface="Gill Sans MT"/>
            </a:endParaRP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A0D84814-559F-6BFC-B535-7980E8CEA9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628650" y="4863984"/>
            <a:ext cx="7886700" cy="0"/>
          </a:xfrm>
          <a:prstGeom prst="line">
            <a:avLst/>
          </a:prstGeom>
          <a:ln w="571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0304676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600646" y="58045"/>
            <a:ext cx="4552590" cy="128118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127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3000" b="1" spc="-60" dirty="0">
                <a:latin typeface="Gill Sans MT" panose="020B0502020104020203" pitchFamily="34" charset="0"/>
                <a:ea typeface="+mj-ea"/>
                <a:cs typeface="+mj-cs"/>
              </a:rPr>
              <a:t>Gut Brain Dataset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76762" y="1094874"/>
            <a:ext cx="4776474" cy="35673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55000" lnSpcReduction="20000"/>
          </a:bodyPr>
          <a:lstStyle/>
          <a:p>
            <a:pPr marL="298450" marR="5080" indent="-228600">
              <a:lnSpc>
                <a:spcPct val="90000"/>
              </a:lnSpc>
              <a:spcBef>
                <a:spcPts val="100"/>
              </a:spcBef>
              <a:buFont typeface="Arial,Sans-Serif" panose="020B0604020202020204" pitchFamily="34" charset="0"/>
              <a:buChar char="•"/>
            </a:pPr>
            <a:endParaRPr lang="en-US" sz="1500" dirty="0">
              <a:ea typeface="Calibri"/>
              <a:cs typeface="Calibri"/>
            </a:endParaRPr>
          </a:p>
          <a:p>
            <a:pPr marL="12700" marR="5080" indent="-228600">
              <a:lnSpc>
                <a:spcPct val="90000"/>
              </a:lnSpc>
              <a:spcBef>
                <a:spcPts val="100"/>
              </a:spcBef>
              <a:buFont typeface="Arial" panose="020B0604020202020204" pitchFamily="34" charset="0"/>
              <a:buChar char="•"/>
            </a:pPr>
            <a:endParaRPr lang="en-US" sz="1500" dirty="0">
              <a:ea typeface="Calibri"/>
              <a:cs typeface="Calibri"/>
            </a:endParaRPr>
          </a:p>
          <a:p>
            <a:pPr marL="69850" marR="5080">
              <a:lnSpc>
                <a:spcPct val="90000"/>
              </a:lnSpc>
              <a:spcBef>
                <a:spcPts val="100"/>
              </a:spcBef>
            </a:pPr>
            <a:endParaRPr lang="en-US" sz="1500" dirty="0"/>
          </a:p>
          <a:p>
            <a:pPr marL="69850" marR="5080">
              <a:lnSpc>
                <a:spcPct val="90000"/>
              </a:lnSpc>
              <a:spcBef>
                <a:spcPts val="100"/>
              </a:spcBef>
            </a:pPr>
            <a:endParaRPr lang="en-US" sz="2300" dirty="0">
              <a:latin typeface="Gill Sans MT" panose="020B0502020104020203" pitchFamily="34" charset="0"/>
            </a:endParaRPr>
          </a:p>
          <a:p>
            <a:pPr marL="69850" marR="5080">
              <a:lnSpc>
                <a:spcPct val="90000"/>
              </a:lnSpc>
              <a:spcBef>
                <a:spcPts val="100"/>
              </a:spcBef>
            </a:pPr>
            <a:endParaRPr lang="en-US" sz="2900" dirty="0">
              <a:latin typeface="Gill Sans MT" panose="020B0502020104020203" pitchFamily="34" charset="0"/>
            </a:endParaRPr>
          </a:p>
          <a:p>
            <a:pPr marL="69850" marR="5080">
              <a:lnSpc>
                <a:spcPct val="90000"/>
              </a:lnSpc>
              <a:spcBef>
                <a:spcPts val="100"/>
              </a:spcBef>
            </a:pPr>
            <a:r>
              <a:rPr lang="en-US" sz="2900" dirty="0">
                <a:latin typeface="Gill Sans MT" panose="020B0502020104020203" pitchFamily="34" charset="0"/>
              </a:rPr>
              <a:t>The Gut Brain Dataset is composed of </a:t>
            </a:r>
            <a:r>
              <a:rPr lang="en-US" sz="2900" b="1" dirty="0">
                <a:latin typeface="Gill Sans MT" panose="020B0502020104020203" pitchFamily="34" charset="0"/>
              </a:rPr>
              <a:t>four</a:t>
            </a:r>
            <a:r>
              <a:rPr lang="en-US" sz="2900" dirty="0">
                <a:latin typeface="Gill Sans MT" panose="020B0502020104020203" pitchFamily="34" charset="0"/>
              </a:rPr>
              <a:t> Train collections and </a:t>
            </a:r>
            <a:r>
              <a:rPr lang="en-US" sz="2900" b="1" dirty="0">
                <a:latin typeface="Gill Sans MT" panose="020B0502020104020203" pitchFamily="34" charset="0"/>
              </a:rPr>
              <a:t>one</a:t>
            </a:r>
            <a:r>
              <a:rPr lang="en-US" sz="2900" dirty="0">
                <a:latin typeface="Gill Sans MT" panose="020B0502020104020203" pitchFamily="34" charset="0"/>
              </a:rPr>
              <a:t> Dev Collection:</a:t>
            </a:r>
          </a:p>
          <a:p>
            <a:pPr marL="69850" marR="5080">
              <a:lnSpc>
                <a:spcPct val="90000"/>
              </a:lnSpc>
              <a:spcBef>
                <a:spcPts val="100"/>
              </a:spcBef>
            </a:pPr>
            <a:endParaRPr lang="en-US" sz="2900" dirty="0">
              <a:latin typeface="Gill Sans MT" panose="020B0502020104020203" pitchFamily="34" charset="0"/>
            </a:endParaRPr>
          </a:p>
          <a:p>
            <a:pPr marL="298450" marR="5080" indent="-228600">
              <a:lnSpc>
                <a:spcPct val="90000"/>
              </a:lnSpc>
              <a:spcBef>
                <a:spcPts val="100"/>
              </a:spcBef>
              <a:buFont typeface="Arial" panose="020B0604020202020204" pitchFamily="34" charset="0"/>
              <a:buChar char="•"/>
            </a:pPr>
            <a:r>
              <a:rPr lang="en-US" sz="2900" dirty="0">
                <a:latin typeface="Gill Sans MT" panose="020B0502020104020203" pitchFamily="34" charset="0"/>
                <a:ea typeface="Calibri"/>
                <a:cs typeface="Calibri"/>
              </a:rPr>
              <a:t>Platinum Collection</a:t>
            </a:r>
          </a:p>
          <a:p>
            <a:pPr marL="298450" marR="5080" indent="-228600">
              <a:lnSpc>
                <a:spcPct val="90000"/>
              </a:lnSpc>
              <a:spcBef>
                <a:spcPts val="100"/>
              </a:spcBef>
              <a:buFont typeface="Arial" panose="020B0604020202020204" pitchFamily="34" charset="0"/>
              <a:buChar char="•"/>
            </a:pPr>
            <a:r>
              <a:rPr lang="en-US" sz="2900" dirty="0">
                <a:latin typeface="Gill Sans MT" panose="020B0502020104020203" pitchFamily="34" charset="0"/>
                <a:ea typeface="Calibri"/>
                <a:cs typeface="Calibri"/>
              </a:rPr>
              <a:t>Gold Collection</a:t>
            </a:r>
          </a:p>
          <a:p>
            <a:pPr marL="298450" marR="5080" indent="-228600">
              <a:lnSpc>
                <a:spcPct val="90000"/>
              </a:lnSpc>
              <a:spcBef>
                <a:spcPts val="100"/>
              </a:spcBef>
              <a:buFont typeface="Arial" panose="020B0604020202020204" pitchFamily="34" charset="0"/>
              <a:buChar char="•"/>
            </a:pPr>
            <a:r>
              <a:rPr lang="en-US" sz="2900" dirty="0">
                <a:latin typeface="Gill Sans MT" panose="020B0502020104020203" pitchFamily="34" charset="0"/>
                <a:ea typeface="Calibri"/>
                <a:cs typeface="Calibri"/>
              </a:rPr>
              <a:t>Silver Collection</a:t>
            </a:r>
          </a:p>
          <a:p>
            <a:pPr marL="298450" marR="5080" indent="-228600">
              <a:lnSpc>
                <a:spcPct val="90000"/>
              </a:lnSpc>
              <a:spcBef>
                <a:spcPts val="100"/>
              </a:spcBef>
              <a:buFont typeface="Arial" panose="020B0604020202020204" pitchFamily="34" charset="0"/>
              <a:buChar char="•"/>
            </a:pPr>
            <a:r>
              <a:rPr lang="en-US" sz="2900" dirty="0">
                <a:latin typeface="Gill Sans MT" panose="020B0502020104020203" pitchFamily="34" charset="0"/>
                <a:ea typeface="Calibri"/>
                <a:cs typeface="Calibri"/>
              </a:rPr>
              <a:t>Bronze Collection</a:t>
            </a:r>
          </a:p>
          <a:p>
            <a:pPr marL="298450" marR="5080" indent="-228600">
              <a:lnSpc>
                <a:spcPct val="90000"/>
              </a:lnSpc>
              <a:spcBef>
                <a:spcPts val="100"/>
              </a:spcBef>
              <a:buFont typeface="Arial" panose="020B0604020202020204" pitchFamily="34" charset="0"/>
              <a:buChar char="•"/>
            </a:pPr>
            <a:r>
              <a:rPr lang="en-US" sz="2900" dirty="0">
                <a:latin typeface="Gill Sans MT" panose="020B0502020104020203" pitchFamily="34" charset="0"/>
                <a:ea typeface="Calibri"/>
                <a:cs typeface="Calibri"/>
              </a:rPr>
              <a:t>Dev Dataset</a:t>
            </a:r>
          </a:p>
          <a:p>
            <a:pPr marL="298450" marR="5080" indent="-228600">
              <a:lnSpc>
                <a:spcPct val="90000"/>
              </a:lnSpc>
              <a:spcBef>
                <a:spcPts val="100"/>
              </a:spcBef>
              <a:buFont typeface="Arial" panose="020B0604020202020204" pitchFamily="34" charset="0"/>
              <a:buChar char="•"/>
            </a:pPr>
            <a:endParaRPr lang="en-US" sz="2900" dirty="0">
              <a:latin typeface="Gill Sans MT" panose="020B0502020104020203" pitchFamily="34" charset="0"/>
              <a:ea typeface="Calibri"/>
              <a:cs typeface="Calibri"/>
            </a:endParaRPr>
          </a:p>
          <a:p>
            <a:pPr marL="69850" marR="5080">
              <a:lnSpc>
                <a:spcPct val="90000"/>
              </a:lnSpc>
              <a:spcBef>
                <a:spcPts val="100"/>
              </a:spcBef>
            </a:pPr>
            <a:r>
              <a:rPr lang="en-US" sz="2900" dirty="0">
                <a:latin typeface="Gill Sans MT" panose="020B0502020104020203" pitchFamily="34" charset="0"/>
                <a:ea typeface="Calibri"/>
                <a:cs typeface="Calibri"/>
              </a:rPr>
              <a:t>Each collection is composed of NER-tagged entities with the label, text span, start index, and end index.</a:t>
            </a:r>
          </a:p>
          <a:p>
            <a:pPr marL="69850" marR="5080">
              <a:lnSpc>
                <a:spcPct val="90000"/>
              </a:lnSpc>
              <a:spcBef>
                <a:spcPts val="100"/>
              </a:spcBef>
            </a:pPr>
            <a:endParaRPr lang="en-US" sz="2900" dirty="0">
              <a:latin typeface="Gill Sans MT" panose="020B0502020104020203" pitchFamily="34" charset="0"/>
              <a:ea typeface="Calibri"/>
              <a:cs typeface="Calibri"/>
            </a:endParaRPr>
          </a:p>
          <a:p>
            <a:pPr marL="69850" marR="5080">
              <a:lnSpc>
                <a:spcPct val="90000"/>
              </a:lnSpc>
              <a:spcBef>
                <a:spcPts val="100"/>
              </a:spcBef>
            </a:pPr>
            <a:r>
              <a:rPr lang="en-US" sz="2900" dirty="0">
                <a:latin typeface="Gill Sans MT" panose="020B0502020104020203" pitchFamily="34" charset="0"/>
                <a:ea typeface="Calibri"/>
                <a:cs typeface="Calibri"/>
              </a:rPr>
              <a:t>It is composed of relations between the NER-tagged entities, in particular binary tag based, ternary tag based, and ternary mention based.</a:t>
            </a:r>
          </a:p>
          <a:p>
            <a:pPr marL="298450" marR="5080" indent="-228600">
              <a:lnSpc>
                <a:spcPct val="90000"/>
              </a:lnSpc>
              <a:spcBef>
                <a:spcPts val="100"/>
              </a:spcBef>
              <a:buFont typeface="Arial" panose="020B0604020202020204" pitchFamily="34" charset="0"/>
              <a:buChar char="•"/>
            </a:pPr>
            <a:endParaRPr lang="en-US" sz="2300" dirty="0">
              <a:latin typeface="Gill Sans MT" panose="020B0502020104020203" pitchFamily="34" charset="0"/>
              <a:ea typeface="Calibri"/>
              <a:cs typeface="Calibri"/>
            </a:endParaRPr>
          </a:p>
          <a:p>
            <a:pPr marL="298450" marR="5080" indent="-228600">
              <a:lnSpc>
                <a:spcPct val="90000"/>
              </a:lnSpc>
              <a:spcBef>
                <a:spcPts val="100"/>
              </a:spcBef>
              <a:buFont typeface="Arial" panose="020B0604020202020204" pitchFamily="34" charset="0"/>
              <a:buChar char="•"/>
            </a:pPr>
            <a:endParaRPr lang="en-US" sz="1500" dirty="0">
              <a:ea typeface="Calibri"/>
              <a:cs typeface="Calibri"/>
            </a:endParaRPr>
          </a:p>
          <a:p>
            <a:pPr marL="298450" marR="5080" indent="-228600">
              <a:lnSpc>
                <a:spcPct val="90000"/>
              </a:lnSpc>
              <a:spcBef>
                <a:spcPts val="100"/>
              </a:spcBef>
              <a:buFont typeface="Arial" panose="020B0604020202020204" pitchFamily="34" charset="0"/>
              <a:buChar char="•"/>
            </a:pPr>
            <a:endParaRPr lang="en-US" sz="1500" dirty="0">
              <a:ea typeface="Calibri"/>
              <a:cs typeface="Calibri"/>
            </a:endParaRPr>
          </a:p>
          <a:p>
            <a:pPr marL="298450" marR="5080" indent="-228600">
              <a:lnSpc>
                <a:spcPct val="90000"/>
              </a:lnSpc>
              <a:spcBef>
                <a:spcPts val="100"/>
              </a:spcBef>
              <a:buFont typeface="Arial" panose="020B0604020202020204" pitchFamily="34" charset="0"/>
              <a:buChar char="•"/>
            </a:pPr>
            <a:endParaRPr lang="en-US" sz="1500" dirty="0">
              <a:ea typeface="Calibri"/>
              <a:cs typeface="Calibri"/>
            </a:endParaRPr>
          </a:p>
          <a:p>
            <a:pPr marL="298450" marR="5080" indent="-228600">
              <a:lnSpc>
                <a:spcPct val="90000"/>
              </a:lnSpc>
              <a:spcBef>
                <a:spcPts val="100"/>
              </a:spcBef>
              <a:buFont typeface="Arial" panose="020B0604020202020204" pitchFamily="34" charset="0"/>
              <a:buChar char="•"/>
            </a:pPr>
            <a:endParaRPr lang="en-US" sz="1500" dirty="0">
              <a:ea typeface="Calibri"/>
              <a:cs typeface="Calibri"/>
            </a:endParaRPr>
          </a:p>
          <a:p>
            <a:pPr marL="298450" marR="5080" indent="-228600">
              <a:lnSpc>
                <a:spcPct val="90000"/>
              </a:lnSpc>
              <a:spcBef>
                <a:spcPts val="100"/>
              </a:spcBef>
              <a:buFont typeface="Arial" panose="020B0604020202020204" pitchFamily="34" charset="0"/>
              <a:buChar char="•"/>
            </a:pPr>
            <a:endParaRPr lang="en-US" sz="1500" dirty="0">
              <a:ea typeface="Calibri"/>
              <a:cs typeface="Calibri"/>
            </a:endParaRPr>
          </a:p>
          <a:p>
            <a:pPr marL="298450" marR="5080" indent="-228600">
              <a:lnSpc>
                <a:spcPct val="90000"/>
              </a:lnSpc>
              <a:spcBef>
                <a:spcPts val="100"/>
              </a:spcBef>
              <a:buFont typeface="Arial" panose="020B0604020202020204" pitchFamily="34" charset="0"/>
              <a:buChar char="•"/>
            </a:pPr>
            <a:endParaRPr lang="en-US" sz="1500" dirty="0">
              <a:ea typeface="Calibri"/>
              <a:cs typeface="Calibri"/>
            </a:endParaRPr>
          </a:p>
          <a:p>
            <a:pPr marL="298450" marR="5080" indent="-228600">
              <a:lnSpc>
                <a:spcPct val="90000"/>
              </a:lnSpc>
              <a:spcBef>
                <a:spcPts val="100"/>
              </a:spcBef>
              <a:buFont typeface="Arial" panose="020B0604020202020204" pitchFamily="34" charset="0"/>
              <a:buChar char="•"/>
            </a:pPr>
            <a:endParaRPr lang="en-US" sz="1500" dirty="0">
              <a:ea typeface="Calibri"/>
              <a:cs typeface="Calibri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B47378D-AD27-45D0-8C1C-5B1098DCC0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89042" y="0"/>
            <a:ext cx="3454957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81000" dist="317500" dir="5700000" sx="95000" sy="95000" algn="t" rotWithShape="0">
              <a:srgbClr val="000000">
                <a:alpha val="2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02C3530-CC3B-B646-3F5D-11FCA224B7E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59445"/>
          <a:stretch/>
        </p:blipFill>
        <p:spPr>
          <a:xfrm>
            <a:off x="5785354" y="698637"/>
            <a:ext cx="3262331" cy="3746226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652181E-B8C0-E3BE-44BB-B85A80B53FCF}"/>
              </a:ext>
            </a:extLst>
          </p:cNvPr>
          <p:cNvSpPr txBox="1"/>
          <p:nvPr/>
        </p:nvSpPr>
        <p:spPr>
          <a:xfrm>
            <a:off x="7422076" y="4667641"/>
            <a:ext cx="14013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>
                <a:latin typeface="Gill Sans MT" panose="020B0502020104020203" pitchFamily="34" charset="0"/>
              </a:rPr>
              <a:t>Samuel Piron</a:t>
            </a:r>
            <a:endParaRPr lang="en-US" dirty="0">
              <a:latin typeface="Gill Sans MT" panose="020B05020201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9279526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AE1C45F0-260A-458C-96ED-C1F6D21512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912447"/>
            <a:ext cx="548639" cy="505095"/>
            <a:chOff x="3940602" y="308034"/>
            <a:chExt cx="2116791" cy="3428999"/>
          </a:xfrm>
          <a:solidFill>
            <a:schemeClr val="accent4"/>
          </a:solidFill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A6604B49-AD5C-4590-B051-06C8222ECD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940602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743ECCAF-29C5-4537-947C-7EA1292463D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715626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ED49787B-8DE6-4467-AD0A-8DECC6E0C2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490650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6" name="Rectangle 15">
            <a:extLst>
              <a:ext uri="{FF2B5EF4-FFF2-40B4-BE49-F238E27FC236}">
                <a16:creationId xmlns:a16="http://schemas.microsoft.com/office/drawing/2014/main" id="{D5B0017B-2ECA-49AF-B397-DC140825DF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0059" y="460465"/>
            <a:ext cx="8180615" cy="142058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A1D4C52-9B60-3622-E82C-62530D1A522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82723" y="607423"/>
            <a:ext cx="7457037" cy="1165860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Bef>
                <a:spcPct val="0"/>
              </a:spcBef>
            </a:pPr>
            <a:r>
              <a:rPr lang="en-US" sz="3600" kern="1200" dirty="0">
                <a:latin typeface="Gill Sans MT"/>
                <a:ea typeface="Calibri"/>
                <a:cs typeface="Calibri"/>
              </a:rPr>
              <a:t>3. NER Model</a:t>
            </a:r>
            <a:endParaRPr lang="en-US" dirty="0">
              <a:latin typeface="Gill Sans MT"/>
              <a:ea typeface="+mj-ea"/>
              <a:cs typeface="+mj-cs"/>
            </a:endParaRP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6CF1BAF6-AD41-4082-B212-8A1F9A2E87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628650" y="4863984"/>
            <a:ext cx="7886700" cy="0"/>
          </a:xfrm>
          <a:prstGeom prst="line">
            <a:avLst/>
          </a:prstGeom>
          <a:ln w="571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5364344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F3060C83-F051-4F0E-ABAD-AA0DFC48B2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83C98ABE-055B-441F-B07E-44F97F083C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-282117" y="-190252"/>
            <a:ext cx="1370728" cy="1032741"/>
          </a:xfrm>
          <a:custGeom>
            <a:avLst/>
            <a:gdLst>
              <a:gd name="connsiteX0" fmla="*/ 0 w 1827638"/>
              <a:gd name="connsiteY0" fmla="*/ 987379 h 1376989"/>
              <a:gd name="connsiteX1" fmla="*/ 987379 w 1827638"/>
              <a:gd name="connsiteY1" fmla="*/ 0 h 1376989"/>
              <a:gd name="connsiteX2" fmla="*/ 1827638 w 1827638"/>
              <a:gd name="connsiteY2" fmla="*/ 840260 h 1376989"/>
              <a:gd name="connsiteX3" fmla="*/ 1827638 w 1827638"/>
              <a:gd name="connsiteY3" fmla="*/ 1376989 h 1376989"/>
              <a:gd name="connsiteX4" fmla="*/ 0 w 1827638"/>
              <a:gd name="connsiteY4" fmla="*/ 1376989 h 13769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827638" h="1376989">
                <a:moveTo>
                  <a:pt x="0" y="987379"/>
                </a:moveTo>
                <a:lnTo>
                  <a:pt x="987379" y="0"/>
                </a:lnTo>
                <a:lnTo>
                  <a:pt x="1827638" y="840260"/>
                </a:lnTo>
                <a:lnTo>
                  <a:pt x="1827638" y="1376989"/>
                </a:lnTo>
                <a:lnTo>
                  <a:pt x="0" y="1376989"/>
                </a:lnTo>
                <a:close/>
              </a:path>
            </a:pathLst>
          </a:cu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9FDB030-9B49-4CED-8CCD-4D99382388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668730" y="316609"/>
            <a:ext cx="484026" cy="484026"/>
          </a:xfrm>
          <a:prstGeom prst="rect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783CA14-24A1-485C-8B30-D6A5D87987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7532611" y="491355"/>
            <a:ext cx="515604" cy="515604"/>
          </a:xfrm>
          <a:prstGeom prst="rect">
            <a:avLst/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9A97C86A-04D6-40F7-AE84-31AB43E6A8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7017482" y="0"/>
            <a:ext cx="2126518" cy="1110627"/>
          </a:xfrm>
          <a:custGeom>
            <a:avLst/>
            <a:gdLst>
              <a:gd name="connsiteX0" fmla="*/ 2835357 w 2835357"/>
              <a:gd name="connsiteY0" fmla="*/ 1480837 h 1480837"/>
              <a:gd name="connsiteX1" fmla="*/ 0 w 2835357"/>
              <a:gd name="connsiteY1" fmla="*/ 1480837 h 1480837"/>
              <a:gd name="connsiteX2" fmla="*/ 1552727 w 2835357"/>
              <a:gd name="connsiteY2" fmla="*/ 0 h 1480837"/>
              <a:gd name="connsiteX3" fmla="*/ 2835357 w 2835357"/>
              <a:gd name="connsiteY3" fmla="*/ 1223245 h 14808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35357" h="1480837">
                <a:moveTo>
                  <a:pt x="2835357" y="1480837"/>
                </a:moveTo>
                <a:lnTo>
                  <a:pt x="0" y="1480837"/>
                </a:lnTo>
                <a:lnTo>
                  <a:pt x="1552727" y="0"/>
                </a:lnTo>
                <a:lnTo>
                  <a:pt x="2835357" y="1223245"/>
                </a:lnTo>
                <a:close/>
              </a:path>
            </a:pathLst>
          </a:cu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9" name="Isosceles Triangle 18">
            <a:extLst>
              <a:ext uri="{FF2B5EF4-FFF2-40B4-BE49-F238E27FC236}">
                <a16:creationId xmlns:a16="http://schemas.microsoft.com/office/drawing/2014/main" id="{FF9F2414-84E8-453E-B1F3-389FDE8192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5982258" y="4586625"/>
            <a:ext cx="1120884" cy="556875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Isosceles Triangle 20">
            <a:extLst>
              <a:ext uri="{FF2B5EF4-FFF2-40B4-BE49-F238E27FC236}">
                <a16:creationId xmlns:a16="http://schemas.microsoft.com/office/drawing/2014/main" id="{3ECA69A1-7536-43AC-85EF-C7106179F5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5703060" y="4839857"/>
            <a:ext cx="611177" cy="303643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itolo 1">
            <a:extLst>
              <a:ext uri="{FF2B5EF4-FFF2-40B4-BE49-F238E27FC236}">
                <a16:creationId xmlns:a16="http://schemas.microsoft.com/office/drawing/2014/main" id="{5E145DF8-B702-D3BC-42C0-F66B1FDD21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725" y="505248"/>
            <a:ext cx="8374549" cy="384721"/>
          </a:xfrm>
        </p:spPr>
        <p:txBody>
          <a:bodyPr wrap="square" lIns="0" tIns="0" rIns="0" bIns="0" anchor="t">
            <a:spAutoFit/>
          </a:bodyPr>
          <a:lstStyle/>
          <a:p>
            <a:r>
              <a:rPr lang="it-IT" b="1" dirty="0">
                <a:latin typeface="Gill Sans MT"/>
              </a:rPr>
              <a:t>NER MODEL – </a:t>
            </a:r>
            <a:r>
              <a:rPr lang="it-IT" b="1" dirty="0" err="1">
                <a:latin typeface="Gill Sans MT"/>
              </a:rPr>
              <a:t>GliNER</a:t>
            </a:r>
            <a:r>
              <a:rPr lang="it-IT" b="1" dirty="0">
                <a:latin typeface="Gill Sans MT"/>
              </a:rPr>
              <a:t> (I)</a:t>
            </a:r>
            <a:endParaRPr lang="it-IT" dirty="0">
              <a:latin typeface="Gill Sans MT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E884AB0-3D74-44B7-AF27-BB562F59C72F}"/>
              </a:ext>
            </a:extLst>
          </p:cNvPr>
          <p:cNvSpPr txBox="1"/>
          <p:nvPr/>
        </p:nvSpPr>
        <p:spPr>
          <a:xfrm>
            <a:off x="403247" y="1231307"/>
            <a:ext cx="8708987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b="1" dirty="0" err="1">
                <a:latin typeface="Gill Sans MT" panose="020B0502020104020203" pitchFamily="34" charset="0"/>
              </a:rPr>
              <a:t>GLiNER</a:t>
            </a:r>
            <a:r>
              <a:rPr lang="it-IT" dirty="0">
                <a:latin typeface="Gill Sans MT" panose="020B0502020104020203" pitchFamily="34" charset="0"/>
              </a:rPr>
              <a:t> </a:t>
            </a:r>
            <a:r>
              <a:rPr lang="it-IT" dirty="0" err="1">
                <a:latin typeface="Gill Sans MT" panose="020B0502020104020203" pitchFamily="34" charset="0"/>
              </a:rPr>
              <a:t>is</a:t>
            </a:r>
            <a:r>
              <a:rPr lang="it-IT" dirty="0">
                <a:latin typeface="Gill Sans MT" panose="020B0502020104020203" pitchFamily="34" charset="0"/>
              </a:rPr>
              <a:t> a </a:t>
            </a:r>
            <a:r>
              <a:rPr lang="it-IT" dirty="0" err="1">
                <a:latin typeface="Gill Sans MT" panose="020B0502020104020203" pitchFamily="34" charset="0"/>
              </a:rPr>
              <a:t>Named</a:t>
            </a:r>
            <a:r>
              <a:rPr lang="it-IT" dirty="0">
                <a:latin typeface="Gill Sans MT" panose="020B0502020104020203" pitchFamily="34" charset="0"/>
              </a:rPr>
              <a:t> </a:t>
            </a:r>
            <a:r>
              <a:rPr lang="it-IT" dirty="0" err="1">
                <a:latin typeface="Gill Sans MT" panose="020B0502020104020203" pitchFamily="34" charset="0"/>
              </a:rPr>
              <a:t>Entity</a:t>
            </a:r>
            <a:r>
              <a:rPr lang="it-IT" dirty="0">
                <a:latin typeface="Gill Sans MT" panose="020B0502020104020203" pitchFamily="34" charset="0"/>
              </a:rPr>
              <a:t> </a:t>
            </a:r>
            <a:r>
              <a:rPr lang="it-IT" dirty="0" err="1">
                <a:latin typeface="Gill Sans MT" panose="020B0502020104020203" pitchFamily="34" charset="0"/>
              </a:rPr>
              <a:t>Recognition</a:t>
            </a:r>
            <a:r>
              <a:rPr lang="it-IT" dirty="0">
                <a:latin typeface="Gill Sans MT" panose="020B0502020104020203" pitchFamily="34" charset="0"/>
              </a:rPr>
              <a:t> (</a:t>
            </a:r>
            <a:r>
              <a:rPr lang="it-IT" b="1" dirty="0">
                <a:latin typeface="Gill Sans MT" panose="020B0502020104020203" pitchFamily="34" charset="0"/>
              </a:rPr>
              <a:t>NER</a:t>
            </a:r>
            <a:r>
              <a:rPr lang="it-IT" dirty="0">
                <a:latin typeface="Gill Sans MT" panose="020B0502020104020203" pitchFamily="34" charset="0"/>
              </a:rPr>
              <a:t>) model </a:t>
            </a:r>
            <a:r>
              <a:rPr lang="it-IT" dirty="0" err="1">
                <a:latin typeface="Gill Sans MT" panose="020B0502020104020203" pitchFamily="34" charset="0"/>
              </a:rPr>
              <a:t>capable</a:t>
            </a:r>
            <a:r>
              <a:rPr lang="it-IT" dirty="0">
                <a:latin typeface="Gill Sans MT" panose="020B0502020104020203" pitchFamily="34" charset="0"/>
              </a:rPr>
              <a:t> of </a:t>
            </a:r>
            <a:r>
              <a:rPr lang="it-IT" dirty="0" err="1">
                <a:latin typeface="Gill Sans MT" panose="020B0502020104020203" pitchFamily="34" charset="0"/>
              </a:rPr>
              <a:t>identifying</a:t>
            </a:r>
            <a:r>
              <a:rPr lang="it-IT" dirty="0">
                <a:latin typeface="Gill Sans MT" panose="020B0502020104020203" pitchFamily="34" charset="0"/>
              </a:rPr>
              <a:t> </a:t>
            </a:r>
            <a:r>
              <a:rPr lang="it-IT" dirty="0" err="1">
                <a:latin typeface="Gill Sans MT" panose="020B0502020104020203" pitchFamily="34" charset="0"/>
              </a:rPr>
              <a:t>any</a:t>
            </a:r>
            <a:r>
              <a:rPr lang="it-IT" dirty="0">
                <a:latin typeface="Gill Sans MT" panose="020B0502020104020203" pitchFamily="34" charset="0"/>
              </a:rPr>
              <a:t> </a:t>
            </a:r>
            <a:r>
              <a:rPr lang="it-IT" dirty="0" err="1">
                <a:latin typeface="Gill Sans MT" panose="020B0502020104020203" pitchFamily="34" charset="0"/>
              </a:rPr>
              <a:t>entity</a:t>
            </a:r>
            <a:r>
              <a:rPr lang="it-IT" dirty="0">
                <a:latin typeface="Gill Sans MT" panose="020B0502020104020203" pitchFamily="34" charset="0"/>
              </a:rPr>
              <a:t> </a:t>
            </a:r>
            <a:r>
              <a:rPr lang="it-IT" dirty="0" err="1">
                <a:latin typeface="Gill Sans MT" panose="020B0502020104020203" pitchFamily="34" charset="0"/>
              </a:rPr>
              <a:t>type</a:t>
            </a:r>
            <a:endParaRPr lang="it-IT" dirty="0">
              <a:latin typeface="Gill Sans MT" panose="020B0502020104020203" pitchFamily="34" charset="0"/>
            </a:endParaRPr>
          </a:p>
          <a:p>
            <a:r>
              <a:rPr lang="it-IT" dirty="0" err="1">
                <a:latin typeface="Gill Sans MT" panose="020B0502020104020203" pitchFamily="34" charset="0"/>
              </a:rPr>
              <a:t>using</a:t>
            </a:r>
            <a:r>
              <a:rPr lang="it-IT" dirty="0">
                <a:latin typeface="Gill Sans MT" panose="020B0502020104020203" pitchFamily="34" charset="0"/>
              </a:rPr>
              <a:t> a </a:t>
            </a:r>
            <a:r>
              <a:rPr lang="it-IT" b="1" dirty="0" err="1">
                <a:latin typeface="Gill Sans MT" panose="020B0502020104020203" pitchFamily="34" charset="0"/>
              </a:rPr>
              <a:t>Bidirectional</a:t>
            </a:r>
            <a:r>
              <a:rPr lang="it-IT" b="1" dirty="0">
                <a:latin typeface="Gill Sans MT" panose="020B0502020104020203" pitchFamily="34" charset="0"/>
              </a:rPr>
              <a:t> transformer</a:t>
            </a:r>
            <a:r>
              <a:rPr lang="it-IT" dirty="0">
                <a:latin typeface="Gill Sans MT" panose="020B0502020104020203" pitchFamily="34" charset="0"/>
              </a:rPr>
              <a:t> encoder (BERT-like).</a:t>
            </a:r>
          </a:p>
          <a:p>
            <a:r>
              <a:rPr lang="it-IT" dirty="0" err="1">
                <a:latin typeface="Gill Sans MT" panose="020B0502020104020203" pitchFamily="34" charset="0"/>
              </a:rPr>
              <a:t>It</a:t>
            </a:r>
            <a:r>
              <a:rPr lang="it-IT" dirty="0">
                <a:latin typeface="Gill Sans MT" panose="020B0502020104020203" pitchFamily="34" charset="0"/>
              </a:rPr>
              <a:t> </a:t>
            </a:r>
            <a:r>
              <a:rPr lang="it-IT" dirty="0" err="1">
                <a:latin typeface="Gill Sans MT" panose="020B0502020104020203" pitchFamily="34" charset="0"/>
              </a:rPr>
              <a:t>provides</a:t>
            </a:r>
            <a:r>
              <a:rPr lang="it-IT" dirty="0">
                <a:latin typeface="Gill Sans MT" panose="020B0502020104020203" pitchFamily="34" charset="0"/>
              </a:rPr>
              <a:t> a </a:t>
            </a:r>
            <a:r>
              <a:rPr lang="it-IT" dirty="0" err="1">
                <a:latin typeface="Gill Sans MT" panose="020B0502020104020203" pitchFamily="34" charset="0"/>
              </a:rPr>
              <a:t>practical</a:t>
            </a:r>
            <a:r>
              <a:rPr lang="it-IT" dirty="0">
                <a:latin typeface="Gill Sans MT" panose="020B0502020104020203" pitchFamily="34" charset="0"/>
              </a:rPr>
              <a:t> alternative to </a:t>
            </a:r>
            <a:r>
              <a:rPr lang="it-IT" dirty="0" err="1">
                <a:latin typeface="Gill Sans MT" panose="020B0502020104020203" pitchFamily="34" charset="0"/>
              </a:rPr>
              <a:t>traditional</a:t>
            </a:r>
            <a:r>
              <a:rPr lang="it-IT" dirty="0">
                <a:latin typeface="Gill Sans MT" panose="020B0502020104020203" pitchFamily="34" charset="0"/>
              </a:rPr>
              <a:t> NER models, </a:t>
            </a:r>
            <a:r>
              <a:rPr lang="it-IT" dirty="0" err="1">
                <a:latin typeface="Gill Sans MT" panose="020B0502020104020203" pitchFamily="34" charset="0"/>
              </a:rPr>
              <a:t>which</a:t>
            </a:r>
            <a:r>
              <a:rPr lang="it-IT" dirty="0">
                <a:latin typeface="Gill Sans MT" panose="020B0502020104020203" pitchFamily="34" charset="0"/>
              </a:rPr>
              <a:t> are limited to</a:t>
            </a:r>
          </a:p>
          <a:p>
            <a:r>
              <a:rPr lang="it-IT" dirty="0" err="1">
                <a:latin typeface="Gill Sans MT" panose="020B0502020104020203" pitchFamily="34" charset="0"/>
              </a:rPr>
              <a:t>predefined</a:t>
            </a:r>
            <a:r>
              <a:rPr lang="it-IT" dirty="0">
                <a:latin typeface="Gill Sans MT" panose="020B0502020104020203" pitchFamily="34" charset="0"/>
              </a:rPr>
              <a:t> </a:t>
            </a:r>
            <a:r>
              <a:rPr lang="it-IT" dirty="0" err="1">
                <a:latin typeface="Gill Sans MT" panose="020B0502020104020203" pitchFamily="34" charset="0"/>
              </a:rPr>
              <a:t>entities</a:t>
            </a:r>
            <a:r>
              <a:rPr lang="it-IT" dirty="0">
                <a:latin typeface="Gill Sans MT" panose="020B0502020104020203" pitchFamily="34" charset="0"/>
              </a:rPr>
              <a:t>, and Large Language Models (</a:t>
            </a:r>
            <a:r>
              <a:rPr lang="it-IT" dirty="0" err="1">
                <a:latin typeface="Gill Sans MT" panose="020B0502020104020203" pitchFamily="34" charset="0"/>
              </a:rPr>
              <a:t>LLMs</a:t>
            </a:r>
            <a:r>
              <a:rPr lang="it-IT" dirty="0">
                <a:latin typeface="Gill Sans MT" panose="020B0502020104020203" pitchFamily="34" charset="0"/>
              </a:rPr>
              <a:t>) </a:t>
            </a:r>
            <a:r>
              <a:rPr lang="it-IT" dirty="0" err="1">
                <a:latin typeface="Gill Sans MT" panose="020B0502020104020203" pitchFamily="34" charset="0"/>
              </a:rPr>
              <a:t>that</a:t>
            </a:r>
            <a:r>
              <a:rPr lang="it-IT" dirty="0">
                <a:latin typeface="Gill Sans MT" panose="020B0502020104020203" pitchFamily="34" charset="0"/>
              </a:rPr>
              <a:t>, </a:t>
            </a:r>
            <a:r>
              <a:rPr lang="it-IT" dirty="0" err="1">
                <a:latin typeface="Gill Sans MT" panose="020B0502020104020203" pitchFamily="34" charset="0"/>
              </a:rPr>
              <a:t>despite</a:t>
            </a:r>
            <a:r>
              <a:rPr lang="it-IT" dirty="0">
                <a:latin typeface="Gill Sans MT" panose="020B0502020104020203" pitchFamily="34" charset="0"/>
              </a:rPr>
              <a:t> </a:t>
            </a:r>
            <a:r>
              <a:rPr lang="it-IT" dirty="0" err="1">
                <a:latin typeface="Gill Sans MT" panose="020B0502020104020203" pitchFamily="34" charset="0"/>
              </a:rPr>
              <a:t>their</a:t>
            </a:r>
            <a:r>
              <a:rPr lang="it-IT" dirty="0">
                <a:latin typeface="Gill Sans MT" panose="020B0502020104020203" pitchFamily="34" charset="0"/>
              </a:rPr>
              <a:t> </a:t>
            </a:r>
            <a:r>
              <a:rPr lang="it-IT" dirty="0" err="1">
                <a:latin typeface="Gill Sans MT" panose="020B0502020104020203" pitchFamily="34" charset="0"/>
              </a:rPr>
              <a:t>flexibility</a:t>
            </a:r>
            <a:r>
              <a:rPr lang="it-IT" dirty="0">
                <a:latin typeface="Gill Sans MT" panose="020B0502020104020203" pitchFamily="34" charset="0"/>
              </a:rPr>
              <a:t>, are</a:t>
            </a:r>
          </a:p>
          <a:p>
            <a:r>
              <a:rPr lang="it-IT" dirty="0" err="1">
                <a:latin typeface="Gill Sans MT" panose="020B0502020104020203" pitchFamily="34" charset="0"/>
              </a:rPr>
              <a:t>costly</a:t>
            </a:r>
            <a:r>
              <a:rPr lang="it-IT" dirty="0">
                <a:latin typeface="Gill Sans MT" panose="020B0502020104020203" pitchFamily="34" charset="0"/>
              </a:rPr>
              <a:t> and large for </a:t>
            </a:r>
            <a:r>
              <a:rPr lang="it-IT" dirty="0" err="1">
                <a:latin typeface="Gill Sans MT" panose="020B0502020104020203" pitchFamily="34" charset="0"/>
              </a:rPr>
              <a:t>resource-constrained</a:t>
            </a:r>
            <a:r>
              <a:rPr lang="it-IT" dirty="0">
                <a:latin typeface="Gill Sans MT" panose="020B0502020104020203" pitchFamily="34" charset="0"/>
              </a:rPr>
              <a:t> </a:t>
            </a:r>
            <a:r>
              <a:rPr lang="it-IT" dirty="0" err="1">
                <a:latin typeface="Gill Sans MT" panose="020B0502020104020203" pitchFamily="34" charset="0"/>
              </a:rPr>
              <a:t>scenarios</a:t>
            </a:r>
            <a:r>
              <a:rPr lang="it-IT" dirty="0">
                <a:latin typeface="Gill Sans MT" panose="020B0502020104020203" pitchFamily="34" charset="0"/>
              </a:rPr>
              <a:t>.</a:t>
            </a:r>
            <a:endParaRPr lang="en-US" dirty="0">
              <a:latin typeface="Gill Sans MT" panose="020B0502020104020203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111661D-E6C2-167A-6322-6B044CF42919}"/>
              </a:ext>
            </a:extLst>
          </p:cNvPr>
          <p:cNvSpPr txBox="1"/>
          <p:nvPr/>
        </p:nvSpPr>
        <p:spPr>
          <a:xfrm>
            <a:off x="403247" y="3220248"/>
            <a:ext cx="3600537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b="1" dirty="0" err="1">
                <a:latin typeface="Gill Sans MT" panose="020B0502020104020203" pitchFamily="34" charset="0"/>
              </a:rPr>
              <a:t>GLiNER</a:t>
            </a:r>
            <a:r>
              <a:rPr lang="it-IT" b="1" dirty="0">
                <a:latin typeface="Gill Sans MT" panose="020B0502020104020203" pitchFamily="34" charset="0"/>
              </a:rPr>
              <a:t> paper</a:t>
            </a:r>
            <a:r>
              <a:rPr lang="it-IT" dirty="0">
                <a:latin typeface="Gill Sans MT" panose="020B0502020104020203" pitchFamily="34" charset="0"/>
              </a:rPr>
              <a:t> can be </a:t>
            </a:r>
            <a:r>
              <a:rPr lang="it-IT" dirty="0" err="1">
                <a:latin typeface="Gill Sans MT" panose="020B0502020104020203" pitchFamily="34" charset="0"/>
              </a:rPr>
              <a:t>found</a:t>
            </a:r>
            <a:r>
              <a:rPr lang="it-IT" dirty="0">
                <a:latin typeface="Gill Sans MT" panose="020B0502020104020203" pitchFamily="34" charset="0"/>
              </a:rPr>
              <a:t> </a:t>
            </a:r>
            <a:r>
              <a:rPr lang="it-IT" dirty="0" err="1">
                <a:latin typeface="Gill Sans MT" panose="020B0502020104020203" pitchFamily="34" charset="0"/>
              </a:rPr>
              <a:t>here</a:t>
            </a:r>
            <a:r>
              <a:rPr lang="it-IT" dirty="0">
                <a:latin typeface="Gill Sans MT" panose="020B0502020104020203" pitchFamily="34" charset="0"/>
              </a:rPr>
              <a:t>: </a:t>
            </a:r>
          </a:p>
          <a:p>
            <a:endParaRPr lang="it-IT" dirty="0">
              <a:latin typeface="Gill Sans MT" panose="020B0502020104020203" pitchFamily="34" charset="0"/>
            </a:endParaRPr>
          </a:p>
          <a:p>
            <a:r>
              <a:rPr lang="en-US" dirty="0">
                <a:latin typeface="Gill Sans MT" panose="020B0502020104020203" pitchFamily="34" charset="0"/>
                <a:hlinkClick r:id="rId2"/>
              </a:rPr>
              <a:t>https://arxiv.org/abs/2311.08526</a:t>
            </a:r>
            <a:endParaRPr lang="en-US" dirty="0">
              <a:latin typeface="Gill Sans MT" panose="020B05020201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24DB3F8-4144-1B73-4E34-C8E3E6FE8F9D}"/>
              </a:ext>
            </a:extLst>
          </p:cNvPr>
          <p:cNvSpPr txBox="1"/>
          <p:nvPr/>
        </p:nvSpPr>
        <p:spPr>
          <a:xfrm>
            <a:off x="7422076" y="4667641"/>
            <a:ext cx="14013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>
                <a:latin typeface="Gill Sans MT" panose="020B0502020104020203" pitchFamily="34" charset="0"/>
              </a:rPr>
              <a:t>Samuel Piron</a:t>
            </a:r>
            <a:endParaRPr lang="en-US" dirty="0">
              <a:latin typeface="Gill Sans MT" panose="020B05020201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3174854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4BCB3C0-3F4C-5645-660C-3770BAFE91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86857075-E9CB-B918-B9E9-89FDBFF1DA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05176070-4A03-B38F-9469-03173C20BF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-282117" y="-190252"/>
            <a:ext cx="1370728" cy="1032741"/>
          </a:xfrm>
          <a:custGeom>
            <a:avLst/>
            <a:gdLst>
              <a:gd name="connsiteX0" fmla="*/ 0 w 1827638"/>
              <a:gd name="connsiteY0" fmla="*/ 987379 h 1376989"/>
              <a:gd name="connsiteX1" fmla="*/ 987379 w 1827638"/>
              <a:gd name="connsiteY1" fmla="*/ 0 h 1376989"/>
              <a:gd name="connsiteX2" fmla="*/ 1827638 w 1827638"/>
              <a:gd name="connsiteY2" fmla="*/ 840260 h 1376989"/>
              <a:gd name="connsiteX3" fmla="*/ 1827638 w 1827638"/>
              <a:gd name="connsiteY3" fmla="*/ 1376989 h 1376989"/>
              <a:gd name="connsiteX4" fmla="*/ 0 w 1827638"/>
              <a:gd name="connsiteY4" fmla="*/ 1376989 h 13769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827638" h="1376989">
                <a:moveTo>
                  <a:pt x="0" y="987379"/>
                </a:moveTo>
                <a:lnTo>
                  <a:pt x="987379" y="0"/>
                </a:lnTo>
                <a:lnTo>
                  <a:pt x="1827638" y="840260"/>
                </a:lnTo>
                <a:lnTo>
                  <a:pt x="1827638" y="1376989"/>
                </a:lnTo>
                <a:lnTo>
                  <a:pt x="0" y="1376989"/>
                </a:lnTo>
                <a:close/>
              </a:path>
            </a:pathLst>
          </a:cu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0DD522A-9529-A16B-E07A-0EE3099566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668730" y="316609"/>
            <a:ext cx="484026" cy="484026"/>
          </a:xfrm>
          <a:prstGeom prst="rect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03AB238-A1A9-4FDB-A3DE-DFDEABFA97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7532611" y="491355"/>
            <a:ext cx="515604" cy="515604"/>
          </a:xfrm>
          <a:prstGeom prst="rect">
            <a:avLst/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D6F50369-532F-215C-32E8-1A66422CA9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7017482" y="0"/>
            <a:ext cx="2126518" cy="1110627"/>
          </a:xfrm>
          <a:custGeom>
            <a:avLst/>
            <a:gdLst>
              <a:gd name="connsiteX0" fmla="*/ 2835357 w 2835357"/>
              <a:gd name="connsiteY0" fmla="*/ 1480837 h 1480837"/>
              <a:gd name="connsiteX1" fmla="*/ 0 w 2835357"/>
              <a:gd name="connsiteY1" fmla="*/ 1480837 h 1480837"/>
              <a:gd name="connsiteX2" fmla="*/ 1552727 w 2835357"/>
              <a:gd name="connsiteY2" fmla="*/ 0 h 1480837"/>
              <a:gd name="connsiteX3" fmla="*/ 2835357 w 2835357"/>
              <a:gd name="connsiteY3" fmla="*/ 1223245 h 14808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35357" h="1480837">
                <a:moveTo>
                  <a:pt x="2835357" y="1480837"/>
                </a:moveTo>
                <a:lnTo>
                  <a:pt x="0" y="1480837"/>
                </a:lnTo>
                <a:lnTo>
                  <a:pt x="1552727" y="0"/>
                </a:lnTo>
                <a:lnTo>
                  <a:pt x="2835357" y="1223245"/>
                </a:lnTo>
                <a:close/>
              </a:path>
            </a:pathLst>
          </a:cu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9" name="Isosceles Triangle 18">
            <a:extLst>
              <a:ext uri="{FF2B5EF4-FFF2-40B4-BE49-F238E27FC236}">
                <a16:creationId xmlns:a16="http://schemas.microsoft.com/office/drawing/2014/main" id="{BC7C6BF4-057E-257B-64F8-A69481592F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5982258" y="4586625"/>
            <a:ext cx="1120884" cy="556875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Isosceles Triangle 20">
            <a:extLst>
              <a:ext uri="{FF2B5EF4-FFF2-40B4-BE49-F238E27FC236}">
                <a16:creationId xmlns:a16="http://schemas.microsoft.com/office/drawing/2014/main" id="{3DA676BF-42D7-3E4F-D797-459A48B2B7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5703060" y="4839857"/>
            <a:ext cx="611177" cy="303643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itolo 1">
            <a:extLst>
              <a:ext uri="{FF2B5EF4-FFF2-40B4-BE49-F238E27FC236}">
                <a16:creationId xmlns:a16="http://schemas.microsoft.com/office/drawing/2014/main" id="{A3602624-6B88-714D-161E-95F25C74CB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725" y="505248"/>
            <a:ext cx="8374549" cy="384721"/>
          </a:xfrm>
        </p:spPr>
        <p:txBody>
          <a:bodyPr wrap="square" lIns="0" tIns="0" rIns="0" bIns="0" anchor="t">
            <a:spAutoFit/>
          </a:bodyPr>
          <a:lstStyle/>
          <a:p>
            <a:r>
              <a:rPr lang="it-IT" b="1" dirty="0">
                <a:latin typeface="Gill Sans MT"/>
              </a:rPr>
              <a:t>NER Model – </a:t>
            </a:r>
            <a:r>
              <a:rPr lang="it-IT" b="1" dirty="0" err="1">
                <a:latin typeface="Gill Sans MT"/>
              </a:rPr>
              <a:t>GliNER</a:t>
            </a:r>
            <a:r>
              <a:rPr lang="it-IT" b="1" dirty="0">
                <a:latin typeface="Gill Sans MT"/>
              </a:rPr>
              <a:t> (II)</a:t>
            </a:r>
            <a:endParaRPr lang="it-IT" dirty="0">
              <a:latin typeface="Gill Sans MT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789538A-7DB7-C3A0-7214-89D7D687B7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4081" y="908868"/>
            <a:ext cx="6655835" cy="3804373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3B355A0-258B-02E0-5F2C-EB225298DCF9}"/>
              </a:ext>
            </a:extLst>
          </p:cNvPr>
          <p:cNvSpPr txBox="1"/>
          <p:nvPr/>
        </p:nvSpPr>
        <p:spPr>
          <a:xfrm>
            <a:off x="7422076" y="4667641"/>
            <a:ext cx="14013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>
                <a:latin typeface="Gill Sans MT" panose="020B0502020104020203" pitchFamily="34" charset="0"/>
              </a:rPr>
              <a:t>Samuel Piron</a:t>
            </a:r>
            <a:endParaRPr lang="en-US" dirty="0">
              <a:latin typeface="Gill Sans MT" panose="020B05020201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7893257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FD777F9-50A1-68C9-231C-CEE2F947D3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725" y="505248"/>
            <a:ext cx="8374549" cy="384721"/>
          </a:xfrm>
        </p:spPr>
        <p:txBody>
          <a:bodyPr wrap="square" lIns="0" tIns="0" rIns="0" bIns="0" anchor="t">
            <a:spAutoFit/>
          </a:bodyPr>
          <a:lstStyle/>
          <a:p>
            <a:r>
              <a:rPr lang="it-IT" b="1" dirty="0">
                <a:latin typeface="Gill Sans MT"/>
              </a:rPr>
              <a:t>NER Model – </a:t>
            </a:r>
            <a:r>
              <a:rPr lang="it-IT" b="1" dirty="0" err="1">
                <a:latin typeface="Gill Sans MT"/>
              </a:rPr>
              <a:t>GliNER</a:t>
            </a:r>
            <a:r>
              <a:rPr lang="it-IT" b="1" dirty="0">
                <a:latin typeface="Gill Sans MT"/>
              </a:rPr>
              <a:t> (III)</a:t>
            </a:r>
            <a:endParaRPr lang="it-IT" dirty="0">
              <a:latin typeface="Gill Sans MT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0669F20-7F80-4E8F-BED4-52B9B58C5CBE}"/>
              </a:ext>
            </a:extLst>
          </p:cNvPr>
          <p:cNvSpPr txBox="1"/>
          <p:nvPr/>
        </p:nvSpPr>
        <p:spPr>
          <a:xfrm>
            <a:off x="230588" y="1231403"/>
            <a:ext cx="3820777" cy="29700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700" dirty="0">
                <a:latin typeface="Gill Sans MT" panose="020B0502020104020203" pitchFamily="34" charset="0"/>
              </a:rPr>
              <a:t>The </a:t>
            </a:r>
            <a:r>
              <a:rPr lang="it-IT" sz="1700" b="1" dirty="0">
                <a:latin typeface="Gill Sans MT" panose="020B0502020104020203" pitchFamily="34" charset="0"/>
              </a:rPr>
              <a:t>best model</a:t>
            </a:r>
            <a:r>
              <a:rPr lang="it-IT" sz="1700" dirty="0">
                <a:latin typeface="Gill Sans MT" panose="020B0502020104020203" pitchFamily="34" charset="0"/>
              </a:rPr>
              <a:t> </a:t>
            </a:r>
            <a:r>
              <a:rPr lang="it-IT" sz="1700" dirty="0" err="1">
                <a:latin typeface="Gill Sans MT" panose="020B0502020104020203" pitchFamily="34" charset="0"/>
              </a:rPr>
              <a:t>found</a:t>
            </a:r>
            <a:r>
              <a:rPr lang="it-IT" sz="1700" dirty="0">
                <a:latin typeface="Gill Sans MT" panose="020B0502020104020203" pitchFamily="34" charset="0"/>
              </a:rPr>
              <a:t> to </a:t>
            </a:r>
            <a:r>
              <a:rPr lang="it-IT" sz="1700" dirty="0" err="1">
                <a:latin typeface="Gill Sans MT" panose="020B0502020104020203" pitchFamily="34" charset="0"/>
              </a:rPr>
              <a:t>have</a:t>
            </a:r>
            <a:r>
              <a:rPr lang="it-IT" sz="1700" dirty="0">
                <a:latin typeface="Gill Sans MT" panose="020B0502020104020203" pitchFamily="34" charset="0"/>
              </a:rPr>
              <a:t> a </a:t>
            </a:r>
          </a:p>
          <a:p>
            <a:r>
              <a:rPr lang="it-IT" sz="1700" dirty="0" err="1">
                <a:latin typeface="Gill Sans MT" panose="020B0502020104020203" pitchFamily="34" charset="0"/>
              </a:rPr>
              <a:t>better</a:t>
            </a:r>
            <a:r>
              <a:rPr lang="it-IT" sz="1700" dirty="0">
                <a:latin typeface="Gill Sans MT" panose="020B0502020104020203" pitchFamily="34" charset="0"/>
              </a:rPr>
              <a:t> performance in </a:t>
            </a:r>
            <a:r>
              <a:rPr lang="it-IT" sz="1700" dirty="0" err="1">
                <a:latin typeface="Gill Sans MT" panose="020B0502020104020203" pitchFamily="34" charset="0"/>
              </a:rPr>
              <a:t>terms</a:t>
            </a:r>
            <a:r>
              <a:rPr lang="it-IT" sz="1700" dirty="0">
                <a:latin typeface="Gill Sans MT" panose="020B0502020104020203" pitchFamily="34" charset="0"/>
              </a:rPr>
              <a:t> of training </a:t>
            </a:r>
            <a:r>
              <a:rPr lang="it-IT" sz="1700" dirty="0" err="1">
                <a:latin typeface="Gill Sans MT" panose="020B0502020104020203" pitchFamily="34" charset="0"/>
              </a:rPr>
              <a:t>loss</a:t>
            </a:r>
            <a:r>
              <a:rPr lang="it-IT" sz="1700" dirty="0">
                <a:latin typeface="Gill Sans MT" panose="020B0502020104020203" pitchFamily="34" charset="0"/>
              </a:rPr>
              <a:t> </a:t>
            </a:r>
            <a:r>
              <a:rPr lang="it-IT" sz="1700" dirty="0" err="1">
                <a:latin typeface="Gill Sans MT" panose="020B0502020104020203" pitchFamily="34" charset="0"/>
              </a:rPr>
              <a:t>is</a:t>
            </a:r>
            <a:r>
              <a:rPr lang="it-IT" sz="1700" dirty="0">
                <a:latin typeface="Gill Sans MT" panose="020B0502020104020203" pitchFamily="34" charset="0"/>
              </a:rPr>
              <a:t> the </a:t>
            </a:r>
            <a:r>
              <a:rPr lang="it-IT" sz="1700" b="1" dirty="0" err="1">
                <a:latin typeface="Gill Sans MT" panose="020B0502020104020203" pitchFamily="34" charset="0"/>
              </a:rPr>
              <a:t>numind</a:t>
            </a:r>
            <a:r>
              <a:rPr lang="it-IT" sz="1700" b="1" dirty="0">
                <a:latin typeface="Gill Sans MT" panose="020B0502020104020203" pitchFamily="34" charset="0"/>
              </a:rPr>
              <a:t>/</a:t>
            </a:r>
            <a:r>
              <a:rPr lang="it-IT" sz="1700" b="1" dirty="0" err="1">
                <a:latin typeface="Gill Sans MT" panose="020B0502020104020203" pitchFamily="34" charset="0"/>
              </a:rPr>
              <a:t>NuNER_Zero</a:t>
            </a:r>
            <a:r>
              <a:rPr lang="it-IT" sz="1700" b="1" dirty="0">
                <a:latin typeface="Gill Sans MT" panose="020B0502020104020203" pitchFamily="34" charset="0"/>
              </a:rPr>
              <a:t>. </a:t>
            </a:r>
          </a:p>
          <a:p>
            <a:endParaRPr lang="it-IT" sz="1700" dirty="0">
              <a:latin typeface="Gill Sans MT" panose="020B0502020104020203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1700" dirty="0" err="1">
                <a:latin typeface="Gill Sans MT" panose="020B0502020104020203" pitchFamily="34" charset="0"/>
              </a:rPr>
              <a:t>It</a:t>
            </a:r>
            <a:r>
              <a:rPr lang="it-IT" sz="1700" dirty="0">
                <a:latin typeface="Gill Sans MT" panose="020B0502020104020203" pitchFamily="34" charset="0"/>
              </a:rPr>
              <a:t> </a:t>
            </a:r>
            <a:r>
              <a:rPr lang="it-IT" sz="1700" dirty="0" err="1">
                <a:latin typeface="Gill Sans MT" panose="020B0502020104020203" pitchFamily="34" charset="0"/>
              </a:rPr>
              <a:t>is</a:t>
            </a:r>
            <a:r>
              <a:rPr lang="it-IT" sz="1700" dirty="0">
                <a:latin typeface="Gill Sans MT" panose="020B0502020104020203" pitchFamily="34" charset="0"/>
              </a:rPr>
              <a:t> a zero-shot NER Model. </a:t>
            </a:r>
            <a:r>
              <a:rPr lang="it-IT" sz="1700" dirty="0" err="1">
                <a:latin typeface="Gill Sans MT" panose="020B0502020104020203" pitchFamily="34" charset="0"/>
              </a:rPr>
              <a:t>It</a:t>
            </a:r>
            <a:r>
              <a:rPr lang="it-IT" sz="1700" dirty="0">
                <a:latin typeface="Gill Sans MT" panose="020B0502020104020203" pitchFamily="34" charset="0"/>
              </a:rPr>
              <a:t> </a:t>
            </a:r>
            <a:r>
              <a:rPr lang="it-IT" sz="1700" dirty="0" err="1">
                <a:latin typeface="Gill Sans MT" panose="020B0502020104020203" pitchFamily="34" charset="0"/>
              </a:rPr>
              <a:t>uses</a:t>
            </a:r>
            <a:r>
              <a:rPr lang="it-IT" sz="1700" dirty="0">
                <a:latin typeface="Gill Sans MT" panose="020B0502020104020203" pitchFamily="34" charset="0"/>
              </a:rPr>
              <a:t> </a:t>
            </a:r>
            <a:r>
              <a:rPr lang="it-IT" sz="1700" dirty="0" err="1">
                <a:latin typeface="Gill Sans MT" panose="020B0502020104020203" pitchFamily="34" charset="0"/>
              </a:rPr>
              <a:t>GLiNER</a:t>
            </a:r>
            <a:r>
              <a:rPr lang="it-IT" sz="1700" dirty="0">
                <a:latin typeface="Gill Sans MT" panose="020B0502020104020203" pitchFamily="34" charset="0"/>
              </a:rPr>
              <a:t> </a:t>
            </a:r>
            <a:r>
              <a:rPr lang="it-IT" sz="1700" dirty="0" err="1">
                <a:latin typeface="Gill Sans MT" panose="020B0502020104020203" pitchFamily="34" charset="0"/>
              </a:rPr>
              <a:t>architecture</a:t>
            </a:r>
            <a:r>
              <a:rPr lang="it-IT" sz="1700" dirty="0">
                <a:latin typeface="Gill Sans MT" panose="020B0502020104020203" pitchFamily="34" charset="0"/>
              </a:rPr>
              <a:t>: </a:t>
            </a:r>
            <a:r>
              <a:rPr lang="it-IT" sz="1700" dirty="0" err="1">
                <a:latin typeface="Gill Sans MT" panose="020B0502020104020203" pitchFamily="34" charset="0"/>
              </a:rPr>
              <a:t>its</a:t>
            </a:r>
            <a:r>
              <a:rPr lang="it-IT" sz="1700" dirty="0">
                <a:latin typeface="Gill Sans MT" panose="020B0502020104020203" pitchFamily="34" charset="0"/>
              </a:rPr>
              <a:t> input are a </a:t>
            </a:r>
            <a:r>
              <a:rPr lang="it-IT" sz="1700" dirty="0" err="1">
                <a:latin typeface="Gill Sans MT" panose="020B0502020104020203" pitchFamily="34" charset="0"/>
              </a:rPr>
              <a:t>concatenation</a:t>
            </a:r>
            <a:r>
              <a:rPr lang="it-IT" sz="1700" dirty="0">
                <a:latin typeface="Gill Sans MT" panose="020B0502020104020203" pitchFamily="34" charset="0"/>
              </a:rPr>
              <a:t> of </a:t>
            </a:r>
            <a:r>
              <a:rPr lang="it-IT" sz="1700" dirty="0" err="1">
                <a:latin typeface="Gill Sans MT" panose="020B0502020104020203" pitchFamily="34" charset="0"/>
              </a:rPr>
              <a:t>entity</a:t>
            </a:r>
            <a:r>
              <a:rPr lang="it-IT" sz="1700" dirty="0">
                <a:latin typeface="Gill Sans MT" panose="020B0502020104020203" pitchFamily="34" charset="0"/>
              </a:rPr>
              <a:t> </a:t>
            </a:r>
            <a:r>
              <a:rPr lang="it-IT" sz="1700" dirty="0" err="1">
                <a:latin typeface="Gill Sans MT" panose="020B0502020104020203" pitchFamily="34" charset="0"/>
              </a:rPr>
              <a:t>types</a:t>
            </a:r>
            <a:r>
              <a:rPr lang="it-IT" sz="1700" dirty="0">
                <a:latin typeface="Gill Sans MT" panose="020B0502020104020203" pitchFamily="34" charset="0"/>
              </a:rPr>
              <a:t> and text.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1700" dirty="0" err="1">
                <a:latin typeface="Gill Sans MT" panose="020B0502020104020203" pitchFamily="34" charset="0"/>
              </a:rPr>
              <a:t>It</a:t>
            </a:r>
            <a:r>
              <a:rPr lang="it-IT" sz="1700" dirty="0">
                <a:latin typeface="Gill Sans MT" panose="020B0502020104020203" pitchFamily="34" charset="0"/>
              </a:rPr>
              <a:t> </a:t>
            </a:r>
            <a:r>
              <a:rPr lang="it-IT" sz="1700" dirty="0" err="1">
                <a:latin typeface="Gill Sans MT" panose="020B0502020104020203" pitchFamily="34" charset="0"/>
              </a:rPr>
              <a:t>is</a:t>
            </a:r>
            <a:r>
              <a:rPr lang="it-IT" sz="1700" dirty="0">
                <a:latin typeface="Gill Sans MT" panose="020B0502020104020203" pitchFamily="34" charset="0"/>
              </a:rPr>
              <a:t> a token </a:t>
            </a:r>
            <a:r>
              <a:rPr lang="it-IT" sz="1700" dirty="0" err="1">
                <a:latin typeface="Gill Sans MT" panose="020B0502020104020203" pitchFamily="34" charset="0"/>
              </a:rPr>
              <a:t>classifier</a:t>
            </a:r>
            <a:r>
              <a:rPr lang="it-IT" sz="1700" dirty="0">
                <a:latin typeface="Gill Sans MT" panose="020B0502020104020203" pitchFamily="34" charset="0"/>
              </a:rPr>
              <a:t> </a:t>
            </a:r>
            <a:r>
              <a:rPr lang="it-IT" sz="1700" dirty="0" err="1">
                <a:latin typeface="Gill Sans MT" panose="020B0502020104020203" pitchFamily="34" charset="0"/>
              </a:rPr>
              <a:t>that</a:t>
            </a:r>
            <a:r>
              <a:rPr lang="it-IT" sz="1700" dirty="0">
                <a:latin typeface="Gill Sans MT" panose="020B0502020104020203" pitchFamily="34" charset="0"/>
              </a:rPr>
              <a:t> </a:t>
            </a:r>
            <a:r>
              <a:rPr lang="it-IT" sz="1700" dirty="0" err="1">
                <a:latin typeface="Gill Sans MT" panose="020B0502020104020203" pitchFamily="34" charset="0"/>
              </a:rPr>
              <a:t>allows</a:t>
            </a:r>
            <a:r>
              <a:rPr lang="it-IT" sz="1700" dirty="0">
                <a:latin typeface="Gill Sans MT" panose="020B0502020104020203" pitchFamily="34" charset="0"/>
              </a:rPr>
              <a:t> the </a:t>
            </a:r>
            <a:r>
              <a:rPr lang="it-IT" sz="1700" dirty="0" err="1">
                <a:latin typeface="Gill Sans MT" panose="020B0502020104020203" pitchFamily="34" charset="0"/>
              </a:rPr>
              <a:t>detection</a:t>
            </a:r>
            <a:r>
              <a:rPr lang="it-IT" sz="1700" dirty="0">
                <a:latin typeface="Gill Sans MT" panose="020B0502020104020203" pitchFamily="34" charset="0"/>
              </a:rPr>
              <a:t> of </a:t>
            </a:r>
            <a:r>
              <a:rPr lang="it-IT" sz="1700" dirty="0" err="1">
                <a:latin typeface="Gill Sans MT" panose="020B0502020104020203" pitchFamily="34" charset="0"/>
              </a:rPr>
              <a:t>arbitrarily</a:t>
            </a:r>
            <a:r>
              <a:rPr lang="it-IT" sz="1700" dirty="0">
                <a:latin typeface="Gill Sans MT" panose="020B0502020104020203" pitchFamily="34" charset="0"/>
              </a:rPr>
              <a:t> long </a:t>
            </a:r>
            <a:r>
              <a:rPr lang="it-IT" sz="1700" dirty="0" err="1">
                <a:latin typeface="Gill Sans MT" panose="020B0502020104020203" pitchFamily="34" charset="0"/>
              </a:rPr>
              <a:t>entities</a:t>
            </a:r>
            <a:r>
              <a:rPr lang="it-IT" sz="1700" dirty="0">
                <a:latin typeface="Gill Sans MT" panose="020B0502020104020203" pitchFamily="34" charset="0"/>
              </a:rPr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1700" dirty="0" err="1">
                <a:latin typeface="Gill Sans MT" panose="020B0502020104020203" pitchFamily="34" charset="0"/>
              </a:rPr>
              <a:t>It</a:t>
            </a:r>
            <a:r>
              <a:rPr lang="it-IT" sz="1700" dirty="0">
                <a:latin typeface="Gill Sans MT" panose="020B0502020104020203" pitchFamily="34" charset="0"/>
              </a:rPr>
              <a:t> </a:t>
            </a:r>
            <a:r>
              <a:rPr lang="it-IT" sz="1700" dirty="0" err="1">
                <a:latin typeface="Gill Sans MT" panose="020B0502020104020203" pitchFamily="34" charset="0"/>
              </a:rPr>
              <a:t>is</a:t>
            </a:r>
            <a:r>
              <a:rPr lang="it-IT" sz="1700" dirty="0">
                <a:latin typeface="Gill Sans MT" panose="020B0502020104020203" pitchFamily="34" charset="0"/>
              </a:rPr>
              <a:t> </a:t>
            </a:r>
            <a:r>
              <a:rPr lang="it-IT" sz="1700" dirty="0" err="1">
                <a:latin typeface="Gill Sans MT" panose="020B0502020104020203" pitchFamily="34" charset="0"/>
              </a:rPr>
              <a:t>trained</a:t>
            </a:r>
            <a:r>
              <a:rPr lang="it-IT" sz="1700" dirty="0">
                <a:latin typeface="Gill Sans MT" panose="020B0502020104020203" pitchFamily="34" charset="0"/>
              </a:rPr>
              <a:t> on </a:t>
            </a:r>
            <a:r>
              <a:rPr lang="it-IT" sz="1700" dirty="0" err="1">
                <a:latin typeface="Gill Sans MT" panose="020B0502020104020203" pitchFamily="34" charset="0"/>
              </a:rPr>
              <a:t>numind</a:t>
            </a:r>
            <a:r>
              <a:rPr lang="it-IT" sz="1700" dirty="0">
                <a:latin typeface="Gill Sans MT" panose="020B0502020104020203" pitchFamily="34" charset="0"/>
              </a:rPr>
              <a:t>/NuNER-v2.0.</a:t>
            </a:r>
            <a:endParaRPr lang="en-US" sz="1700" dirty="0">
              <a:latin typeface="Gill Sans MT" panose="020B0502020104020203" pitchFamily="34" charset="0"/>
            </a:endParaRPr>
          </a:p>
        </p:txBody>
      </p:sp>
      <p:pic>
        <p:nvPicPr>
          <p:cNvPr id="6" name="Picture 5" descr="A graph of different colored bars&#10;&#10;AI-generated content may be incorrect.">
            <a:extLst>
              <a:ext uri="{FF2B5EF4-FFF2-40B4-BE49-F238E27FC236}">
                <a16:creationId xmlns:a16="http://schemas.microsoft.com/office/drawing/2014/main" id="{02D68C04-710C-510F-C80E-D3757F91580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82728" y="889969"/>
            <a:ext cx="5375931" cy="3571896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B0FD4F63-A0FD-E64D-E11E-F98811A72FAA}"/>
              </a:ext>
            </a:extLst>
          </p:cNvPr>
          <p:cNvSpPr txBox="1"/>
          <p:nvPr/>
        </p:nvSpPr>
        <p:spPr>
          <a:xfrm>
            <a:off x="7422076" y="4667641"/>
            <a:ext cx="14013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>
                <a:latin typeface="Gill Sans MT" panose="020B0502020104020203" pitchFamily="34" charset="0"/>
              </a:rPr>
              <a:t>Samuel Piron</a:t>
            </a:r>
            <a:endParaRPr lang="en-US" dirty="0">
              <a:latin typeface="Gill Sans MT" panose="020B05020201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3569328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2606776-9727-66F1-8C09-8025F7D34B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725" y="505248"/>
            <a:ext cx="8374549" cy="384721"/>
          </a:xfrm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it-IT" b="1" dirty="0">
                <a:latin typeface="Gill Sans MT"/>
              </a:rPr>
              <a:t>NER Model - </a:t>
            </a:r>
            <a:r>
              <a:rPr lang="it-IT" b="1" dirty="0" err="1">
                <a:latin typeface="Gill Sans MT"/>
              </a:rPr>
              <a:t>Implementation</a:t>
            </a:r>
            <a:endParaRPr lang="it-IT" dirty="0">
              <a:latin typeface="Gill Sans MT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F5F4872-8717-511D-BB4A-3E8D2581FAE1}"/>
              </a:ext>
            </a:extLst>
          </p:cNvPr>
          <p:cNvSpPr txBox="1"/>
          <p:nvPr/>
        </p:nvSpPr>
        <p:spPr>
          <a:xfrm>
            <a:off x="277586" y="1045028"/>
            <a:ext cx="4501553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>
                <a:latin typeface="Gill Sans MT" panose="020B0502020104020203" pitchFamily="34" charset="0"/>
              </a:rPr>
              <a:t>The </a:t>
            </a:r>
            <a:r>
              <a:rPr lang="it-IT" dirty="0" err="1">
                <a:latin typeface="Gill Sans MT" panose="020B0502020104020203" pitchFamily="34" charset="0"/>
              </a:rPr>
              <a:t>collections</a:t>
            </a:r>
            <a:r>
              <a:rPr lang="it-IT" dirty="0">
                <a:latin typeface="Gill Sans MT" panose="020B0502020104020203" pitchFamily="34" charset="0"/>
              </a:rPr>
              <a:t> </a:t>
            </a:r>
            <a:r>
              <a:rPr lang="it-IT" dirty="0" err="1">
                <a:latin typeface="Gill Sans MT" panose="020B0502020104020203" pitchFamily="34" charset="0"/>
              </a:rPr>
              <a:t>used</a:t>
            </a:r>
            <a:r>
              <a:rPr lang="it-IT" dirty="0">
                <a:latin typeface="Gill Sans MT" panose="020B0502020104020203" pitchFamily="34" charset="0"/>
              </a:rPr>
              <a:t> to </a:t>
            </a:r>
            <a:r>
              <a:rPr lang="it-IT" dirty="0" err="1">
                <a:latin typeface="Gill Sans MT" panose="020B0502020104020203" pitchFamily="34" charset="0"/>
              </a:rPr>
              <a:t>train</a:t>
            </a:r>
            <a:r>
              <a:rPr lang="it-IT" dirty="0">
                <a:latin typeface="Gill Sans MT" panose="020B0502020104020203" pitchFamily="34" charset="0"/>
              </a:rPr>
              <a:t> the </a:t>
            </a:r>
            <a:r>
              <a:rPr lang="it-IT" b="1" dirty="0">
                <a:latin typeface="Gill Sans MT" panose="020B0502020104020203" pitchFamily="34" charset="0"/>
              </a:rPr>
              <a:t>NER</a:t>
            </a:r>
            <a:r>
              <a:rPr lang="it-IT" dirty="0">
                <a:latin typeface="Gill Sans MT" panose="020B0502020104020203" pitchFamily="34" charset="0"/>
              </a:rPr>
              <a:t> model:</a:t>
            </a:r>
          </a:p>
          <a:p>
            <a:endParaRPr lang="it-IT" dirty="0">
              <a:latin typeface="Gill Sans MT" panose="020B0502020104020203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>
                <a:latin typeface="Gill Sans MT" panose="020B0502020104020203" pitchFamily="34" charset="0"/>
              </a:rPr>
              <a:t>Platinum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>
                <a:latin typeface="Gill Sans MT" panose="020B0502020104020203" pitchFamily="34" charset="0"/>
              </a:rPr>
              <a:t>Gold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D1E457D-7246-69C2-5D2F-D9D75BD51347}"/>
              </a:ext>
            </a:extLst>
          </p:cNvPr>
          <p:cNvSpPr txBox="1"/>
          <p:nvPr/>
        </p:nvSpPr>
        <p:spPr>
          <a:xfrm>
            <a:off x="254054" y="2318598"/>
            <a:ext cx="87513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>
                <a:latin typeface="Gill Sans MT" panose="020B0502020104020203" pitchFamily="34" charset="0"/>
              </a:rPr>
              <a:t>The silver dataset </a:t>
            </a:r>
            <a:r>
              <a:rPr lang="it-IT" dirty="0" err="1">
                <a:latin typeface="Gill Sans MT" panose="020B0502020104020203" pitchFamily="34" charset="0"/>
              </a:rPr>
              <a:t>was</a:t>
            </a:r>
            <a:r>
              <a:rPr lang="it-IT" dirty="0">
                <a:latin typeface="Gill Sans MT" panose="020B0502020104020203" pitchFamily="34" charset="0"/>
              </a:rPr>
              <a:t> </a:t>
            </a:r>
            <a:r>
              <a:rPr lang="it-IT" dirty="0" err="1">
                <a:latin typeface="Gill Sans MT" panose="020B0502020104020203" pitchFamily="34" charset="0"/>
              </a:rPr>
              <a:t>used</a:t>
            </a:r>
            <a:r>
              <a:rPr lang="it-IT" dirty="0">
                <a:latin typeface="Gill Sans MT" panose="020B0502020104020203" pitchFamily="34" charset="0"/>
              </a:rPr>
              <a:t> with </a:t>
            </a:r>
            <a:r>
              <a:rPr lang="it-IT" dirty="0" err="1">
                <a:latin typeface="Gill Sans MT" panose="020B0502020104020203" pitchFamily="34" charset="0"/>
              </a:rPr>
              <a:t>both</a:t>
            </a:r>
            <a:r>
              <a:rPr lang="it-IT" dirty="0">
                <a:latin typeface="Gill Sans MT" panose="020B0502020104020203" pitchFamily="34" charset="0"/>
              </a:rPr>
              <a:t> </a:t>
            </a:r>
            <a:r>
              <a:rPr lang="it-IT" dirty="0" err="1">
                <a:latin typeface="Gill Sans MT" panose="020B0502020104020203" pitchFamily="34" charset="0"/>
              </a:rPr>
              <a:t>platinum</a:t>
            </a:r>
            <a:r>
              <a:rPr lang="it-IT" dirty="0">
                <a:latin typeface="Gill Sans MT" panose="020B0502020104020203" pitchFamily="34" charset="0"/>
              </a:rPr>
              <a:t> and </a:t>
            </a:r>
            <a:r>
              <a:rPr lang="it-IT" dirty="0" err="1">
                <a:latin typeface="Gill Sans MT" panose="020B0502020104020203" pitchFamily="34" charset="0"/>
              </a:rPr>
              <a:t>gold</a:t>
            </a:r>
            <a:r>
              <a:rPr lang="it-IT" dirty="0">
                <a:latin typeface="Gill Sans MT" panose="020B0502020104020203" pitchFamily="34" charset="0"/>
              </a:rPr>
              <a:t>, </a:t>
            </a:r>
            <a:r>
              <a:rPr lang="it-IT" dirty="0" err="1">
                <a:latin typeface="Gill Sans MT" panose="020B0502020104020203" pitchFamily="34" charset="0"/>
              </a:rPr>
              <a:t>but</a:t>
            </a:r>
            <a:r>
              <a:rPr lang="it-IT" dirty="0">
                <a:latin typeface="Gill Sans MT" panose="020B0502020104020203" pitchFamily="34" charset="0"/>
              </a:rPr>
              <a:t> </a:t>
            </a:r>
            <a:r>
              <a:rPr lang="it-IT" dirty="0" err="1">
                <a:latin typeface="Gill Sans MT" panose="020B0502020104020203" pitchFamily="34" charset="0"/>
              </a:rPr>
              <a:t>there</a:t>
            </a:r>
            <a:r>
              <a:rPr lang="it-IT" dirty="0">
                <a:latin typeface="Gill Sans MT" panose="020B0502020104020203" pitchFamily="34" charset="0"/>
              </a:rPr>
              <a:t> </a:t>
            </a:r>
            <a:r>
              <a:rPr lang="it-IT" dirty="0" err="1">
                <a:latin typeface="Gill Sans MT" panose="020B0502020104020203" pitchFamily="34" charset="0"/>
              </a:rPr>
              <a:t>were</a:t>
            </a:r>
            <a:r>
              <a:rPr lang="it-IT" dirty="0">
                <a:latin typeface="Gill Sans MT" panose="020B0502020104020203" pitchFamily="34" charset="0"/>
              </a:rPr>
              <a:t> no </a:t>
            </a:r>
            <a:r>
              <a:rPr lang="it-IT" dirty="0" err="1">
                <a:latin typeface="Gill Sans MT" panose="020B0502020104020203" pitchFamily="34" charset="0"/>
              </a:rPr>
              <a:t>improvements</a:t>
            </a:r>
            <a:r>
              <a:rPr lang="it-IT" dirty="0">
                <a:latin typeface="Gill Sans MT" panose="020B0502020104020203" pitchFamily="34" charset="0"/>
              </a:rPr>
              <a:t>.</a:t>
            </a:r>
            <a:endParaRPr lang="en-US" dirty="0">
              <a:latin typeface="Gill Sans MT" panose="020B0502020104020203" pitchFamily="34" charset="0"/>
            </a:endParaRPr>
          </a:p>
        </p:txBody>
      </p:sp>
      <p:sp>
        <p:nvSpPr>
          <p:cNvPr id="5" name="Titolo 1">
            <a:extLst>
              <a:ext uri="{FF2B5EF4-FFF2-40B4-BE49-F238E27FC236}">
                <a16:creationId xmlns:a16="http://schemas.microsoft.com/office/drawing/2014/main" id="{D788F842-4A76-88B2-1475-5B4AD202F71E}"/>
              </a:ext>
            </a:extLst>
          </p:cNvPr>
          <p:cNvSpPr txBox="1">
            <a:spLocks/>
          </p:cNvSpPr>
          <p:nvPr/>
        </p:nvSpPr>
        <p:spPr>
          <a:xfrm>
            <a:off x="384724" y="2761171"/>
            <a:ext cx="8374549" cy="384721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>
            <a:lvl1pPr>
              <a:defRPr sz="2500" b="0" i="0">
                <a:solidFill>
                  <a:schemeClr val="tx1"/>
                </a:solidFill>
                <a:latin typeface="Arial MT"/>
                <a:ea typeface="+mj-ea"/>
                <a:cs typeface="Arial MT"/>
              </a:defRPr>
            </a:lvl1pPr>
          </a:lstStyle>
          <a:p>
            <a:pPr algn="l"/>
            <a:r>
              <a:rPr lang="it-IT" b="1" kern="0" dirty="0" err="1">
                <a:latin typeface="Gill Sans MT"/>
              </a:rPr>
              <a:t>Tokenizer</a:t>
            </a:r>
            <a:endParaRPr lang="it-IT" kern="0" dirty="0">
              <a:latin typeface="Gill Sans MT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6660313-AF23-D836-E573-9D9636A0E300}"/>
              </a:ext>
            </a:extLst>
          </p:cNvPr>
          <p:cNvSpPr txBox="1"/>
          <p:nvPr/>
        </p:nvSpPr>
        <p:spPr>
          <a:xfrm>
            <a:off x="277586" y="3219133"/>
            <a:ext cx="783753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>
                <a:latin typeface="Gill Sans MT" panose="020B0502020104020203" pitchFamily="34" charset="0"/>
              </a:rPr>
              <a:t>The </a:t>
            </a:r>
            <a:r>
              <a:rPr lang="it-IT" b="1" dirty="0" err="1">
                <a:latin typeface="Gill Sans MT" panose="020B0502020104020203" pitchFamily="34" charset="0"/>
              </a:rPr>
              <a:t>Tokenizer</a:t>
            </a:r>
            <a:r>
              <a:rPr lang="it-IT" dirty="0">
                <a:latin typeface="Gill Sans MT" panose="020B0502020104020203" pitchFamily="34" charset="0"/>
              </a:rPr>
              <a:t> </a:t>
            </a:r>
            <a:r>
              <a:rPr lang="it-IT" dirty="0" err="1">
                <a:latin typeface="Gill Sans MT" panose="020B0502020104020203" pitchFamily="34" charset="0"/>
              </a:rPr>
              <a:t>that</a:t>
            </a:r>
            <a:r>
              <a:rPr lang="it-IT" dirty="0">
                <a:latin typeface="Gill Sans MT" panose="020B0502020104020203" pitchFamily="34" charset="0"/>
              </a:rPr>
              <a:t> </a:t>
            </a:r>
            <a:r>
              <a:rPr lang="it-IT" dirty="0" err="1">
                <a:latin typeface="Gill Sans MT" panose="020B0502020104020203" pitchFamily="34" charset="0"/>
              </a:rPr>
              <a:t>was</a:t>
            </a:r>
            <a:r>
              <a:rPr lang="it-IT" dirty="0">
                <a:latin typeface="Gill Sans MT" panose="020B0502020104020203" pitchFamily="34" charset="0"/>
              </a:rPr>
              <a:t> </a:t>
            </a:r>
            <a:r>
              <a:rPr lang="it-IT" dirty="0" err="1">
                <a:latin typeface="Gill Sans MT" panose="020B0502020104020203" pitchFamily="34" charset="0"/>
              </a:rPr>
              <a:t>used</a:t>
            </a:r>
            <a:r>
              <a:rPr lang="it-IT" dirty="0">
                <a:latin typeface="Gill Sans MT" panose="020B0502020104020203" pitchFamily="34" charset="0"/>
              </a:rPr>
              <a:t> </a:t>
            </a:r>
            <a:r>
              <a:rPr lang="it-IT" dirty="0" err="1">
                <a:latin typeface="Gill Sans MT" panose="020B0502020104020203" pitchFamily="34" charset="0"/>
              </a:rPr>
              <a:t>during</a:t>
            </a:r>
            <a:r>
              <a:rPr lang="it-IT" dirty="0">
                <a:latin typeface="Gill Sans MT" panose="020B0502020104020203" pitchFamily="34" charset="0"/>
              </a:rPr>
              <a:t> the data processing for the </a:t>
            </a:r>
            <a:r>
              <a:rPr lang="it-IT" b="1" dirty="0" err="1">
                <a:latin typeface="Gill Sans MT" panose="020B0502020104020203" pitchFamily="34" charset="0"/>
              </a:rPr>
              <a:t>GLiNER</a:t>
            </a:r>
            <a:r>
              <a:rPr lang="it-IT" dirty="0">
                <a:latin typeface="Gill Sans MT" panose="020B0502020104020203" pitchFamily="34" charset="0"/>
              </a:rPr>
              <a:t> model</a:t>
            </a:r>
          </a:p>
          <a:p>
            <a:r>
              <a:rPr lang="it-IT" dirty="0">
                <a:latin typeface="Gill Sans MT" panose="020B0502020104020203" pitchFamily="34" charset="0"/>
              </a:rPr>
              <a:t>with the </a:t>
            </a:r>
            <a:r>
              <a:rPr lang="it-IT" dirty="0" err="1">
                <a:latin typeface="Gill Sans MT" panose="020B0502020104020203" pitchFamily="34" charset="0"/>
              </a:rPr>
              <a:t>merged</a:t>
            </a:r>
            <a:r>
              <a:rPr lang="it-IT" dirty="0">
                <a:latin typeface="Gill Sans MT" panose="020B0502020104020203" pitchFamily="34" charset="0"/>
              </a:rPr>
              <a:t> dataset </a:t>
            </a:r>
            <a:r>
              <a:rPr lang="it-IT" dirty="0" err="1">
                <a:latin typeface="Gill Sans MT" panose="020B0502020104020203" pitchFamily="34" charset="0"/>
              </a:rPr>
              <a:t>is</a:t>
            </a:r>
            <a:r>
              <a:rPr lang="it-IT" dirty="0">
                <a:latin typeface="Gill Sans MT" panose="020B0502020104020203" pitchFamily="34" charset="0"/>
              </a:rPr>
              <a:t> the </a:t>
            </a:r>
            <a:r>
              <a:rPr lang="it-IT" b="1" u="sng" dirty="0" err="1">
                <a:latin typeface="Gill Sans MT" panose="020B0502020104020203" pitchFamily="34" charset="0"/>
              </a:rPr>
              <a:t>microsoft</a:t>
            </a:r>
            <a:r>
              <a:rPr lang="it-IT" b="1" u="sng" dirty="0">
                <a:latin typeface="Gill Sans MT" panose="020B0502020104020203" pitchFamily="34" charset="0"/>
              </a:rPr>
              <a:t>/deberta-v3-large.</a:t>
            </a:r>
            <a:endParaRPr lang="en-US" b="1" u="sng" dirty="0">
              <a:latin typeface="Gill Sans MT" panose="020B0502020104020203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C9692F9-A72E-E9B8-0378-7BC0E9FAC94C}"/>
              </a:ext>
            </a:extLst>
          </p:cNvPr>
          <p:cNvSpPr txBox="1"/>
          <p:nvPr/>
        </p:nvSpPr>
        <p:spPr>
          <a:xfrm>
            <a:off x="254054" y="3938705"/>
            <a:ext cx="868583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0" i="0" dirty="0">
                <a:effectLst/>
                <a:latin typeface="Gill Sans MT" panose="020B0502020104020203" pitchFamily="34" charset="0"/>
              </a:rPr>
              <a:t>The </a:t>
            </a:r>
            <a:r>
              <a:rPr lang="en-US" b="1" i="0" dirty="0" err="1">
                <a:effectLst/>
                <a:latin typeface="Gill Sans MT" panose="020B0502020104020203" pitchFamily="34" charset="0"/>
              </a:rPr>
              <a:t>DeBERTa</a:t>
            </a:r>
            <a:r>
              <a:rPr lang="en-US" b="1" i="0" dirty="0">
                <a:effectLst/>
                <a:latin typeface="Gill Sans MT" panose="020B0502020104020203" pitchFamily="34" charset="0"/>
              </a:rPr>
              <a:t> V3</a:t>
            </a:r>
            <a:r>
              <a:rPr lang="en-US" b="0" i="0" dirty="0">
                <a:effectLst/>
                <a:latin typeface="Gill Sans MT" panose="020B0502020104020203" pitchFamily="34" charset="0"/>
              </a:rPr>
              <a:t> large model (based on BERT) comes with 24 layers and a hidden size of 1024. It has 304M backbone parameters with a vocabulary containing 128K tokens, which introduces 131M parameters in the Embedding layer.</a:t>
            </a:r>
            <a:endParaRPr lang="en-US" dirty="0">
              <a:latin typeface="Gill Sans MT" panose="020B05020201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CF7F502-1C22-EA75-699E-FE7F10BD6225}"/>
              </a:ext>
            </a:extLst>
          </p:cNvPr>
          <p:cNvSpPr txBox="1"/>
          <p:nvPr/>
        </p:nvSpPr>
        <p:spPr>
          <a:xfrm>
            <a:off x="7422076" y="4667641"/>
            <a:ext cx="14013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>
                <a:latin typeface="Gill Sans MT" panose="020B0502020104020203" pitchFamily="34" charset="0"/>
              </a:rPr>
              <a:t>Samuel Piron</a:t>
            </a:r>
            <a:endParaRPr lang="en-US" dirty="0">
              <a:latin typeface="Gill Sans MT" panose="020B05020201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5795283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4B4C37-96E0-F1AA-84C2-4001D5DAAE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3768E2F-F18F-E68C-7428-32D91A9BBB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725" y="172986"/>
            <a:ext cx="8374549" cy="384721"/>
          </a:xfrm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it-IT" b="1" dirty="0">
                <a:latin typeface="Gill Sans MT"/>
              </a:rPr>
              <a:t>NER Model – Train Pipeline (I)</a:t>
            </a:r>
            <a:endParaRPr lang="it-IT" dirty="0">
              <a:latin typeface="Gill Sans MT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5F77091-1732-470D-36AE-91C979B42376}"/>
              </a:ext>
            </a:extLst>
          </p:cNvPr>
          <p:cNvSpPr txBox="1"/>
          <p:nvPr/>
        </p:nvSpPr>
        <p:spPr>
          <a:xfrm>
            <a:off x="498021" y="139609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pic>
        <p:nvPicPr>
          <p:cNvPr id="13" name="Picture 12" descr="A black and white logo&#10;&#10;AI-generated content may be incorrect.">
            <a:extLst>
              <a:ext uri="{FF2B5EF4-FFF2-40B4-BE49-F238E27FC236}">
                <a16:creationId xmlns:a16="http://schemas.microsoft.com/office/drawing/2014/main" id="{1D17782C-2044-B872-E689-EB3A58893BA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51964" y="597920"/>
            <a:ext cx="1102921" cy="1102921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F9BC765F-DA9E-BFB0-2A11-C9F1F8013C7E}"/>
              </a:ext>
            </a:extLst>
          </p:cNvPr>
          <p:cNvSpPr txBox="1"/>
          <p:nvPr/>
        </p:nvSpPr>
        <p:spPr>
          <a:xfrm>
            <a:off x="413601" y="755619"/>
            <a:ext cx="2411238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AutoNum type="arabicParenR"/>
            </a:pPr>
            <a:r>
              <a:rPr lang="it-IT" b="1" dirty="0">
                <a:latin typeface="Gill Sans MT" panose="020B0502020104020203" pitchFamily="34" charset="0"/>
              </a:rPr>
              <a:t>Load Data</a:t>
            </a:r>
            <a:r>
              <a:rPr lang="it-IT" dirty="0">
                <a:latin typeface="Gill Sans MT" panose="020B0502020104020203" pitchFamily="34" charset="0"/>
              </a:rPr>
              <a:t>: load</a:t>
            </a:r>
          </a:p>
          <a:p>
            <a:r>
              <a:rPr lang="it-IT" dirty="0">
                <a:latin typeface="Gill Sans MT" panose="020B0502020104020203" pitchFamily="34" charset="0"/>
              </a:rPr>
              <a:t>the </a:t>
            </a:r>
            <a:r>
              <a:rPr lang="it-IT" dirty="0" err="1">
                <a:latin typeface="Gill Sans MT" panose="020B0502020104020203" pitchFamily="34" charset="0"/>
              </a:rPr>
              <a:t>annotated</a:t>
            </a:r>
            <a:r>
              <a:rPr lang="it-IT" dirty="0">
                <a:latin typeface="Gill Sans MT" panose="020B0502020104020203" pitchFamily="34" charset="0"/>
              </a:rPr>
              <a:t> dataset</a:t>
            </a:r>
          </a:p>
          <a:p>
            <a:r>
              <a:rPr lang="it-IT" dirty="0" err="1">
                <a:latin typeface="Gill Sans MT" panose="020B0502020104020203" pitchFamily="34" charset="0"/>
              </a:rPr>
              <a:t>containing</a:t>
            </a:r>
            <a:r>
              <a:rPr lang="it-IT" dirty="0">
                <a:latin typeface="Gill Sans MT" panose="020B0502020104020203" pitchFamily="34" charset="0"/>
              </a:rPr>
              <a:t> </a:t>
            </a:r>
            <a:r>
              <a:rPr lang="it-IT" dirty="0" err="1">
                <a:latin typeface="Gill Sans MT" panose="020B0502020104020203" pitchFamily="34" charset="0"/>
              </a:rPr>
              <a:t>titles</a:t>
            </a:r>
            <a:r>
              <a:rPr lang="it-IT" dirty="0">
                <a:latin typeface="Gill Sans MT" panose="020B0502020104020203" pitchFamily="34" charset="0"/>
              </a:rPr>
              <a:t>, </a:t>
            </a:r>
          </a:p>
          <a:p>
            <a:r>
              <a:rPr lang="it-IT" dirty="0">
                <a:latin typeface="Gill Sans MT" panose="020B0502020104020203" pitchFamily="34" charset="0"/>
              </a:rPr>
              <a:t>abstracts and </a:t>
            </a:r>
            <a:r>
              <a:rPr lang="it-IT" dirty="0" err="1">
                <a:latin typeface="Gill Sans MT" panose="020B0502020104020203" pitchFamily="34" charset="0"/>
              </a:rPr>
              <a:t>annotated</a:t>
            </a:r>
            <a:endParaRPr lang="it-IT" dirty="0">
              <a:latin typeface="Gill Sans MT" panose="020B0502020104020203" pitchFamily="34" charset="0"/>
            </a:endParaRPr>
          </a:p>
          <a:p>
            <a:r>
              <a:rPr lang="it-IT" dirty="0" err="1">
                <a:latin typeface="Gill Sans MT" panose="020B0502020104020203" pitchFamily="34" charset="0"/>
              </a:rPr>
              <a:t>entities</a:t>
            </a:r>
            <a:r>
              <a:rPr lang="it-IT" dirty="0">
                <a:latin typeface="Gill Sans MT" panose="020B0502020104020203" pitchFamily="34" charset="0"/>
              </a:rPr>
              <a:t>.</a:t>
            </a:r>
            <a:endParaRPr lang="en-US" dirty="0">
              <a:latin typeface="Gill Sans MT" panose="020B0502020104020203" pitchFamily="34" charset="0"/>
            </a:endParaRPr>
          </a:p>
        </p:txBody>
      </p:sp>
      <p:pic>
        <p:nvPicPr>
          <p:cNvPr id="16" name="Picture 15" descr="A black arrow pointing to the right&#10;&#10;AI-generated content may be incorrect.">
            <a:extLst>
              <a:ext uri="{FF2B5EF4-FFF2-40B4-BE49-F238E27FC236}">
                <a16:creationId xmlns:a16="http://schemas.microsoft.com/office/drawing/2014/main" id="{6DADCD21-A473-756E-FFCF-689A9189999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002" t="25893" r="10528" b="27496"/>
          <a:stretch/>
        </p:blipFill>
        <p:spPr>
          <a:xfrm rot="5400000">
            <a:off x="1448440" y="2473019"/>
            <a:ext cx="1206072" cy="464885"/>
          </a:xfrm>
          <a:prstGeom prst="rect">
            <a:avLst/>
          </a:prstGeom>
        </p:spPr>
      </p:pic>
      <p:pic>
        <p:nvPicPr>
          <p:cNvPr id="18" name="Picture 17" descr="A black and white gear&#10;&#10;AI-generated content may be incorrect.">
            <a:extLst>
              <a:ext uri="{FF2B5EF4-FFF2-40B4-BE49-F238E27FC236}">
                <a16:creationId xmlns:a16="http://schemas.microsoft.com/office/drawing/2014/main" id="{13CE69D5-CD2C-6169-24B4-E5BCC9F8E45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023" t="4743" r="18023" b="9102"/>
          <a:stretch/>
        </p:blipFill>
        <p:spPr>
          <a:xfrm>
            <a:off x="2739784" y="3274925"/>
            <a:ext cx="1345357" cy="1206071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BA172365-55AC-2806-18A6-4C1BE0BEF1FC}"/>
              </a:ext>
            </a:extLst>
          </p:cNvPr>
          <p:cNvSpPr txBox="1"/>
          <p:nvPr/>
        </p:nvSpPr>
        <p:spPr>
          <a:xfrm>
            <a:off x="300504" y="3416295"/>
            <a:ext cx="2620141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>
                <a:latin typeface="Gill Sans MT" panose="020B0502020104020203" pitchFamily="34" charset="0"/>
              </a:rPr>
              <a:t>2) </a:t>
            </a:r>
            <a:r>
              <a:rPr lang="it-IT" b="1" dirty="0" err="1">
                <a:latin typeface="Gill Sans MT" panose="020B0502020104020203" pitchFamily="34" charset="0"/>
              </a:rPr>
              <a:t>Initialize</a:t>
            </a:r>
            <a:r>
              <a:rPr lang="it-IT" b="1" dirty="0">
                <a:latin typeface="Gill Sans MT" panose="020B0502020104020203" pitchFamily="34" charset="0"/>
              </a:rPr>
              <a:t> </a:t>
            </a:r>
            <a:r>
              <a:rPr lang="it-IT" b="1" dirty="0" err="1">
                <a:latin typeface="Gill Sans MT" panose="020B0502020104020203" pitchFamily="34" charset="0"/>
              </a:rPr>
              <a:t>Tokenizer</a:t>
            </a:r>
            <a:r>
              <a:rPr lang="it-IT" dirty="0">
                <a:latin typeface="Gill Sans MT" panose="020B0502020104020203" pitchFamily="34" charset="0"/>
              </a:rPr>
              <a:t>:</a:t>
            </a:r>
          </a:p>
          <a:p>
            <a:r>
              <a:rPr lang="it-IT" dirty="0" err="1">
                <a:latin typeface="Gill Sans MT" panose="020B0502020104020203" pitchFamily="34" charset="0"/>
              </a:rPr>
              <a:t>Tokenizer</a:t>
            </a:r>
            <a:r>
              <a:rPr lang="it-IT" dirty="0">
                <a:latin typeface="Gill Sans MT" panose="020B0502020104020203" pitchFamily="34" charset="0"/>
              </a:rPr>
              <a:t> breaks down</a:t>
            </a:r>
          </a:p>
          <a:p>
            <a:r>
              <a:rPr lang="it-IT" dirty="0">
                <a:latin typeface="Gill Sans MT" panose="020B0502020104020203" pitchFamily="34" charset="0"/>
              </a:rPr>
              <a:t>text </a:t>
            </a:r>
            <a:r>
              <a:rPr lang="it-IT" dirty="0" err="1">
                <a:latin typeface="Gill Sans MT" panose="020B0502020104020203" pitchFamily="34" charset="0"/>
              </a:rPr>
              <a:t>into</a:t>
            </a:r>
            <a:r>
              <a:rPr lang="it-IT" dirty="0">
                <a:latin typeface="Gill Sans MT" panose="020B0502020104020203" pitchFamily="34" charset="0"/>
              </a:rPr>
              <a:t> tokens, making </a:t>
            </a:r>
            <a:r>
              <a:rPr lang="it-IT" dirty="0" err="1">
                <a:latin typeface="Gill Sans MT" panose="020B0502020104020203" pitchFamily="34" charset="0"/>
              </a:rPr>
              <a:t>it</a:t>
            </a:r>
            <a:endParaRPr lang="it-IT" dirty="0">
              <a:latin typeface="Gill Sans MT" panose="020B0502020104020203" pitchFamily="34" charset="0"/>
            </a:endParaRPr>
          </a:p>
          <a:p>
            <a:r>
              <a:rPr lang="it-IT" dirty="0">
                <a:latin typeface="Gill Sans MT" panose="020B0502020104020203" pitchFamily="34" charset="0"/>
              </a:rPr>
              <a:t>ready for the model </a:t>
            </a:r>
          </a:p>
          <a:p>
            <a:r>
              <a:rPr lang="it-IT" dirty="0">
                <a:latin typeface="Gill Sans MT" panose="020B0502020104020203" pitchFamily="34" charset="0"/>
              </a:rPr>
              <a:t>input.</a:t>
            </a:r>
            <a:endParaRPr lang="en-US" dirty="0">
              <a:latin typeface="Gill Sans MT" panose="020B0502020104020203" pitchFamily="34" charset="0"/>
            </a:endParaRPr>
          </a:p>
        </p:txBody>
      </p:sp>
      <p:pic>
        <p:nvPicPr>
          <p:cNvPr id="20" name="Picture 19" descr="A black arrow pointing to the right&#10;&#10;AI-generated content may be incorrect.">
            <a:extLst>
              <a:ext uri="{FF2B5EF4-FFF2-40B4-BE49-F238E27FC236}">
                <a16:creationId xmlns:a16="http://schemas.microsoft.com/office/drawing/2014/main" id="{2233C47E-C812-ECAD-7967-D7F18F6FDD1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002" t="25893" r="10528" b="27496"/>
          <a:stretch/>
        </p:blipFill>
        <p:spPr>
          <a:xfrm rot="18185157">
            <a:off x="3225697" y="1836266"/>
            <a:ext cx="2848099" cy="1097810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26E0E4D4-21BE-7BCC-80E9-AEC12B7278F0}"/>
              </a:ext>
            </a:extLst>
          </p:cNvPr>
          <p:cNvSpPr txBox="1"/>
          <p:nvPr/>
        </p:nvSpPr>
        <p:spPr>
          <a:xfrm>
            <a:off x="2462298" y="4412890"/>
            <a:ext cx="19368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>
                <a:latin typeface="Gill Sans MT" panose="020B0502020104020203" pitchFamily="34" charset="0"/>
              </a:rPr>
              <a:t>DE-BERTa-v3-large</a:t>
            </a:r>
            <a:endParaRPr lang="en-US" dirty="0">
              <a:latin typeface="Gill Sans MT" panose="020B0502020104020203" pitchFamily="34" charset="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DAAAF7F-F331-2447-3E1D-7B9596EF6CD6}"/>
              </a:ext>
            </a:extLst>
          </p:cNvPr>
          <p:cNvSpPr txBox="1"/>
          <p:nvPr/>
        </p:nvSpPr>
        <p:spPr>
          <a:xfrm>
            <a:off x="5459786" y="657429"/>
            <a:ext cx="3684214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>
                <a:latin typeface="Gill Sans MT" panose="020B0502020104020203" pitchFamily="34" charset="0"/>
              </a:rPr>
              <a:t>3) </a:t>
            </a:r>
            <a:r>
              <a:rPr lang="it-IT" b="1" dirty="0" err="1">
                <a:latin typeface="Gill Sans MT" panose="020B0502020104020203" pitchFamily="34" charset="0"/>
              </a:rPr>
              <a:t>Preprocess</a:t>
            </a:r>
            <a:r>
              <a:rPr lang="it-IT" b="1" dirty="0">
                <a:latin typeface="Gill Sans MT" panose="020B0502020104020203" pitchFamily="34" charset="0"/>
              </a:rPr>
              <a:t> Data</a:t>
            </a:r>
            <a:r>
              <a:rPr lang="it-IT" dirty="0">
                <a:latin typeface="Gill Sans MT" panose="020B0502020104020203" pitchFamily="34" charset="0"/>
              </a:rPr>
              <a:t>: combine </a:t>
            </a:r>
            <a:r>
              <a:rPr lang="it-IT" dirty="0" err="1">
                <a:latin typeface="Gill Sans MT" panose="020B0502020104020203" pitchFamily="34" charset="0"/>
              </a:rPr>
              <a:t>titles</a:t>
            </a:r>
            <a:r>
              <a:rPr lang="it-IT" dirty="0">
                <a:latin typeface="Gill Sans MT" panose="020B0502020104020203" pitchFamily="34" charset="0"/>
              </a:rPr>
              <a:t> </a:t>
            </a:r>
          </a:p>
          <a:p>
            <a:r>
              <a:rPr lang="it-IT" dirty="0">
                <a:latin typeface="Gill Sans MT" panose="020B0502020104020203" pitchFamily="34" charset="0"/>
              </a:rPr>
              <a:t>and abstracts,  </a:t>
            </a:r>
            <a:r>
              <a:rPr lang="it-IT" dirty="0" err="1">
                <a:latin typeface="Gill Sans MT" panose="020B0502020104020203" pitchFamily="34" charset="0"/>
              </a:rPr>
              <a:t>convert</a:t>
            </a:r>
            <a:r>
              <a:rPr lang="it-IT" dirty="0">
                <a:latin typeface="Gill Sans MT" panose="020B0502020104020203" pitchFamily="34" charset="0"/>
              </a:rPr>
              <a:t> </a:t>
            </a:r>
            <a:r>
              <a:rPr lang="it-IT" dirty="0" err="1">
                <a:latin typeface="Gill Sans MT" panose="020B0502020104020203" pitchFamily="34" charset="0"/>
              </a:rPr>
              <a:t>character</a:t>
            </a:r>
            <a:endParaRPr lang="it-IT" dirty="0">
              <a:latin typeface="Gill Sans MT" panose="020B0502020104020203" pitchFamily="34" charset="0"/>
            </a:endParaRPr>
          </a:p>
          <a:p>
            <a:r>
              <a:rPr lang="it-IT" dirty="0" err="1">
                <a:latin typeface="Gill Sans MT" panose="020B0502020104020203" pitchFamily="34" charset="0"/>
              </a:rPr>
              <a:t>level</a:t>
            </a:r>
            <a:r>
              <a:rPr lang="it-IT" dirty="0">
                <a:latin typeface="Gill Sans MT" panose="020B0502020104020203" pitchFamily="34" charset="0"/>
              </a:rPr>
              <a:t> </a:t>
            </a:r>
            <a:r>
              <a:rPr lang="it-IT" dirty="0" err="1">
                <a:latin typeface="Gill Sans MT" panose="020B0502020104020203" pitchFamily="34" charset="0"/>
              </a:rPr>
              <a:t>entity</a:t>
            </a:r>
            <a:r>
              <a:rPr lang="it-IT" dirty="0">
                <a:latin typeface="Gill Sans MT" panose="020B0502020104020203" pitchFamily="34" charset="0"/>
              </a:rPr>
              <a:t> </a:t>
            </a:r>
            <a:r>
              <a:rPr lang="it-IT" dirty="0" err="1">
                <a:latin typeface="Gill Sans MT" panose="020B0502020104020203" pitchFamily="34" charset="0"/>
              </a:rPr>
              <a:t>annotations</a:t>
            </a:r>
            <a:r>
              <a:rPr lang="it-IT" dirty="0">
                <a:latin typeface="Gill Sans MT" panose="020B0502020104020203" pitchFamily="34" charset="0"/>
              </a:rPr>
              <a:t> </a:t>
            </a:r>
            <a:r>
              <a:rPr lang="it-IT" dirty="0" err="1">
                <a:latin typeface="Gill Sans MT" panose="020B0502020104020203" pitchFamily="34" charset="0"/>
              </a:rPr>
              <a:t>into</a:t>
            </a:r>
            <a:r>
              <a:rPr lang="it-IT" dirty="0">
                <a:latin typeface="Gill Sans MT" panose="020B0502020104020203" pitchFamily="34" charset="0"/>
              </a:rPr>
              <a:t> token</a:t>
            </a:r>
          </a:p>
          <a:p>
            <a:r>
              <a:rPr lang="it-IT" dirty="0" err="1">
                <a:latin typeface="Gill Sans MT" panose="020B0502020104020203" pitchFamily="34" charset="0"/>
              </a:rPr>
              <a:t>level</a:t>
            </a:r>
            <a:r>
              <a:rPr lang="it-IT" dirty="0">
                <a:latin typeface="Gill Sans MT" panose="020B0502020104020203" pitchFamily="34" charset="0"/>
              </a:rPr>
              <a:t> </a:t>
            </a:r>
            <a:r>
              <a:rPr lang="it-IT" dirty="0" err="1">
                <a:latin typeface="Gill Sans MT" panose="020B0502020104020203" pitchFamily="34" charset="0"/>
              </a:rPr>
              <a:t>spans</a:t>
            </a:r>
            <a:r>
              <a:rPr lang="it-IT" dirty="0">
                <a:latin typeface="Gill Sans MT" panose="020B0502020104020203" pitchFamily="34" charset="0"/>
              </a:rPr>
              <a:t> </a:t>
            </a:r>
            <a:r>
              <a:rPr lang="it-IT" dirty="0" err="1">
                <a:latin typeface="Gill Sans MT" panose="020B0502020104020203" pitchFamily="34" charset="0"/>
              </a:rPr>
              <a:t>using</a:t>
            </a:r>
            <a:r>
              <a:rPr lang="it-IT" dirty="0">
                <a:latin typeface="Gill Sans MT" panose="020B0502020104020203" pitchFamily="34" charset="0"/>
              </a:rPr>
              <a:t> </a:t>
            </a:r>
            <a:r>
              <a:rPr lang="it-IT" dirty="0" err="1">
                <a:latin typeface="Gill Sans MT" panose="020B0502020104020203" pitchFamily="34" charset="0"/>
              </a:rPr>
              <a:t>tokenizer’s</a:t>
            </a:r>
            <a:r>
              <a:rPr lang="it-IT" dirty="0">
                <a:latin typeface="Gill Sans MT" panose="020B0502020104020203" pitchFamily="34" charset="0"/>
              </a:rPr>
              <a:t> offset</a:t>
            </a:r>
          </a:p>
          <a:p>
            <a:r>
              <a:rPr lang="it-IT" dirty="0">
                <a:latin typeface="Gill Sans MT" panose="020B0502020104020203" pitchFamily="34" charset="0"/>
              </a:rPr>
              <a:t>mapping.</a:t>
            </a:r>
            <a:endParaRPr lang="en-US" dirty="0">
              <a:latin typeface="Gill Sans MT" panose="020B0502020104020203" pitchFamily="34" charset="0"/>
            </a:endParaRPr>
          </a:p>
        </p:txBody>
      </p:sp>
      <p:pic>
        <p:nvPicPr>
          <p:cNvPr id="29" name="Picture 28" descr="A diagram of a step in a row&#10;&#10;AI-generated content may be incorrect.">
            <a:extLst>
              <a:ext uri="{FF2B5EF4-FFF2-40B4-BE49-F238E27FC236}">
                <a16:creationId xmlns:a16="http://schemas.microsoft.com/office/drawing/2014/main" id="{408D0290-0682-CE02-6781-7177014C014D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86182" y="2285831"/>
            <a:ext cx="3857314" cy="1926804"/>
          </a:xfrm>
          <a:prstGeom prst="rect">
            <a:avLst/>
          </a:prstGeom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9628E4E0-A8FF-86B2-8700-5A557BEE00E0}"/>
              </a:ext>
            </a:extLst>
          </p:cNvPr>
          <p:cNvSpPr txBox="1"/>
          <p:nvPr/>
        </p:nvSpPr>
        <p:spPr>
          <a:xfrm>
            <a:off x="5064000" y="3754849"/>
            <a:ext cx="369043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2000" dirty="0"/>
              <a:t>[0]  [1]  [2]  [3]  [4]  [5]  [6]  [7]  [8]</a:t>
            </a:r>
            <a:endParaRPr lang="en-US" sz="20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CB57A7D-A232-575D-7F46-67388BC9AE47}"/>
              </a:ext>
            </a:extLst>
          </p:cNvPr>
          <p:cNvSpPr txBox="1"/>
          <p:nvPr/>
        </p:nvSpPr>
        <p:spPr>
          <a:xfrm>
            <a:off x="7422076" y="4667641"/>
            <a:ext cx="14013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>
                <a:latin typeface="Gill Sans MT" panose="020B0502020104020203" pitchFamily="34" charset="0"/>
              </a:rPr>
              <a:t>Samuel Piron</a:t>
            </a:r>
            <a:endParaRPr lang="en-US" dirty="0">
              <a:latin typeface="Gill Sans MT" panose="020B0502020104020203" pitchFamily="34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7F70771-AD2E-CD8D-BF13-96D8795681FD}"/>
              </a:ext>
            </a:extLst>
          </p:cNvPr>
          <p:cNvSpPr txBox="1"/>
          <p:nvPr/>
        </p:nvSpPr>
        <p:spPr>
          <a:xfrm>
            <a:off x="3483327" y="892382"/>
            <a:ext cx="132279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>
                <a:latin typeface="Gill Sans MT" panose="020B0502020104020203" pitchFamily="34" charset="0"/>
              </a:rPr>
              <a:t>Train</a:t>
            </a:r>
          </a:p>
          <a:p>
            <a:r>
              <a:rPr lang="it-IT" dirty="0" err="1">
                <a:latin typeface="Gill Sans MT" panose="020B0502020104020203" pitchFamily="34" charset="0"/>
              </a:rPr>
              <a:t>merged.json</a:t>
            </a:r>
            <a:endParaRPr lang="en-US" dirty="0">
              <a:latin typeface="Gill Sans MT" panose="020B05020201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1237510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181ECE-293F-A81C-94AA-C0C9BA2FC3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Picture 24" descr="A black and white symbol with ribbons&#10;&#10;AI-generated content may be incorrect.">
            <a:extLst>
              <a:ext uri="{FF2B5EF4-FFF2-40B4-BE49-F238E27FC236}">
                <a16:creationId xmlns:a16="http://schemas.microsoft.com/office/drawing/2014/main" id="{13724A94-BC02-B2EE-68A6-D902EDA01BE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943" t="16381" r="22443" b="16803"/>
          <a:stretch/>
        </p:blipFill>
        <p:spPr>
          <a:xfrm>
            <a:off x="7934150" y="3306255"/>
            <a:ext cx="1123629" cy="1482850"/>
          </a:xfrm>
          <a:prstGeom prst="rect">
            <a:avLst/>
          </a:prstGeom>
        </p:spPr>
      </p:pic>
      <p:pic>
        <p:nvPicPr>
          <p:cNvPr id="4" name="Picture 3" descr="A black calculator with white dots&#10;&#10;AI-generated content may be incorrect.">
            <a:extLst>
              <a:ext uri="{FF2B5EF4-FFF2-40B4-BE49-F238E27FC236}">
                <a16:creationId xmlns:a16="http://schemas.microsoft.com/office/drawing/2014/main" id="{1B9530B2-C59C-6778-2AA7-2D6B0D10AE2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16719" y="569500"/>
            <a:ext cx="1156426" cy="1156426"/>
          </a:xfrm>
          <a:prstGeom prst="rect">
            <a:avLst/>
          </a:prstGeom>
        </p:spPr>
      </p:pic>
      <p:sp>
        <p:nvSpPr>
          <p:cNvPr id="2" name="Titolo 1">
            <a:extLst>
              <a:ext uri="{FF2B5EF4-FFF2-40B4-BE49-F238E27FC236}">
                <a16:creationId xmlns:a16="http://schemas.microsoft.com/office/drawing/2014/main" id="{FDB063F5-6376-9617-6840-6D433C50BA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725" y="172986"/>
            <a:ext cx="8374549" cy="384721"/>
          </a:xfrm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it-IT" b="1" dirty="0">
                <a:latin typeface="Gill Sans MT"/>
              </a:rPr>
              <a:t>NER Model – Train Pipeline (II)</a:t>
            </a:r>
            <a:endParaRPr lang="it-IT" dirty="0">
              <a:latin typeface="Gill Sans MT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E30A413-6449-41A6-24DC-8677A09D0F89}"/>
              </a:ext>
            </a:extLst>
          </p:cNvPr>
          <p:cNvSpPr txBox="1"/>
          <p:nvPr/>
        </p:nvSpPr>
        <p:spPr>
          <a:xfrm>
            <a:off x="498021" y="139609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6F88E12-66A9-2B2A-73A4-F3AB3E1BE164}"/>
              </a:ext>
            </a:extLst>
          </p:cNvPr>
          <p:cNvSpPr txBox="1"/>
          <p:nvPr/>
        </p:nvSpPr>
        <p:spPr>
          <a:xfrm>
            <a:off x="241714" y="731249"/>
            <a:ext cx="3737242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>
                <a:latin typeface="Gill Sans MT" panose="020B0502020104020203" pitchFamily="34" charset="0"/>
              </a:rPr>
              <a:t>4) </a:t>
            </a:r>
            <a:r>
              <a:rPr lang="it-IT" b="1" dirty="0" err="1">
                <a:latin typeface="Gill Sans MT" panose="020B0502020104020203" pitchFamily="34" charset="0"/>
              </a:rPr>
              <a:t>Define</a:t>
            </a:r>
            <a:r>
              <a:rPr lang="it-IT" b="1" dirty="0">
                <a:latin typeface="Gill Sans MT" panose="020B0502020104020203" pitchFamily="34" charset="0"/>
              </a:rPr>
              <a:t> </a:t>
            </a:r>
            <a:r>
              <a:rPr lang="it-IT" b="1" dirty="0" err="1">
                <a:latin typeface="Gill Sans MT" panose="020B0502020104020203" pitchFamily="34" charset="0"/>
              </a:rPr>
              <a:t>Hyperparameters</a:t>
            </a:r>
            <a:r>
              <a:rPr lang="it-IT" b="1" dirty="0">
                <a:latin typeface="Gill Sans MT" panose="020B0502020104020203" pitchFamily="34" charset="0"/>
              </a:rPr>
              <a:t>:</a:t>
            </a:r>
          </a:p>
          <a:p>
            <a:r>
              <a:rPr lang="it-IT" dirty="0">
                <a:latin typeface="Gill Sans MT" panose="020B0502020104020203" pitchFamily="34" charset="0"/>
              </a:rPr>
              <a:t>Set </a:t>
            </a:r>
            <a:r>
              <a:rPr lang="it-IT" dirty="0" err="1">
                <a:latin typeface="Gill Sans MT" panose="020B0502020104020203" pitchFamily="34" charset="0"/>
              </a:rPr>
              <a:t>parameters</a:t>
            </a:r>
            <a:r>
              <a:rPr lang="it-IT" dirty="0">
                <a:latin typeface="Gill Sans MT" panose="020B0502020104020203" pitchFamily="34" charset="0"/>
              </a:rPr>
              <a:t> </a:t>
            </a:r>
            <a:r>
              <a:rPr lang="it-IT" dirty="0" err="1">
                <a:latin typeface="Gill Sans MT" panose="020B0502020104020203" pitchFamily="34" charset="0"/>
              </a:rPr>
              <a:t>such</a:t>
            </a:r>
            <a:r>
              <a:rPr lang="it-IT" dirty="0">
                <a:latin typeface="Gill Sans MT" panose="020B0502020104020203" pitchFamily="34" charset="0"/>
              </a:rPr>
              <a:t> </a:t>
            </a:r>
            <a:r>
              <a:rPr lang="it-IT" dirty="0" err="1">
                <a:latin typeface="Gill Sans MT" panose="020B0502020104020203" pitchFamily="34" charset="0"/>
              </a:rPr>
              <a:t>as</a:t>
            </a:r>
            <a:r>
              <a:rPr lang="it-IT" dirty="0">
                <a:latin typeface="Gill Sans MT" panose="020B0502020104020203" pitchFamily="34" charset="0"/>
              </a:rPr>
              <a:t> batch size,</a:t>
            </a:r>
          </a:p>
          <a:p>
            <a:r>
              <a:rPr lang="it-IT" dirty="0">
                <a:latin typeface="Gill Sans MT" panose="020B0502020104020203" pitchFamily="34" charset="0"/>
              </a:rPr>
              <a:t>learning rate, </a:t>
            </a:r>
            <a:r>
              <a:rPr lang="it-IT" dirty="0" err="1">
                <a:latin typeface="Gill Sans MT" panose="020B0502020104020203" pitchFamily="34" charset="0"/>
              </a:rPr>
              <a:t>num</a:t>
            </a:r>
            <a:r>
              <a:rPr lang="it-IT" dirty="0">
                <a:latin typeface="Gill Sans MT" panose="020B0502020104020203" pitchFamily="34" charset="0"/>
              </a:rPr>
              <a:t>. of training steps,</a:t>
            </a:r>
          </a:p>
          <a:p>
            <a:r>
              <a:rPr lang="it-IT" dirty="0" err="1">
                <a:latin typeface="Gill Sans MT" panose="020B0502020104020203" pitchFamily="34" charset="0"/>
              </a:rPr>
              <a:t>warmup</a:t>
            </a:r>
            <a:r>
              <a:rPr lang="it-IT" dirty="0">
                <a:latin typeface="Gill Sans MT" panose="020B0502020104020203" pitchFamily="34" charset="0"/>
              </a:rPr>
              <a:t> ratio and </a:t>
            </a:r>
            <a:r>
              <a:rPr lang="it-IT" dirty="0" err="1">
                <a:latin typeface="Gill Sans MT" panose="020B0502020104020203" pitchFamily="34" charset="0"/>
              </a:rPr>
              <a:t>others</a:t>
            </a:r>
            <a:r>
              <a:rPr lang="it-IT" dirty="0">
                <a:latin typeface="Gill Sans MT" panose="020B0502020104020203" pitchFamily="34" charset="0"/>
              </a:rPr>
              <a:t> for training</a:t>
            </a:r>
          </a:p>
          <a:p>
            <a:r>
              <a:rPr lang="it-IT" dirty="0" err="1">
                <a:latin typeface="Gill Sans MT" panose="020B0502020104020203" pitchFamily="34" charset="0"/>
              </a:rPr>
              <a:t>stability</a:t>
            </a:r>
            <a:r>
              <a:rPr lang="it-IT" dirty="0">
                <a:latin typeface="Gill Sans MT" panose="020B0502020104020203" pitchFamily="34" charset="0"/>
              </a:rPr>
              <a:t>.</a:t>
            </a:r>
          </a:p>
        </p:txBody>
      </p:sp>
      <p:pic>
        <p:nvPicPr>
          <p:cNvPr id="16" name="Picture 15" descr="A black arrow pointing to the right&#10;&#10;AI-generated content may be incorrect.">
            <a:extLst>
              <a:ext uri="{FF2B5EF4-FFF2-40B4-BE49-F238E27FC236}">
                <a16:creationId xmlns:a16="http://schemas.microsoft.com/office/drawing/2014/main" id="{518A5B9F-3317-B806-D679-709C570339E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002" t="25893" r="10528" b="27496"/>
          <a:stretch/>
        </p:blipFill>
        <p:spPr>
          <a:xfrm rot="5400000">
            <a:off x="1448440" y="2473019"/>
            <a:ext cx="1206072" cy="464885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B4B4E7B5-F1B7-4F0C-7043-B7954C2A87AD}"/>
              </a:ext>
            </a:extLst>
          </p:cNvPr>
          <p:cNvSpPr txBox="1"/>
          <p:nvPr/>
        </p:nvSpPr>
        <p:spPr>
          <a:xfrm>
            <a:off x="129475" y="3298525"/>
            <a:ext cx="3412666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>
                <a:latin typeface="Gill Sans MT" panose="020B0502020104020203" pitchFamily="34" charset="0"/>
              </a:rPr>
              <a:t>5) </a:t>
            </a:r>
            <a:r>
              <a:rPr lang="it-IT" b="1" dirty="0">
                <a:latin typeface="Gill Sans MT" panose="020B0502020104020203" pitchFamily="34" charset="0"/>
              </a:rPr>
              <a:t>Model Setup</a:t>
            </a:r>
            <a:r>
              <a:rPr lang="it-IT" dirty="0">
                <a:latin typeface="Gill Sans MT" panose="020B0502020104020203" pitchFamily="34" charset="0"/>
              </a:rPr>
              <a:t>: </a:t>
            </a:r>
            <a:r>
              <a:rPr lang="it-IT" dirty="0" err="1">
                <a:latin typeface="Gill Sans MT" panose="020B0502020104020203" pitchFamily="34" charset="0"/>
              </a:rPr>
              <a:t>initialize</a:t>
            </a:r>
            <a:r>
              <a:rPr lang="it-IT" dirty="0">
                <a:latin typeface="Gill Sans MT" panose="020B0502020104020203" pitchFamily="34" charset="0"/>
              </a:rPr>
              <a:t> </a:t>
            </a:r>
            <a:r>
              <a:rPr lang="it-IT" b="1" dirty="0">
                <a:latin typeface="Gill Sans MT" panose="020B0502020104020203" pitchFamily="34" charset="0"/>
              </a:rPr>
              <a:t>NER</a:t>
            </a:r>
          </a:p>
          <a:p>
            <a:r>
              <a:rPr lang="it-IT" dirty="0">
                <a:latin typeface="Gill Sans MT" panose="020B0502020104020203" pitchFamily="34" charset="0"/>
              </a:rPr>
              <a:t>model </a:t>
            </a:r>
            <a:r>
              <a:rPr lang="it-IT" dirty="0" err="1">
                <a:latin typeface="Gill Sans MT" panose="020B0502020104020203" pitchFamily="34" charset="0"/>
              </a:rPr>
              <a:t>using</a:t>
            </a:r>
            <a:r>
              <a:rPr lang="it-IT" dirty="0">
                <a:latin typeface="Gill Sans MT" panose="020B0502020104020203" pitchFamily="34" charset="0"/>
              </a:rPr>
              <a:t> </a:t>
            </a:r>
            <a:r>
              <a:rPr lang="it-IT" dirty="0" err="1">
                <a:latin typeface="Gill Sans MT" panose="020B0502020104020203" pitchFamily="34" charset="0"/>
              </a:rPr>
              <a:t>GLiNER</a:t>
            </a:r>
            <a:r>
              <a:rPr lang="it-IT" dirty="0">
                <a:latin typeface="Gill Sans MT" panose="020B0502020104020203" pitchFamily="34" charset="0"/>
              </a:rPr>
              <a:t> with </a:t>
            </a:r>
            <a:r>
              <a:rPr lang="it-IT" dirty="0" err="1">
                <a:latin typeface="Gill Sans MT" panose="020B0502020104020203" pitchFamily="34" charset="0"/>
              </a:rPr>
              <a:t>pre</a:t>
            </a:r>
            <a:r>
              <a:rPr lang="it-IT" dirty="0">
                <a:latin typeface="Gill Sans MT" panose="020B0502020104020203" pitchFamily="34" charset="0"/>
              </a:rPr>
              <a:t>-</a:t>
            </a:r>
          </a:p>
          <a:p>
            <a:r>
              <a:rPr lang="it-IT" dirty="0" err="1">
                <a:latin typeface="Gill Sans MT" panose="020B0502020104020203" pitchFamily="34" charset="0"/>
              </a:rPr>
              <a:t>trained</a:t>
            </a:r>
            <a:r>
              <a:rPr lang="it-IT" dirty="0">
                <a:latin typeface="Gill Sans MT" panose="020B0502020104020203" pitchFamily="34" charset="0"/>
              </a:rPr>
              <a:t> weights (</a:t>
            </a:r>
            <a:r>
              <a:rPr lang="it-IT" dirty="0" err="1">
                <a:latin typeface="Gill Sans MT" panose="020B0502020104020203" pitchFamily="34" charset="0"/>
              </a:rPr>
              <a:t>numind</a:t>
            </a:r>
            <a:r>
              <a:rPr lang="it-IT" dirty="0">
                <a:latin typeface="Gill Sans MT" panose="020B0502020104020203" pitchFamily="34" charset="0"/>
              </a:rPr>
              <a:t>/</a:t>
            </a:r>
            <a:r>
              <a:rPr lang="it-IT" dirty="0" err="1">
                <a:latin typeface="Gill Sans MT" panose="020B0502020104020203" pitchFamily="34" charset="0"/>
              </a:rPr>
              <a:t>NuNuner</a:t>
            </a:r>
            <a:endParaRPr lang="it-IT" dirty="0">
              <a:latin typeface="Gill Sans MT" panose="020B0502020104020203" pitchFamily="34" charset="0"/>
            </a:endParaRPr>
          </a:p>
          <a:p>
            <a:r>
              <a:rPr lang="it-IT" dirty="0">
                <a:latin typeface="Gill Sans MT" panose="020B0502020104020203" pitchFamily="34" charset="0"/>
              </a:rPr>
              <a:t>Zero) and </a:t>
            </a:r>
            <a:r>
              <a:rPr lang="it-IT" dirty="0" err="1">
                <a:latin typeface="Gill Sans MT" panose="020B0502020104020203" pitchFamily="34" charset="0"/>
              </a:rPr>
              <a:t>configure</a:t>
            </a:r>
            <a:r>
              <a:rPr lang="it-IT" dirty="0">
                <a:latin typeface="Gill Sans MT" panose="020B0502020104020203" pitchFamily="34" charset="0"/>
              </a:rPr>
              <a:t> sampling </a:t>
            </a:r>
          </a:p>
          <a:p>
            <a:r>
              <a:rPr lang="it-IT" dirty="0" err="1">
                <a:latin typeface="Gill Sans MT" panose="020B0502020104020203" pitchFamily="34" charset="0"/>
              </a:rPr>
              <a:t>parameters</a:t>
            </a:r>
            <a:r>
              <a:rPr lang="it-IT" dirty="0">
                <a:latin typeface="Gill Sans MT" panose="020B0502020104020203" pitchFamily="34" charset="0"/>
              </a:rPr>
              <a:t> to handle training </a:t>
            </a:r>
          </a:p>
          <a:p>
            <a:r>
              <a:rPr lang="it-IT" dirty="0" err="1">
                <a:latin typeface="Gill Sans MT" panose="020B0502020104020203" pitchFamily="34" charset="0"/>
              </a:rPr>
              <a:t>complexity</a:t>
            </a:r>
            <a:r>
              <a:rPr lang="it-IT" dirty="0">
                <a:latin typeface="Gill Sans MT" panose="020B0502020104020203" pitchFamily="34" charset="0"/>
              </a:rPr>
              <a:t>.</a:t>
            </a:r>
          </a:p>
        </p:txBody>
      </p:sp>
      <p:pic>
        <p:nvPicPr>
          <p:cNvPr id="20" name="Picture 19" descr="A black arrow pointing to the right&#10;&#10;AI-generated content may be incorrect.">
            <a:extLst>
              <a:ext uri="{FF2B5EF4-FFF2-40B4-BE49-F238E27FC236}">
                <a16:creationId xmlns:a16="http://schemas.microsoft.com/office/drawing/2014/main" id="{DF7AB335-7691-EF89-B77C-8E1CC86E31C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002" t="25893" r="10528" b="27496"/>
          <a:stretch/>
        </p:blipFill>
        <p:spPr>
          <a:xfrm rot="18185157">
            <a:off x="3225697" y="1836266"/>
            <a:ext cx="2848099" cy="1097810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DB499EF9-B042-4897-4361-27FEDEC89CB4}"/>
              </a:ext>
            </a:extLst>
          </p:cNvPr>
          <p:cNvSpPr txBox="1"/>
          <p:nvPr/>
        </p:nvSpPr>
        <p:spPr>
          <a:xfrm>
            <a:off x="5454666" y="691447"/>
            <a:ext cx="3554178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>
                <a:latin typeface="Gill Sans MT" panose="020B0502020104020203" pitchFamily="34" charset="0"/>
              </a:rPr>
              <a:t>6) </a:t>
            </a:r>
            <a:r>
              <a:rPr lang="it-IT" b="1" dirty="0">
                <a:latin typeface="Gill Sans MT" panose="020B0502020104020203" pitchFamily="34" charset="0"/>
              </a:rPr>
              <a:t>Training Loops: </a:t>
            </a:r>
            <a:r>
              <a:rPr lang="it-IT" dirty="0">
                <a:latin typeface="Gill Sans MT" panose="020B0502020104020203" pitchFamily="34" charset="0"/>
              </a:rPr>
              <a:t>iterate </a:t>
            </a:r>
            <a:r>
              <a:rPr lang="it-IT" dirty="0" err="1">
                <a:latin typeface="Gill Sans MT" panose="020B0502020104020203" pitchFamily="34" charset="0"/>
              </a:rPr>
              <a:t>through</a:t>
            </a:r>
            <a:endParaRPr lang="it-IT" dirty="0">
              <a:latin typeface="Gill Sans MT" panose="020B0502020104020203" pitchFamily="34" charset="0"/>
            </a:endParaRPr>
          </a:p>
          <a:p>
            <a:r>
              <a:rPr lang="it-IT" dirty="0" err="1">
                <a:latin typeface="Gill Sans MT" panose="020B0502020104020203" pitchFamily="34" charset="0"/>
              </a:rPr>
              <a:t>batches</a:t>
            </a:r>
            <a:r>
              <a:rPr lang="it-IT" dirty="0">
                <a:latin typeface="Gill Sans MT" panose="020B0502020104020203" pitchFamily="34" charset="0"/>
              </a:rPr>
              <a:t>, </a:t>
            </a:r>
            <a:r>
              <a:rPr lang="it-IT" dirty="0" err="1">
                <a:latin typeface="Gill Sans MT" panose="020B0502020104020203" pitchFamily="34" charset="0"/>
              </a:rPr>
              <a:t>perform</a:t>
            </a:r>
            <a:r>
              <a:rPr lang="it-IT" dirty="0">
                <a:latin typeface="Gill Sans MT" panose="020B0502020104020203" pitchFamily="34" charset="0"/>
              </a:rPr>
              <a:t> </a:t>
            </a:r>
            <a:r>
              <a:rPr lang="it-IT" dirty="0" err="1">
                <a:latin typeface="Gill Sans MT" panose="020B0502020104020203" pitchFamily="34" charset="0"/>
              </a:rPr>
              <a:t>forward</a:t>
            </a:r>
            <a:r>
              <a:rPr lang="it-IT" dirty="0">
                <a:latin typeface="Gill Sans MT" panose="020B0502020104020203" pitchFamily="34" charset="0"/>
              </a:rPr>
              <a:t> pass, </a:t>
            </a:r>
          </a:p>
          <a:p>
            <a:r>
              <a:rPr lang="it-IT" dirty="0">
                <a:latin typeface="Gill Sans MT" panose="020B0502020104020203" pitchFamily="34" charset="0"/>
              </a:rPr>
              <a:t>compute </a:t>
            </a:r>
            <a:r>
              <a:rPr lang="it-IT" dirty="0" err="1">
                <a:latin typeface="Gill Sans MT" panose="020B0502020104020203" pitchFamily="34" charset="0"/>
              </a:rPr>
              <a:t>loss</a:t>
            </a:r>
            <a:r>
              <a:rPr lang="it-IT" dirty="0">
                <a:latin typeface="Gill Sans MT" panose="020B0502020104020203" pitchFamily="34" charset="0"/>
              </a:rPr>
              <a:t> and </a:t>
            </a:r>
            <a:r>
              <a:rPr lang="it-IT" dirty="0" err="1">
                <a:latin typeface="Gill Sans MT" panose="020B0502020104020203" pitchFamily="34" charset="0"/>
              </a:rPr>
              <a:t>apply</a:t>
            </a:r>
            <a:r>
              <a:rPr lang="it-IT" dirty="0">
                <a:latin typeface="Gill Sans MT" panose="020B0502020104020203" pitchFamily="34" charset="0"/>
              </a:rPr>
              <a:t> back </a:t>
            </a:r>
            <a:r>
              <a:rPr lang="it-IT" dirty="0" err="1">
                <a:latin typeface="Gill Sans MT" panose="020B0502020104020203" pitchFamily="34" charset="0"/>
              </a:rPr>
              <a:t>prop</a:t>
            </a:r>
            <a:r>
              <a:rPr lang="it-IT" dirty="0">
                <a:latin typeface="Gill Sans MT" panose="020B0502020104020203" pitchFamily="34" charset="0"/>
              </a:rPr>
              <a:t>.</a:t>
            </a:r>
          </a:p>
          <a:p>
            <a:r>
              <a:rPr lang="it-IT" dirty="0">
                <a:latin typeface="Gill Sans MT" panose="020B0502020104020203" pitchFamily="34" charset="0"/>
              </a:rPr>
              <a:t>Update model </a:t>
            </a:r>
            <a:r>
              <a:rPr lang="it-IT" dirty="0" err="1">
                <a:latin typeface="Gill Sans MT" panose="020B0502020104020203" pitchFamily="34" charset="0"/>
              </a:rPr>
              <a:t>parameters</a:t>
            </a:r>
            <a:r>
              <a:rPr lang="it-IT" dirty="0">
                <a:latin typeface="Gill Sans MT" panose="020B0502020104020203" pitchFamily="34" charset="0"/>
              </a:rPr>
              <a:t> </a:t>
            </a:r>
            <a:r>
              <a:rPr lang="it-IT" dirty="0" err="1">
                <a:latin typeface="Gill Sans MT" panose="020B0502020104020203" pitchFamily="34" charset="0"/>
              </a:rPr>
              <a:t>using</a:t>
            </a:r>
            <a:endParaRPr lang="it-IT" dirty="0">
              <a:latin typeface="Gill Sans MT" panose="020B0502020104020203" pitchFamily="34" charset="0"/>
            </a:endParaRPr>
          </a:p>
          <a:p>
            <a:r>
              <a:rPr lang="it-IT" b="1" dirty="0" err="1">
                <a:latin typeface="Gill Sans MT" panose="020B0502020104020203" pitchFamily="34" charset="0"/>
              </a:rPr>
              <a:t>AdamW</a:t>
            </a:r>
            <a:r>
              <a:rPr lang="it-IT" dirty="0">
                <a:latin typeface="Gill Sans MT" panose="020B0502020104020203" pitchFamily="34" charset="0"/>
              </a:rPr>
              <a:t> </a:t>
            </a:r>
            <a:r>
              <a:rPr lang="it-IT" dirty="0" err="1">
                <a:latin typeface="Gill Sans MT" panose="020B0502020104020203" pitchFamily="34" charset="0"/>
              </a:rPr>
              <a:t>optimizer</a:t>
            </a:r>
            <a:r>
              <a:rPr lang="it-IT" dirty="0">
                <a:latin typeface="Gill Sans MT" panose="020B0502020104020203" pitchFamily="34" charset="0"/>
              </a:rPr>
              <a:t>.</a:t>
            </a:r>
            <a:endParaRPr lang="en-US" dirty="0">
              <a:latin typeface="Gill Sans MT" panose="020B05020201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4E4DE1A-9318-0B2B-45F7-B7D879705200}"/>
              </a:ext>
            </a:extLst>
          </p:cNvPr>
          <p:cNvSpPr txBox="1"/>
          <p:nvPr/>
        </p:nvSpPr>
        <p:spPr>
          <a:xfrm>
            <a:off x="4649746" y="3530161"/>
            <a:ext cx="3366691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>
                <a:latin typeface="Gill Sans MT" panose="020B0502020104020203" pitchFamily="34" charset="0"/>
              </a:rPr>
              <a:t>7) Evaluation: </a:t>
            </a:r>
            <a:r>
              <a:rPr lang="it-IT" dirty="0" err="1">
                <a:latin typeface="Gill Sans MT" panose="020B0502020104020203" pitchFamily="34" charset="0"/>
              </a:rPr>
              <a:t>periodically</a:t>
            </a:r>
            <a:r>
              <a:rPr lang="it-IT" dirty="0">
                <a:latin typeface="Gill Sans MT" panose="020B0502020104020203" pitchFamily="34" charset="0"/>
              </a:rPr>
              <a:t> </a:t>
            </a:r>
            <a:r>
              <a:rPr lang="it-IT" dirty="0" err="1">
                <a:latin typeface="Gill Sans MT" panose="020B0502020104020203" pitchFamily="34" charset="0"/>
              </a:rPr>
              <a:t>evaluate</a:t>
            </a:r>
            <a:endParaRPr lang="it-IT" dirty="0">
              <a:latin typeface="Gill Sans MT" panose="020B0502020104020203" pitchFamily="34" charset="0"/>
            </a:endParaRPr>
          </a:p>
          <a:p>
            <a:r>
              <a:rPr lang="it-IT" dirty="0">
                <a:latin typeface="Gill Sans MT" panose="020B0502020104020203" pitchFamily="34" charset="0"/>
              </a:rPr>
              <a:t>the model performance </a:t>
            </a:r>
            <a:r>
              <a:rPr lang="it-IT" dirty="0" err="1">
                <a:latin typeface="Gill Sans MT" panose="020B0502020104020203" pitchFamily="34" charset="0"/>
              </a:rPr>
              <a:t>using</a:t>
            </a:r>
            <a:r>
              <a:rPr lang="it-IT" dirty="0">
                <a:latin typeface="Gill Sans MT" panose="020B0502020104020203" pitchFamily="34" charset="0"/>
              </a:rPr>
              <a:t> </a:t>
            </a:r>
          </a:p>
          <a:p>
            <a:r>
              <a:rPr lang="it-IT" dirty="0" err="1">
                <a:latin typeface="Gill Sans MT" panose="020B0502020104020203" pitchFamily="34" charset="0"/>
              </a:rPr>
              <a:t>validation</a:t>
            </a:r>
            <a:r>
              <a:rPr lang="it-IT" dirty="0">
                <a:latin typeface="Gill Sans MT" panose="020B0502020104020203" pitchFamily="34" charset="0"/>
              </a:rPr>
              <a:t> data (Micro and Macro, </a:t>
            </a:r>
          </a:p>
          <a:p>
            <a:r>
              <a:rPr lang="it-IT" dirty="0">
                <a:latin typeface="Gill Sans MT" panose="020B0502020104020203" pitchFamily="34" charset="0"/>
              </a:rPr>
              <a:t>F1-score, </a:t>
            </a:r>
            <a:r>
              <a:rPr lang="it-IT" dirty="0" err="1">
                <a:latin typeface="Gill Sans MT" panose="020B0502020104020203" pitchFamily="34" charset="0"/>
              </a:rPr>
              <a:t>entity-level</a:t>
            </a:r>
            <a:r>
              <a:rPr lang="it-IT" dirty="0">
                <a:latin typeface="Gill Sans MT" panose="020B0502020104020203" pitchFamily="34" charset="0"/>
              </a:rPr>
              <a:t> </a:t>
            </a:r>
            <a:r>
              <a:rPr lang="it-IT" dirty="0" err="1">
                <a:latin typeface="Gill Sans MT" panose="020B0502020104020203" pitchFamily="34" charset="0"/>
              </a:rPr>
              <a:t>accuracy</a:t>
            </a:r>
            <a:r>
              <a:rPr lang="it-IT" dirty="0">
                <a:latin typeface="Gill Sans MT" panose="020B0502020104020203" pitchFamily="34" charset="0"/>
              </a:rPr>
              <a:t>) </a:t>
            </a:r>
          </a:p>
          <a:p>
            <a:r>
              <a:rPr lang="it-IT" dirty="0">
                <a:latin typeface="Gill Sans MT" panose="020B0502020104020203" pitchFamily="34" charset="0"/>
              </a:rPr>
              <a:t>and </a:t>
            </a:r>
            <a:r>
              <a:rPr lang="it-IT" dirty="0" err="1">
                <a:latin typeface="Gill Sans MT" panose="020B0502020104020203" pitchFamily="34" charset="0"/>
              </a:rPr>
              <a:t>save</a:t>
            </a:r>
            <a:r>
              <a:rPr lang="it-IT" dirty="0">
                <a:latin typeface="Gill Sans MT" panose="020B0502020104020203" pitchFamily="34" charset="0"/>
              </a:rPr>
              <a:t> </a:t>
            </a:r>
            <a:r>
              <a:rPr lang="it-IT" dirty="0" err="1">
                <a:latin typeface="Gill Sans MT" panose="020B0502020104020203" pitchFamily="34" charset="0"/>
              </a:rPr>
              <a:t>it</a:t>
            </a:r>
            <a:r>
              <a:rPr lang="it-IT" dirty="0">
                <a:latin typeface="Gill Sans MT" panose="020B0502020104020203" pitchFamily="34" charset="0"/>
              </a:rPr>
              <a:t>.</a:t>
            </a:r>
            <a:endParaRPr lang="en-US" dirty="0">
              <a:latin typeface="Gill Sans MT" panose="020B0502020104020203" pitchFamily="34" charset="0"/>
            </a:endParaRPr>
          </a:p>
        </p:txBody>
      </p:sp>
      <p:pic>
        <p:nvPicPr>
          <p:cNvPr id="10" name="Picture 9" descr="A diagram of a network&#10;&#10;AI-generated content may be incorrect.">
            <a:extLst>
              <a:ext uri="{FF2B5EF4-FFF2-40B4-BE49-F238E27FC236}">
                <a16:creationId xmlns:a16="http://schemas.microsoft.com/office/drawing/2014/main" id="{EA714E4B-ADC5-2598-79B5-9E97FB56887F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74946" y="3530161"/>
            <a:ext cx="1574800" cy="1574800"/>
          </a:xfrm>
          <a:prstGeom prst="rect">
            <a:avLst/>
          </a:prstGeom>
        </p:spPr>
      </p:pic>
      <p:pic>
        <p:nvPicPr>
          <p:cNvPr id="12" name="Picture 11" descr="A black and white image of a loading bar&#10;&#10;AI-generated content may be incorrect.">
            <a:extLst>
              <a:ext uri="{FF2B5EF4-FFF2-40B4-BE49-F238E27FC236}">
                <a16:creationId xmlns:a16="http://schemas.microsoft.com/office/drawing/2014/main" id="{AAB79812-AC0D-7F7D-892D-86C87CF3843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0936" b="34999"/>
          <a:stretch/>
        </p:blipFill>
        <p:spPr>
          <a:xfrm>
            <a:off x="5816574" y="2260897"/>
            <a:ext cx="2121708" cy="722744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0E6CF22-00C3-07B6-008A-F2938B7945FB}"/>
              </a:ext>
            </a:extLst>
          </p:cNvPr>
          <p:cNvSpPr txBox="1"/>
          <p:nvPr/>
        </p:nvSpPr>
        <p:spPr>
          <a:xfrm>
            <a:off x="7422076" y="4667641"/>
            <a:ext cx="14013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>
                <a:latin typeface="Gill Sans MT" panose="020B0502020104020203" pitchFamily="34" charset="0"/>
              </a:rPr>
              <a:t>Samuel Piron</a:t>
            </a:r>
            <a:endParaRPr lang="en-US" dirty="0">
              <a:latin typeface="Gill Sans MT" panose="020B05020201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3066339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C2A4E9-FDDB-7EA6-2D36-C5948A632B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211F3D0-6EEB-09B9-CD36-6E21D041AC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725" y="172986"/>
            <a:ext cx="8374549" cy="384721"/>
          </a:xfrm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it-IT" b="1" dirty="0">
                <a:latin typeface="Gill Sans MT"/>
              </a:rPr>
              <a:t>NER Model – Train Pipeline (III)</a:t>
            </a:r>
            <a:endParaRPr lang="it-IT" dirty="0">
              <a:latin typeface="Gill Sans MT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13D4485-7D39-EED7-9363-FA906E6F96B9}"/>
              </a:ext>
            </a:extLst>
          </p:cNvPr>
          <p:cNvSpPr txBox="1"/>
          <p:nvPr/>
        </p:nvSpPr>
        <p:spPr>
          <a:xfrm>
            <a:off x="498021" y="139609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79B2FEBC-A15E-2C21-D443-07B346A76DC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531" r="40278"/>
          <a:stretch/>
        </p:blipFill>
        <p:spPr>
          <a:xfrm>
            <a:off x="4462458" y="1044832"/>
            <a:ext cx="4452942" cy="3053834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11EF6519-00D6-AED3-A2E7-263C76F315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335" y="1044832"/>
            <a:ext cx="4059589" cy="3053835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BEAB2F93-1948-A094-EA96-B10794F633BF}"/>
              </a:ext>
            </a:extLst>
          </p:cNvPr>
          <p:cNvSpPr txBox="1"/>
          <p:nvPr/>
        </p:nvSpPr>
        <p:spPr>
          <a:xfrm>
            <a:off x="11929" y="4128994"/>
            <a:ext cx="25513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>
                <a:latin typeface="Gill Sans MT" panose="020B0502020104020203" pitchFamily="34" charset="0"/>
              </a:rPr>
              <a:t>Data Processing </a:t>
            </a:r>
            <a:r>
              <a:rPr lang="it-IT" dirty="0" err="1">
                <a:latin typeface="Gill Sans MT" panose="020B0502020104020203" pitchFamily="34" charset="0"/>
              </a:rPr>
              <a:t>function</a:t>
            </a:r>
            <a:r>
              <a:rPr lang="it-IT" dirty="0">
                <a:latin typeface="Gill Sans MT" panose="020B0502020104020203" pitchFamily="34" charset="0"/>
              </a:rPr>
              <a:t>.</a:t>
            </a:r>
            <a:endParaRPr lang="en-US" dirty="0">
              <a:latin typeface="Gill Sans MT" panose="020B0502020104020203" pitchFamily="34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AA3F61F-33D4-2D96-693D-62C79706AACE}"/>
              </a:ext>
            </a:extLst>
          </p:cNvPr>
          <p:cNvSpPr txBox="1"/>
          <p:nvPr/>
        </p:nvSpPr>
        <p:spPr>
          <a:xfrm>
            <a:off x="4462458" y="4128994"/>
            <a:ext cx="21755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>
                <a:latin typeface="Gill Sans MT" panose="020B0502020104020203" pitchFamily="34" charset="0"/>
              </a:rPr>
              <a:t>Train Model </a:t>
            </a:r>
            <a:r>
              <a:rPr lang="it-IT" dirty="0" err="1">
                <a:latin typeface="Gill Sans MT" panose="020B0502020104020203" pitchFamily="34" charset="0"/>
              </a:rPr>
              <a:t>function</a:t>
            </a:r>
            <a:r>
              <a:rPr lang="it-IT" dirty="0">
                <a:latin typeface="Gill Sans MT" panose="020B0502020104020203" pitchFamily="34" charset="0"/>
              </a:rPr>
              <a:t>.</a:t>
            </a:r>
            <a:endParaRPr lang="en-US" dirty="0">
              <a:latin typeface="Gill Sans MT" panose="020B0502020104020203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E3FA2BB-86FD-ABB8-DA14-32CF171865DD}"/>
              </a:ext>
            </a:extLst>
          </p:cNvPr>
          <p:cNvSpPr txBox="1"/>
          <p:nvPr/>
        </p:nvSpPr>
        <p:spPr>
          <a:xfrm>
            <a:off x="7422076" y="4667641"/>
            <a:ext cx="14013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>
                <a:latin typeface="Gill Sans MT" panose="020B0502020104020203" pitchFamily="34" charset="0"/>
              </a:rPr>
              <a:t>Samuel Piron</a:t>
            </a:r>
            <a:endParaRPr lang="en-US" dirty="0">
              <a:latin typeface="Gill Sans MT" panose="020B05020201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2294526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AE1C45F0-260A-458C-96ED-C1F6D21512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912447"/>
            <a:ext cx="548639" cy="505095"/>
            <a:chOff x="3940602" y="308034"/>
            <a:chExt cx="2116791" cy="3428999"/>
          </a:xfrm>
          <a:solidFill>
            <a:schemeClr val="accent4"/>
          </a:solidFill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A6604B49-AD5C-4590-B051-06C8222ECD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940602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743ECCAF-29C5-4537-947C-7EA1292463D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715626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ED49787B-8DE6-4467-AD0A-8DECC6E0C2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490650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6" name="Rectangle 15">
            <a:extLst>
              <a:ext uri="{FF2B5EF4-FFF2-40B4-BE49-F238E27FC236}">
                <a16:creationId xmlns:a16="http://schemas.microsoft.com/office/drawing/2014/main" id="{D5B0017B-2ECA-49AF-B397-DC140825DF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0059" y="460465"/>
            <a:ext cx="8180615" cy="142058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A1D4C52-9B60-3622-E82C-62530D1A522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82723" y="607423"/>
            <a:ext cx="7457037" cy="1165860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Bef>
                <a:spcPct val="0"/>
              </a:spcBef>
            </a:pPr>
            <a:r>
              <a:rPr lang="en-US" sz="3600" kern="1200" dirty="0">
                <a:latin typeface="Gill Sans MT" panose="020B0502020104020203" pitchFamily="34" charset="0"/>
                <a:ea typeface="Calibri"/>
                <a:cs typeface="Calibri"/>
              </a:rPr>
              <a:t>4. Data Augmentation</a:t>
            </a:r>
            <a:endParaRPr lang="en-US" dirty="0">
              <a:latin typeface="Gill Sans MT" panose="020B0502020104020203" pitchFamily="34" charset="0"/>
              <a:cs typeface="+mj-cs"/>
            </a:endParaRP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6CF1BAF6-AD41-4082-B212-8A1F9A2E87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628650" y="4863984"/>
            <a:ext cx="7886700" cy="0"/>
          </a:xfrm>
          <a:prstGeom prst="line">
            <a:avLst/>
          </a:prstGeom>
          <a:ln w="571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3671880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DBC6133C-0615-4CE4-9132-37E609A9BD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3999" cy="5143023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8C89B95B-5E42-ADFB-F1F3-88B4C8C36E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8882" y="266219"/>
            <a:ext cx="3212237" cy="425836"/>
          </a:xfrm>
        </p:spPr>
        <p:txBody>
          <a:bodyPr lIns="0" tIns="0" rIns="0" bIns="0" anchor="b">
            <a:normAutofit/>
          </a:bodyPr>
          <a:lstStyle/>
          <a:p>
            <a:r>
              <a:rPr lang="it-IT" sz="2700" b="1" dirty="0">
                <a:latin typeface="Gill Sans MT"/>
              </a:rPr>
              <a:t>Data </a:t>
            </a:r>
            <a:r>
              <a:rPr lang="it-IT" sz="2700" b="1" dirty="0" err="1">
                <a:latin typeface="Gill Sans MT"/>
              </a:rPr>
              <a:t>Augmentation</a:t>
            </a:r>
            <a:endParaRPr lang="it-IT" sz="2700" b="1" dirty="0">
              <a:latin typeface="Gill Sans MT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69CC832-2974-4E8D-90ED-3E2941BA733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62399" y="1458684"/>
            <a:ext cx="3017520" cy="20574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ED78152B-2285-DE08-1DA7-286F8B9D3D6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83799" y="1523325"/>
            <a:ext cx="3212238" cy="2633958"/>
          </a:xfrm>
        </p:spPr>
        <p:txBody>
          <a:bodyPr lIns="0" tIns="0" rIns="0" bIns="0" anchor="ctr">
            <a:normAutofit/>
          </a:bodyPr>
          <a:lstStyle/>
          <a:p>
            <a:pPr>
              <a:spcAft>
                <a:spcPts val="600"/>
              </a:spcAft>
            </a:pPr>
            <a:r>
              <a:rPr lang="en-US" b="0" i="0" u="sng" dirty="0">
                <a:solidFill>
                  <a:srgbClr val="05192D"/>
                </a:solidFill>
                <a:effectLst/>
                <a:latin typeface="Gill Sans MT" panose="020B0502020104020203" pitchFamily="34" charset="0"/>
              </a:rPr>
              <a:t>Data augmentation</a:t>
            </a:r>
            <a:r>
              <a:rPr lang="en-US" b="0" i="0" dirty="0">
                <a:solidFill>
                  <a:srgbClr val="05192D"/>
                </a:solidFill>
                <a:effectLst/>
                <a:latin typeface="Gill Sans MT" panose="020B0502020104020203" pitchFamily="34" charset="0"/>
              </a:rPr>
              <a:t> is a technique of artificially </a:t>
            </a:r>
            <a:r>
              <a:rPr lang="en-US" b="1" i="0" dirty="0">
                <a:solidFill>
                  <a:srgbClr val="05192D"/>
                </a:solidFill>
                <a:effectLst/>
                <a:latin typeface="Gill Sans MT" panose="020B0502020104020203" pitchFamily="34" charset="0"/>
              </a:rPr>
              <a:t>increasing</a:t>
            </a:r>
            <a:r>
              <a:rPr lang="en-US" b="0" i="0" dirty="0">
                <a:solidFill>
                  <a:srgbClr val="05192D"/>
                </a:solidFill>
                <a:effectLst/>
                <a:latin typeface="Gill Sans MT" panose="020B0502020104020203" pitchFamily="34" charset="0"/>
              </a:rPr>
              <a:t> the </a:t>
            </a:r>
            <a:r>
              <a:rPr lang="en-US" b="1" i="0" dirty="0">
                <a:solidFill>
                  <a:srgbClr val="05192D"/>
                </a:solidFill>
                <a:effectLst/>
                <a:latin typeface="Gill Sans MT" panose="020B0502020104020203" pitchFamily="34" charset="0"/>
              </a:rPr>
              <a:t>training set </a:t>
            </a:r>
            <a:r>
              <a:rPr lang="en-US" b="0" i="0" dirty="0">
                <a:solidFill>
                  <a:srgbClr val="05192D"/>
                </a:solidFill>
                <a:effectLst/>
                <a:latin typeface="Gill Sans MT" panose="020B0502020104020203" pitchFamily="34" charset="0"/>
              </a:rPr>
              <a:t>by creating modified copies of a dataset using existing data. </a:t>
            </a:r>
          </a:p>
          <a:p>
            <a:pPr>
              <a:spcAft>
                <a:spcPts val="600"/>
              </a:spcAft>
            </a:pPr>
            <a:r>
              <a:rPr lang="en-US" b="0" i="0" dirty="0">
                <a:solidFill>
                  <a:srgbClr val="05192D"/>
                </a:solidFill>
                <a:effectLst/>
                <a:latin typeface="Gill Sans MT" panose="020B0502020104020203" pitchFamily="34" charset="0"/>
              </a:rPr>
              <a:t>It includes making minor changes to the dataset or using deep learning to generate new data points.</a:t>
            </a:r>
            <a:endParaRPr lang="it-IT" dirty="0">
              <a:latin typeface="Gill Sans MT" panose="020B0502020104020203" pitchFamily="34" charset="0"/>
              <a:ea typeface="Calibri"/>
              <a:cs typeface="Calibri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5222F96-971A-4F90-B841-6BAB416C7A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-169382" y="4540020"/>
            <a:ext cx="555498" cy="115593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8980754-6F4B-43C9-B9BE-127B6BED65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4428692" y="161401"/>
            <a:ext cx="555498" cy="887511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C1BBA94-3F40-40AA-8BB9-E69E25E537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272594" y="266219"/>
            <a:ext cx="4638730" cy="4436409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E3480E7-1328-B9A0-ABD6-E95775D436D9}"/>
              </a:ext>
            </a:extLst>
          </p:cNvPr>
          <p:cNvSpPr txBox="1"/>
          <p:nvPr/>
        </p:nvSpPr>
        <p:spPr>
          <a:xfrm>
            <a:off x="4488712" y="962037"/>
            <a:ext cx="4289700" cy="17851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it-IT" sz="2000" b="1" dirty="0">
              <a:latin typeface="Gill Sans MT" panose="020B0502020104020203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500" b="0" i="0" dirty="0">
                <a:solidFill>
                  <a:srgbClr val="05192D"/>
                </a:solidFill>
                <a:effectLst/>
                <a:latin typeface="Gill Sans MT" panose="020B0502020104020203" pitchFamily="34" charset="0"/>
              </a:rPr>
              <a:t>It helps </a:t>
            </a:r>
            <a:r>
              <a:rPr lang="en-US" sz="1500" b="0" i="0" u="sng" dirty="0">
                <a:solidFill>
                  <a:srgbClr val="05192D"/>
                </a:solidFill>
                <a:effectLst/>
                <a:latin typeface="Gill Sans MT" panose="020B0502020104020203" pitchFamily="34" charset="0"/>
              </a:rPr>
              <a:t>machine learning</a:t>
            </a:r>
            <a:r>
              <a:rPr lang="en-US" sz="1500" b="0" i="0" dirty="0">
                <a:solidFill>
                  <a:srgbClr val="05192D"/>
                </a:solidFill>
                <a:effectLst/>
                <a:latin typeface="Gill Sans MT" panose="020B0502020104020203" pitchFamily="34" charset="0"/>
              </a:rPr>
              <a:t> models perform better </a:t>
            </a:r>
          </a:p>
          <a:p>
            <a:r>
              <a:rPr lang="en-US" sz="1500" b="0" i="0" dirty="0">
                <a:solidFill>
                  <a:srgbClr val="05192D"/>
                </a:solidFill>
                <a:effectLst/>
                <a:latin typeface="Gill Sans MT" panose="020B0502020104020203" pitchFamily="34" charset="0"/>
              </a:rPr>
              <a:t>by improving the existing data.</a:t>
            </a:r>
          </a:p>
          <a:p>
            <a:endParaRPr lang="en-US" sz="1500" b="0" i="0" dirty="0">
              <a:solidFill>
                <a:srgbClr val="05192D"/>
              </a:solidFill>
              <a:effectLst/>
              <a:latin typeface="Gill Sans MT" panose="020B0502020104020203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500" b="0" i="0" dirty="0">
                <a:solidFill>
                  <a:srgbClr val="05192D"/>
                </a:solidFill>
                <a:effectLst/>
                <a:latin typeface="Gill Sans MT" panose="020B0502020104020203" pitchFamily="34" charset="0"/>
              </a:rPr>
              <a:t>It prevents </a:t>
            </a:r>
            <a:r>
              <a:rPr lang="en-US" sz="1500" b="0" i="1" dirty="0">
                <a:solidFill>
                  <a:srgbClr val="05192D"/>
                </a:solidFill>
                <a:effectLst/>
                <a:latin typeface="Gill Sans MT" panose="020B0502020104020203" pitchFamily="34" charset="0"/>
              </a:rPr>
              <a:t>overfitting</a:t>
            </a:r>
            <a:r>
              <a:rPr lang="en-US" sz="1500" b="0" i="0" dirty="0">
                <a:solidFill>
                  <a:srgbClr val="05192D"/>
                </a:solidFill>
                <a:effectLst/>
                <a:latin typeface="Gill Sans MT" panose="020B0502020104020203" pitchFamily="34" charset="0"/>
              </a:rPr>
              <a:t>, </a:t>
            </a:r>
            <a:r>
              <a:rPr lang="en-US" sz="1500" b="0" dirty="0">
                <a:solidFill>
                  <a:srgbClr val="05192D"/>
                </a:solidFill>
                <a:effectLst/>
                <a:latin typeface="Gill Sans MT" panose="020B0502020104020203" pitchFamily="34" charset="0"/>
              </a:rPr>
              <a:t>improves </a:t>
            </a:r>
            <a:r>
              <a:rPr lang="en-US" sz="1500" b="0" i="1" dirty="0">
                <a:solidFill>
                  <a:srgbClr val="05192D"/>
                </a:solidFill>
                <a:effectLst/>
                <a:latin typeface="Gill Sans MT" panose="020B0502020104020203" pitchFamily="34" charset="0"/>
              </a:rPr>
              <a:t>accuracy</a:t>
            </a:r>
            <a:r>
              <a:rPr lang="en-US" sz="1500" b="0" i="0" dirty="0">
                <a:solidFill>
                  <a:srgbClr val="05192D"/>
                </a:solidFill>
                <a:effectLst/>
                <a:latin typeface="Gill Sans MT" panose="020B0502020104020203" pitchFamily="34" charset="0"/>
              </a:rPr>
              <a:t>, and </a:t>
            </a:r>
          </a:p>
          <a:p>
            <a:r>
              <a:rPr lang="en-US" sz="1500" b="0" i="0" dirty="0">
                <a:solidFill>
                  <a:srgbClr val="05192D"/>
                </a:solidFill>
                <a:effectLst/>
                <a:latin typeface="Gill Sans MT" panose="020B0502020104020203" pitchFamily="34" charset="0"/>
              </a:rPr>
              <a:t>creates </a:t>
            </a:r>
            <a:r>
              <a:rPr lang="en-US" sz="1500" b="0" i="1" dirty="0">
                <a:solidFill>
                  <a:srgbClr val="05192D"/>
                </a:solidFill>
                <a:effectLst/>
                <a:latin typeface="Gill Sans MT" panose="020B0502020104020203" pitchFamily="34" charset="0"/>
              </a:rPr>
              <a:t>diversity</a:t>
            </a:r>
            <a:r>
              <a:rPr lang="en-US" sz="1500" b="0" i="0" dirty="0">
                <a:solidFill>
                  <a:srgbClr val="05192D"/>
                </a:solidFill>
                <a:effectLst/>
                <a:latin typeface="Gill Sans MT" panose="020B0502020104020203" pitchFamily="34" charset="0"/>
              </a:rPr>
              <a:t> in training data.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500" dirty="0">
              <a:solidFill>
                <a:srgbClr val="05192D"/>
              </a:solidFill>
              <a:latin typeface="Gill Sans MT" panose="020B0502020104020203" pitchFamily="34" charset="0"/>
            </a:endParaRPr>
          </a:p>
        </p:txBody>
      </p:sp>
      <p:pic>
        <p:nvPicPr>
          <p:cNvPr id="7" name="Picture 6" descr="A screenshot of a computer&#10;&#10;AI-generated content may be incorrect.">
            <a:extLst>
              <a:ext uri="{FF2B5EF4-FFF2-40B4-BE49-F238E27FC236}">
                <a16:creationId xmlns:a16="http://schemas.microsoft.com/office/drawing/2014/main" id="{465F0D6D-FB4D-7855-C644-4C09F627200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72592" y="2641059"/>
            <a:ext cx="4563399" cy="1080956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31D4D200-BCC5-E901-84AC-6EC0FBE73E12}"/>
              </a:ext>
            </a:extLst>
          </p:cNvPr>
          <p:cNvSpPr txBox="1"/>
          <p:nvPr/>
        </p:nvSpPr>
        <p:spPr>
          <a:xfrm>
            <a:off x="5422214" y="536201"/>
            <a:ext cx="391160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800" b="1" dirty="0" err="1">
                <a:latin typeface="Gill Sans MT" panose="020B0502020104020203" pitchFamily="34" charset="0"/>
              </a:rPr>
              <a:t>Why</a:t>
            </a:r>
            <a:r>
              <a:rPr lang="it-IT" sz="1800" b="1" dirty="0">
                <a:latin typeface="Gill Sans MT" panose="020B0502020104020203" pitchFamily="34" charset="0"/>
              </a:rPr>
              <a:t> </a:t>
            </a:r>
            <a:r>
              <a:rPr lang="it-IT" sz="1800" b="1" dirty="0" err="1">
                <a:latin typeface="Gill Sans MT" panose="020B0502020104020203" pitchFamily="34" charset="0"/>
              </a:rPr>
              <a:t>should</a:t>
            </a:r>
            <a:r>
              <a:rPr lang="it-IT" sz="1800" b="1" dirty="0">
                <a:latin typeface="Gill Sans MT" panose="020B0502020104020203" pitchFamily="34" charset="0"/>
              </a:rPr>
              <a:t> </a:t>
            </a:r>
            <a:r>
              <a:rPr lang="it-IT" sz="1800" b="1" dirty="0" err="1">
                <a:latin typeface="Gill Sans MT" panose="020B0502020104020203" pitchFamily="34" charset="0"/>
              </a:rPr>
              <a:t>we</a:t>
            </a:r>
            <a:r>
              <a:rPr lang="it-IT" sz="1800" b="1" dirty="0">
                <a:latin typeface="Gill Sans MT" panose="020B0502020104020203" pitchFamily="34" charset="0"/>
              </a:rPr>
              <a:t> use </a:t>
            </a:r>
          </a:p>
          <a:p>
            <a:r>
              <a:rPr lang="it-IT" sz="1800" b="1" dirty="0">
                <a:latin typeface="Gill Sans MT" panose="020B0502020104020203" pitchFamily="34" charset="0"/>
              </a:rPr>
              <a:t>data </a:t>
            </a:r>
            <a:r>
              <a:rPr lang="it-IT" sz="1800" b="1" dirty="0" err="1">
                <a:latin typeface="Gill Sans MT" panose="020B0502020104020203" pitchFamily="34" charset="0"/>
              </a:rPr>
              <a:t>augmentation</a:t>
            </a:r>
            <a:r>
              <a:rPr lang="it-IT" sz="1800" b="1" dirty="0">
                <a:latin typeface="Gill Sans MT" panose="020B0502020104020203" pitchFamily="34" charset="0"/>
              </a:rPr>
              <a:t>?</a:t>
            </a:r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74F74C8-4927-0E1E-C145-178EE788A6F9}"/>
              </a:ext>
            </a:extLst>
          </p:cNvPr>
          <p:cNvSpPr txBox="1"/>
          <p:nvPr/>
        </p:nvSpPr>
        <p:spPr>
          <a:xfrm>
            <a:off x="7422076" y="4667641"/>
            <a:ext cx="14013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>
                <a:latin typeface="Gill Sans MT" panose="020B0502020104020203" pitchFamily="34" charset="0"/>
              </a:rPr>
              <a:t>Samuel Piron</a:t>
            </a:r>
            <a:endParaRPr lang="en-US" dirty="0">
              <a:latin typeface="Gill Sans MT" panose="020B05020201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2744613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686171-8D76-0A22-0C0A-E1AE710124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EE14814-C230-8BB7-A212-17F8947608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8459" y="187958"/>
            <a:ext cx="8374549" cy="369332"/>
          </a:xfrm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it-IT" sz="2400" b="1" dirty="0">
                <a:latin typeface="Gill Sans MT"/>
              </a:rPr>
              <a:t>Data </a:t>
            </a:r>
            <a:r>
              <a:rPr lang="it-IT" sz="2400" b="1" dirty="0" err="1">
                <a:latin typeface="Gill Sans MT"/>
              </a:rPr>
              <a:t>Augmentation</a:t>
            </a:r>
            <a:r>
              <a:rPr lang="it-IT" sz="2400" b="1" dirty="0">
                <a:latin typeface="Gill Sans MT"/>
              </a:rPr>
              <a:t> -  </a:t>
            </a:r>
            <a:r>
              <a:rPr lang="it-IT" sz="2400" b="1" dirty="0" err="1">
                <a:latin typeface="Gill Sans MT"/>
              </a:rPr>
              <a:t>Implementation</a:t>
            </a:r>
            <a:r>
              <a:rPr lang="it-IT" sz="2400" b="1" dirty="0">
                <a:latin typeface="Gill Sans MT"/>
              </a:rPr>
              <a:t> (I)</a:t>
            </a:r>
            <a:endParaRPr lang="it-IT" dirty="0">
              <a:latin typeface="Gill Sans MT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D983196-EB68-1562-BD51-B6AC6BB03BD0}"/>
              </a:ext>
            </a:extLst>
          </p:cNvPr>
          <p:cNvSpPr txBox="1"/>
          <p:nvPr/>
        </p:nvSpPr>
        <p:spPr>
          <a:xfrm>
            <a:off x="198458" y="1210732"/>
            <a:ext cx="4831939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>
                <a:latin typeface="Gill Sans MT" panose="020B0502020104020203" pitchFamily="34" charset="0"/>
              </a:rPr>
              <a:t>1) </a:t>
            </a:r>
            <a:r>
              <a:rPr lang="it-IT" dirty="0" err="1">
                <a:latin typeface="Gill Sans MT" panose="020B0502020104020203" pitchFamily="34" charset="0"/>
              </a:rPr>
              <a:t>Retrieve</a:t>
            </a:r>
            <a:r>
              <a:rPr lang="it-IT" dirty="0">
                <a:latin typeface="Gill Sans MT" panose="020B0502020104020203" pitchFamily="34" charset="0"/>
              </a:rPr>
              <a:t> from </a:t>
            </a:r>
            <a:r>
              <a:rPr lang="it-IT" b="1" dirty="0" err="1">
                <a:latin typeface="Gill Sans MT" panose="020B0502020104020203" pitchFamily="34" charset="0"/>
              </a:rPr>
              <a:t>MeSH</a:t>
            </a:r>
            <a:r>
              <a:rPr lang="it-IT" dirty="0">
                <a:latin typeface="Gill Sans MT" panose="020B0502020104020203" pitchFamily="34" charset="0"/>
              </a:rPr>
              <a:t> (the</a:t>
            </a:r>
          </a:p>
          <a:p>
            <a:r>
              <a:rPr lang="it-IT" dirty="0">
                <a:latin typeface="Gill Sans MT" panose="020B0502020104020203" pitchFamily="34" charset="0"/>
              </a:rPr>
              <a:t>Official Medicine </a:t>
            </a:r>
            <a:r>
              <a:rPr lang="it-IT" dirty="0" err="1">
                <a:latin typeface="Gill Sans MT" panose="020B0502020104020203" pitchFamily="34" charset="0"/>
              </a:rPr>
              <a:t>Vocabulary</a:t>
            </a:r>
            <a:r>
              <a:rPr lang="it-IT" dirty="0">
                <a:latin typeface="Gill Sans MT" panose="020B0502020104020203" pitchFamily="34" charset="0"/>
              </a:rPr>
              <a:t> Online) </a:t>
            </a:r>
            <a:r>
              <a:rPr lang="it-IT" dirty="0" err="1">
                <a:latin typeface="Gill Sans MT" panose="020B0502020104020203" pitchFamily="34" charset="0"/>
              </a:rPr>
              <a:t>all</a:t>
            </a:r>
            <a:r>
              <a:rPr lang="it-IT" dirty="0">
                <a:latin typeface="Gill Sans MT" panose="020B0502020104020203" pitchFamily="34" charset="0"/>
              </a:rPr>
              <a:t> the </a:t>
            </a:r>
            <a:r>
              <a:rPr lang="it-IT" dirty="0" err="1">
                <a:latin typeface="Gill Sans MT" panose="020B0502020104020203" pitchFamily="34" charset="0"/>
              </a:rPr>
              <a:t>terms</a:t>
            </a:r>
            <a:r>
              <a:rPr lang="it-IT" dirty="0">
                <a:latin typeface="Gill Sans MT" panose="020B0502020104020203" pitchFamily="34" charset="0"/>
              </a:rPr>
              <a:t> and </a:t>
            </a:r>
            <a:r>
              <a:rPr lang="it-IT" dirty="0" err="1">
                <a:latin typeface="Gill Sans MT" panose="020B0502020104020203" pitchFamily="34" charset="0"/>
              </a:rPr>
              <a:t>their</a:t>
            </a:r>
            <a:r>
              <a:rPr lang="it-IT" dirty="0">
                <a:latin typeface="Gill Sans MT" panose="020B0502020104020203" pitchFamily="34" charset="0"/>
              </a:rPr>
              <a:t> </a:t>
            </a:r>
            <a:r>
              <a:rPr lang="it-IT" dirty="0" err="1">
                <a:latin typeface="Gill Sans MT" panose="020B0502020104020203" pitchFamily="34" charset="0"/>
              </a:rPr>
              <a:t>synonyms</a:t>
            </a:r>
            <a:r>
              <a:rPr lang="it-IT" dirty="0">
                <a:latin typeface="Gill Sans MT" panose="020B0502020104020203" pitchFamily="34" charset="0"/>
              </a:rPr>
              <a:t>.</a:t>
            </a:r>
          </a:p>
          <a:p>
            <a:endParaRPr lang="it-IT" dirty="0">
              <a:latin typeface="Gill Sans MT" panose="020B0502020104020203" pitchFamily="34" charset="0"/>
            </a:endParaRPr>
          </a:p>
          <a:p>
            <a:r>
              <a:rPr lang="it-IT" dirty="0">
                <a:latin typeface="Gill Sans MT" panose="020B0502020104020203" pitchFamily="34" charset="0"/>
              </a:rPr>
              <a:t>2) Parse the .xml file </a:t>
            </a:r>
            <a:r>
              <a:rPr lang="it-IT" dirty="0" err="1">
                <a:latin typeface="Gill Sans MT" panose="020B0502020104020203" pitchFamily="34" charset="0"/>
              </a:rPr>
              <a:t>obtained</a:t>
            </a:r>
            <a:r>
              <a:rPr lang="it-IT" dirty="0">
                <a:latin typeface="Gill Sans MT" panose="020B0502020104020203" pitchFamily="34" charset="0"/>
              </a:rPr>
              <a:t>, and after </a:t>
            </a:r>
            <a:r>
              <a:rPr lang="it-IT" dirty="0" err="1">
                <a:latin typeface="Gill Sans MT" panose="020B0502020104020203" pitchFamily="34" charset="0"/>
              </a:rPr>
              <a:t>that</a:t>
            </a:r>
            <a:r>
              <a:rPr lang="it-IT" dirty="0">
                <a:latin typeface="Gill Sans MT" panose="020B0502020104020203" pitchFamily="34" charset="0"/>
              </a:rPr>
              <a:t>, </a:t>
            </a:r>
            <a:r>
              <a:rPr lang="it-IT" dirty="0" err="1">
                <a:latin typeface="Gill Sans MT" panose="020B0502020104020203" pitchFamily="34" charset="0"/>
              </a:rPr>
              <a:t>save</a:t>
            </a:r>
            <a:r>
              <a:rPr lang="it-IT" dirty="0">
                <a:latin typeface="Gill Sans MT" panose="020B0502020104020203" pitchFamily="34" charset="0"/>
              </a:rPr>
              <a:t> </a:t>
            </a:r>
            <a:r>
              <a:rPr lang="it-IT" dirty="0" err="1">
                <a:latin typeface="Gill Sans MT" panose="020B0502020104020203" pitchFamily="34" charset="0"/>
              </a:rPr>
              <a:t>it</a:t>
            </a:r>
            <a:r>
              <a:rPr lang="it-IT" dirty="0">
                <a:latin typeface="Gill Sans MT" panose="020B0502020104020203" pitchFamily="34" charset="0"/>
              </a:rPr>
              <a:t> </a:t>
            </a:r>
            <a:r>
              <a:rPr lang="it-IT" dirty="0" err="1">
                <a:latin typeface="Gill Sans MT" panose="020B0502020104020203" pitchFamily="34" charset="0"/>
              </a:rPr>
              <a:t>into</a:t>
            </a:r>
            <a:r>
              <a:rPr lang="it-IT" dirty="0">
                <a:latin typeface="Gill Sans MT" panose="020B0502020104020203" pitchFamily="34" charset="0"/>
              </a:rPr>
              <a:t> a JSON format.</a:t>
            </a:r>
          </a:p>
          <a:p>
            <a:endParaRPr lang="it-IT" dirty="0">
              <a:latin typeface="Gill Sans MT" panose="020B0502020104020203" pitchFamily="34" charset="0"/>
            </a:endParaRPr>
          </a:p>
          <a:p>
            <a:r>
              <a:rPr lang="it-IT" dirty="0">
                <a:latin typeface="Gill Sans MT" panose="020B0502020104020203" pitchFamily="34" charset="0"/>
              </a:rPr>
              <a:t>3) For </a:t>
            </a:r>
            <a:r>
              <a:rPr lang="it-IT" dirty="0" err="1">
                <a:latin typeface="Gill Sans MT" panose="020B0502020104020203" pitchFamily="34" charset="0"/>
              </a:rPr>
              <a:t>each</a:t>
            </a:r>
            <a:r>
              <a:rPr lang="it-IT" dirty="0">
                <a:latin typeface="Gill Sans MT" panose="020B0502020104020203" pitchFamily="34" charset="0"/>
              </a:rPr>
              <a:t> </a:t>
            </a:r>
            <a:r>
              <a:rPr lang="it-IT" dirty="0" err="1">
                <a:latin typeface="Gill Sans MT" panose="020B0502020104020203" pitchFamily="34" charset="0"/>
              </a:rPr>
              <a:t>term</a:t>
            </a:r>
            <a:r>
              <a:rPr lang="it-IT" dirty="0">
                <a:latin typeface="Gill Sans MT" panose="020B0502020104020203" pitchFamily="34" charset="0"/>
              </a:rPr>
              <a:t> and </a:t>
            </a:r>
            <a:r>
              <a:rPr lang="it-IT" dirty="0" err="1">
                <a:latin typeface="Gill Sans MT" panose="020B0502020104020203" pitchFamily="34" charset="0"/>
              </a:rPr>
              <a:t>its</a:t>
            </a:r>
            <a:r>
              <a:rPr lang="it-IT" dirty="0">
                <a:latin typeface="Gill Sans MT" panose="020B0502020104020203" pitchFamily="34" charset="0"/>
              </a:rPr>
              <a:t> </a:t>
            </a:r>
            <a:r>
              <a:rPr lang="it-IT" dirty="0" err="1">
                <a:latin typeface="Gill Sans MT" panose="020B0502020104020203" pitchFamily="34" charset="0"/>
              </a:rPr>
              <a:t>synonyms</a:t>
            </a:r>
            <a:r>
              <a:rPr lang="it-IT" dirty="0">
                <a:latin typeface="Gill Sans MT" panose="020B0502020104020203" pitchFamily="34" charset="0"/>
              </a:rPr>
              <a:t>, </a:t>
            </a:r>
          </a:p>
          <a:p>
            <a:r>
              <a:rPr lang="it-IT" dirty="0">
                <a:latin typeface="Gill Sans MT" panose="020B0502020104020203" pitchFamily="34" charset="0"/>
              </a:rPr>
              <a:t>compute the </a:t>
            </a:r>
            <a:r>
              <a:rPr lang="it-IT" dirty="0" err="1">
                <a:latin typeface="Gill Sans MT" panose="020B0502020104020203" pitchFamily="34" charset="0"/>
              </a:rPr>
              <a:t>embedding</a:t>
            </a:r>
            <a:r>
              <a:rPr lang="it-IT" dirty="0">
                <a:latin typeface="Gill Sans MT" panose="020B0502020104020203" pitchFamily="34" charset="0"/>
              </a:rPr>
              <a:t> </a:t>
            </a:r>
            <a:r>
              <a:rPr lang="it-IT" dirty="0" err="1">
                <a:latin typeface="Gill Sans MT" panose="020B0502020104020203" pitchFamily="34" charset="0"/>
              </a:rPr>
              <a:t>using</a:t>
            </a:r>
            <a:r>
              <a:rPr lang="it-IT" dirty="0">
                <a:latin typeface="Gill Sans MT" panose="020B0502020104020203" pitchFamily="34" charset="0"/>
              </a:rPr>
              <a:t> the model </a:t>
            </a:r>
          </a:p>
          <a:p>
            <a:r>
              <a:rPr lang="it-IT" u="sng" dirty="0">
                <a:latin typeface="Gill Sans MT" panose="020B0502020104020203" pitchFamily="34" charset="0"/>
              </a:rPr>
              <a:t>all-mpnet-base-v2</a:t>
            </a:r>
            <a:r>
              <a:rPr lang="it-IT" dirty="0">
                <a:latin typeface="Gill Sans MT" panose="020B0502020104020203" pitchFamily="34" charset="0"/>
              </a:rPr>
              <a:t>.</a:t>
            </a:r>
            <a:endParaRPr lang="en-US" dirty="0">
              <a:latin typeface="Gill Sans MT" panose="020B0502020104020203" pitchFamily="34" charset="0"/>
            </a:endParaRPr>
          </a:p>
        </p:txBody>
      </p:sp>
      <p:pic>
        <p:nvPicPr>
          <p:cNvPr id="6" name="Picture 5" descr="A logo with a tree and text&#10;&#10;AI-generated content may be incorrect.">
            <a:extLst>
              <a:ext uri="{FF2B5EF4-FFF2-40B4-BE49-F238E27FC236}">
                <a16:creationId xmlns:a16="http://schemas.microsoft.com/office/drawing/2014/main" id="{B973293A-5D53-4438-632C-F35B8DB74B7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17444" y="874135"/>
            <a:ext cx="1847111" cy="2196807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FC384CC-8334-D3BA-9B8B-4C2F79D2115C}"/>
              </a:ext>
            </a:extLst>
          </p:cNvPr>
          <p:cNvSpPr txBox="1"/>
          <p:nvPr/>
        </p:nvSpPr>
        <p:spPr>
          <a:xfrm>
            <a:off x="7422076" y="4667641"/>
            <a:ext cx="14013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>
                <a:latin typeface="Gill Sans MT" panose="020B0502020104020203" pitchFamily="34" charset="0"/>
              </a:rPr>
              <a:t>Samuel Piron</a:t>
            </a:r>
            <a:endParaRPr lang="en-US" dirty="0">
              <a:latin typeface="Gill Sans MT" panose="020B0502020104020203" pitchFamily="34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6650922-728F-E191-516D-F161B2F0A4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8119" y="3170961"/>
            <a:ext cx="3545763" cy="15236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220431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E70DE1-9FE7-80B8-71B4-24BAB5D5C3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98D16E8-8044-0E06-7908-8C7CDBADF8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8459" y="187958"/>
            <a:ext cx="8374549" cy="369332"/>
          </a:xfrm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it-IT" sz="2400" b="1" dirty="0">
                <a:latin typeface="Gill Sans MT"/>
              </a:rPr>
              <a:t>Data </a:t>
            </a:r>
            <a:r>
              <a:rPr lang="it-IT" sz="2400" b="1" dirty="0" err="1">
                <a:latin typeface="Gill Sans MT"/>
              </a:rPr>
              <a:t>Augmentation</a:t>
            </a:r>
            <a:r>
              <a:rPr lang="it-IT" sz="2400" b="1" dirty="0">
                <a:latin typeface="Gill Sans MT"/>
              </a:rPr>
              <a:t> -  </a:t>
            </a:r>
            <a:r>
              <a:rPr lang="it-IT" sz="2400" b="1" dirty="0" err="1">
                <a:latin typeface="Gill Sans MT"/>
              </a:rPr>
              <a:t>Implementation</a:t>
            </a:r>
            <a:r>
              <a:rPr lang="it-IT" sz="2400" b="1" dirty="0">
                <a:latin typeface="Gill Sans MT"/>
              </a:rPr>
              <a:t> (II)</a:t>
            </a:r>
            <a:endParaRPr lang="it-IT" dirty="0">
              <a:latin typeface="Gill Sans MT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4E642C1-7C78-F558-92AF-179E470E188E}"/>
              </a:ext>
            </a:extLst>
          </p:cNvPr>
          <p:cNvSpPr txBox="1"/>
          <p:nvPr/>
        </p:nvSpPr>
        <p:spPr>
          <a:xfrm>
            <a:off x="216423" y="863590"/>
            <a:ext cx="4593674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>
                <a:latin typeface="Gill Sans MT" panose="020B0502020104020203" pitchFamily="34" charset="0"/>
              </a:rPr>
              <a:t>4) Compute the </a:t>
            </a:r>
            <a:r>
              <a:rPr lang="it-IT" b="1" dirty="0">
                <a:latin typeface="Gill Sans MT" panose="020B0502020104020203" pitchFamily="34" charset="0"/>
              </a:rPr>
              <a:t>Cosine </a:t>
            </a:r>
            <a:r>
              <a:rPr lang="it-IT" b="1" dirty="0" err="1">
                <a:latin typeface="Gill Sans MT" panose="020B0502020104020203" pitchFamily="34" charset="0"/>
              </a:rPr>
              <a:t>Similarity</a:t>
            </a:r>
            <a:r>
              <a:rPr lang="it-IT" b="1" dirty="0">
                <a:latin typeface="Gill Sans MT" panose="020B0502020104020203" pitchFamily="34" charset="0"/>
              </a:rPr>
              <a:t> </a:t>
            </a:r>
            <a:r>
              <a:rPr lang="it-IT" dirty="0" err="1">
                <a:latin typeface="Gill Sans MT" panose="020B0502020104020203" pitchFamily="34" charset="0"/>
              </a:rPr>
              <a:t>between</a:t>
            </a:r>
            <a:r>
              <a:rPr lang="it-IT" dirty="0">
                <a:latin typeface="Gill Sans MT" panose="020B0502020104020203" pitchFamily="34" charset="0"/>
              </a:rPr>
              <a:t> the </a:t>
            </a:r>
            <a:r>
              <a:rPr lang="it-IT" dirty="0" err="1">
                <a:latin typeface="Gill Sans MT" panose="020B0502020104020203" pitchFamily="34" charset="0"/>
              </a:rPr>
              <a:t>original</a:t>
            </a:r>
            <a:r>
              <a:rPr lang="it-IT" dirty="0">
                <a:latin typeface="Gill Sans MT" panose="020B0502020104020203" pitchFamily="34" charset="0"/>
              </a:rPr>
              <a:t> </a:t>
            </a:r>
            <a:r>
              <a:rPr lang="it-IT" dirty="0" err="1">
                <a:latin typeface="Gill Sans MT" panose="020B0502020104020203" pitchFamily="34" charset="0"/>
              </a:rPr>
              <a:t>term</a:t>
            </a:r>
            <a:r>
              <a:rPr lang="it-IT" dirty="0">
                <a:latin typeface="Gill Sans MT" panose="020B0502020104020203" pitchFamily="34" charset="0"/>
              </a:rPr>
              <a:t> and </a:t>
            </a:r>
            <a:r>
              <a:rPr lang="it-IT" dirty="0" err="1">
                <a:latin typeface="Gill Sans MT" panose="020B0502020104020203" pitchFamily="34" charset="0"/>
              </a:rPr>
              <a:t>its</a:t>
            </a:r>
            <a:r>
              <a:rPr lang="it-IT" dirty="0">
                <a:latin typeface="Gill Sans MT" panose="020B0502020104020203" pitchFamily="34" charset="0"/>
              </a:rPr>
              <a:t> </a:t>
            </a:r>
            <a:r>
              <a:rPr lang="it-IT" dirty="0" err="1">
                <a:latin typeface="Gill Sans MT" panose="020B0502020104020203" pitchFamily="34" charset="0"/>
              </a:rPr>
              <a:t>synonyms</a:t>
            </a:r>
            <a:r>
              <a:rPr lang="it-IT" dirty="0">
                <a:latin typeface="Gill Sans MT" panose="020B0502020104020203" pitchFamily="34" charset="0"/>
              </a:rPr>
              <a:t>. </a:t>
            </a:r>
            <a:r>
              <a:rPr lang="it-IT" dirty="0" err="1">
                <a:latin typeface="Gill Sans MT" panose="020B0502020104020203" pitchFamily="34" charset="0"/>
              </a:rPr>
              <a:t>If</a:t>
            </a:r>
            <a:r>
              <a:rPr lang="it-IT" dirty="0">
                <a:latin typeface="Gill Sans MT" panose="020B0502020104020203" pitchFamily="34" charset="0"/>
              </a:rPr>
              <a:t> the </a:t>
            </a:r>
            <a:r>
              <a:rPr lang="it-IT" dirty="0" err="1">
                <a:latin typeface="Gill Sans MT" panose="020B0502020104020203" pitchFamily="34" charset="0"/>
              </a:rPr>
              <a:t>similarity</a:t>
            </a:r>
            <a:r>
              <a:rPr lang="it-IT" dirty="0">
                <a:latin typeface="Gill Sans MT" panose="020B0502020104020203" pitchFamily="34" charset="0"/>
              </a:rPr>
              <a:t> </a:t>
            </a:r>
            <a:r>
              <a:rPr lang="it-IT" dirty="0" err="1">
                <a:latin typeface="Gill Sans MT" panose="020B0502020104020203" pitchFamily="34" charset="0"/>
              </a:rPr>
              <a:t>is</a:t>
            </a:r>
            <a:r>
              <a:rPr lang="it-IT" dirty="0">
                <a:latin typeface="Gill Sans MT" panose="020B0502020104020203" pitchFamily="34" charset="0"/>
              </a:rPr>
              <a:t> </a:t>
            </a:r>
            <a:r>
              <a:rPr lang="it-IT" dirty="0" err="1">
                <a:latin typeface="Gill Sans MT" panose="020B0502020104020203" pitchFamily="34" charset="0"/>
              </a:rPr>
              <a:t>above</a:t>
            </a:r>
            <a:r>
              <a:rPr lang="it-IT" dirty="0">
                <a:latin typeface="Gill Sans MT" panose="020B0502020104020203" pitchFamily="34" charset="0"/>
              </a:rPr>
              <a:t> a </a:t>
            </a:r>
            <a:r>
              <a:rPr lang="it-IT" dirty="0" err="1">
                <a:latin typeface="Gill Sans MT" panose="020B0502020104020203" pitchFamily="34" charset="0"/>
              </a:rPr>
              <a:t>threshold</a:t>
            </a:r>
            <a:r>
              <a:rPr lang="it-IT" dirty="0">
                <a:latin typeface="Gill Sans MT" panose="020B0502020104020203" pitchFamily="34" charset="0"/>
              </a:rPr>
              <a:t>, </a:t>
            </a:r>
            <a:r>
              <a:rPr lang="it-IT" dirty="0" err="1">
                <a:latin typeface="Gill Sans MT" panose="020B0502020104020203" pitchFamily="34" charset="0"/>
              </a:rPr>
              <a:t>it</a:t>
            </a:r>
            <a:r>
              <a:rPr lang="it-IT" dirty="0">
                <a:latin typeface="Gill Sans MT" panose="020B0502020104020203" pitchFamily="34" charset="0"/>
              </a:rPr>
              <a:t> </a:t>
            </a:r>
            <a:r>
              <a:rPr lang="it-IT" dirty="0" err="1">
                <a:latin typeface="Gill Sans MT" panose="020B0502020104020203" pitchFamily="34" charset="0"/>
              </a:rPr>
              <a:t>is</a:t>
            </a:r>
            <a:r>
              <a:rPr lang="it-IT" dirty="0">
                <a:latin typeface="Gill Sans MT" panose="020B0502020104020203" pitchFamily="34" charset="0"/>
              </a:rPr>
              <a:t> </a:t>
            </a:r>
            <a:r>
              <a:rPr lang="it-IT" dirty="0" err="1">
                <a:latin typeface="Gill Sans MT" panose="020B0502020104020203" pitchFamily="34" charset="0"/>
              </a:rPr>
              <a:t>kept</a:t>
            </a:r>
            <a:r>
              <a:rPr lang="it-IT" dirty="0">
                <a:latin typeface="Gill Sans MT" panose="020B0502020104020203" pitchFamily="34" charset="0"/>
              </a:rPr>
              <a:t>, </a:t>
            </a:r>
            <a:r>
              <a:rPr lang="it-IT" dirty="0" err="1">
                <a:latin typeface="Gill Sans MT" panose="020B0502020104020203" pitchFamily="34" charset="0"/>
              </a:rPr>
              <a:t>otherwise</a:t>
            </a:r>
            <a:r>
              <a:rPr lang="it-IT" dirty="0">
                <a:latin typeface="Gill Sans MT" panose="020B0502020104020203" pitchFamily="34" charset="0"/>
              </a:rPr>
              <a:t>, </a:t>
            </a:r>
            <a:r>
              <a:rPr lang="it-IT" dirty="0" err="1">
                <a:latin typeface="Gill Sans MT" panose="020B0502020104020203" pitchFamily="34" charset="0"/>
              </a:rPr>
              <a:t>it</a:t>
            </a:r>
            <a:r>
              <a:rPr lang="it-IT" dirty="0">
                <a:latin typeface="Gill Sans MT" panose="020B0502020104020203" pitchFamily="34" charset="0"/>
              </a:rPr>
              <a:t> </a:t>
            </a:r>
            <a:r>
              <a:rPr lang="it-IT" dirty="0" err="1">
                <a:latin typeface="Gill Sans MT" panose="020B0502020104020203" pitchFamily="34" charset="0"/>
              </a:rPr>
              <a:t>is</a:t>
            </a:r>
            <a:r>
              <a:rPr lang="it-IT" dirty="0">
                <a:latin typeface="Gill Sans MT" panose="020B0502020104020203" pitchFamily="34" charset="0"/>
              </a:rPr>
              <a:t> </a:t>
            </a:r>
            <a:r>
              <a:rPr lang="it-IT" dirty="0" err="1">
                <a:latin typeface="Gill Sans MT" panose="020B0502020104020203" pitchFamily="34" charset="0"/>
              </a:rPr>
              <a:t>rejected</a:t>
            </a:r>
            <a:r>
              <a:rPr lang="it-IT" dirty="0">
                <a:latin typeface="Gill Sans MT" panose="020B0502020104020203" pitchFamily="34" charset="0"/>
              </a:rPr>
              <a:t>.</a:t>
            </a:r>
          </a:p>
          <a:p>
            <a:endParaRPr lang="it-IT" dirty="0">
              <a:latin typeface="Gill Sans MT" panose="020B0502020104020203" pitchFamily="34" charset="0"/>
            </a:endParaRPr>
          </a:p>
          <a:p>
            <a:r>
              <a:rPr lang="it-IT" dirty="0">
                <a:latin typeface="Gill Sans MT" panose="020B0502020104020203" pitchFamily="34" charset="0"/>
              </a:rPr>
              <a:t>5) </a:t>
            </a:r>
            <a:r>
              <a:rPr lang="it-IT" dirty="0" err="1">
                <a:latin typeface="Gill Sans MT" panose="020B0502020104020203" pitchFamily="34" charset="0"/>
              </a:rPr>
              <a:t>Replace</a:t>
            </a:r>
            <a:r>
              <a:rPr lang="it-IT" dirty="0">
                <a:latin typeface="Gill Sans MT" panose="020B0502020104020203" pitchFamily="34" charset="0"/>
              </a:rPr>
              <a:t> in the </a:t>
            </a:r>
            <a:r>
              <a:rPr lang="it-IT" dirty="0" err="1">
                <a:latin typeface="Gill Sans MT" panose="020B0502020104020203" pitchFamily="34" charset="0"/>
              </a:rPr>
              <a:t>title</a:t>
            </a:r>
            <a:r>
              <a:rPr lang="it-IT" dirty="0">
                <a:latin typeface="Gill Sans MT" panose="020B0502020104020203" pitchFamily="34" charset="0"/>
              </a:rPr>
              <a:t> or in the abstract the </a:t>
            </a:r>
            <a:r>
              <a:rPr lang="it-IT" dirty="0" err="1">
                <a:latin typeface="Gill Sans MT" panose="020B0502020104020203" pitchFamily="34" charset="0"/>
              </a:rPr>
              <a:t>original</a:t>
            </a:r>
            <a:r>
              <a:rPr lang="it-IT" dirty="0">
                <a:latin typeface="Gill Sans MT" panose="020B0502020104020203" pitchFamily="34" charset="0"/>
              </a:rPr>
              <a:t> </a:t>
            </a:r>
            <a:r>
              <a:rPr lang="it-IT" dirty="0" err="1">
                <a:latin typeface="Gill Sans MT" panose="020B0502020104020203" pitchFamily="34" charset="0"/>
              </a:rPr>
              <a:t>term</a:t>
            </a:r>
            <a:r>
              <a:rPr lang="it-IT" dirty="0">
                <a:latin typeface="Gill Sans MT" panose="020B0502020104020203" pitchFamily="34" charset="0"/>
              </a:rPr>
              <a:t> with the </a:t>
            </a:r>
            <a:r>
              <a:rPr lang="it-IT" dirty="0" err="1">
                <a:latin typeface="Gill Sans MT" panose="020B0502020104020203" pitchFamily="34" charset="0"/>
              </a:rPr>
              <a:t>augmented</a:t>
            </a:r>
            <a:r>
              <a:rPr lang="it-IT" dirty="0">
                <a:latin typeface="Gill Sans MT" panose="020B0502020104020203" pitchFamily="34" charset="0"/>
              </a:rPr>
              <a:t> one and </a:t>
            </a:r>
            <a:r>
              <a:rPr lang="it-IT" dirty="0" err="1">
                <a:latin typeface="Gill Sans MT" panose="020B0502020104020203" pitchFamily="34" charset="0"/>
              </a:rPr>
              <a:t>save</a:t>
            </a:r>
            <a:r>
              <a:rPr lang="it-IT" dirty="0">
                <a:latin typeface="Gill Sans MT" panose="020B0502020104020203" pitchFamily="34" charset="0"/>
              </a:rPr>
              <a:t> the new file. </a:t>
            </a:r>
          </a:p>
          <a:p>
            <a:endParaRPr lang="it-IT" dirty="0">
              <a:latin typeface="Gill Sans MT" panose="020B0502020104020203" pitchFamily="34" charset="0"/>
            </a:endParaRPr>
          </a:p>
          <a:p>
            <a:r>
              <a:rPr lang="it-IT" dirty="0">
                <a:latin typeface="Gill Sans MT" panose="020B0502020104020203" pitchFamily="34" charset="0"/>
              </a:rPr>
              <a:t>6) With a </a:t>
            </a:r>
            <a:r>
              <a:rPr lang="it-IT" dirty="0" err="1">
                <a:latin typeface="Gill Sans MT" panose="020B0502020104020203" pitchFamily="34" charset="0"/>
              </a:rPr>
              <a:t>trained</a:t>
            </a:r>
            <a:r>
              <a:rPr lang="it-IT" dirty="0">
                <a:latin typeface="Gill Sans MT" panose="020B0502020104020203" pitchFamily="34" charset="0"/>
              </a:rPr>
              <a:t> model, use </a:t>
            </a:r>
            <a:r>
              <a:rPr lang="it-IT" dirty="0" err="1">
                <a:latin typeface="Gill Sans MT" panose="020B0502020104020203" pitchFamily="34" charset="0"/>
              </a:rPr>
              <a:t>it</a:t>
            </a:r>
            <a:r>
              <a:rPr lang="it-IT" dirty="0">
                <a:latin typeface="Gill Sans MT" panose="020B0502020104020203" pitchFamily="34" charset="0"/>
              </a:rPr>
              <a:t> to </a:t>
            </a:r>
            <a:r>
              <a:rPr lang="it-IT" dirty="0" err="1">
                <a:latin typeface="Gill Sans MT" panose="020B0502020104020203" pitchFamily="34" charset="0"/>
              </a:rPr>
              <a:t>predict</a:t>
            </a:r>
            <a:r>
              <a:rPr lang="it-IT" dirty="0">
                <a:latin typeface="Gill Sans MT" panose="020B0502020104020203" pitchFamily="34" charset="0"/>
              </a:rPr>
              <a:t> the </a:t>
            </a:r>
            <a:r>
              <a:rPr lang="it-IT" dirty="0" err="1">
                <a:latin typeface="Gill Sans MT" panose="020B0502020104020203" pitchFamily="34" charset="0"/>
              </a:rPr>
              <a:t>entities</a:t>
            </a:r>
            <a:r>
              <a:rPr lang="it-IT" dirty="0">
                <a:latin typeface="Gill Sans MT" panose="020B0502020104020203" pitchFamily="34" charset="0"/>
              </a:rPr>
              <a:t> and </a:t>
            </a:r>
            <a:r>
              <a:rPr lang="it-IT" dirty="0" err="1">
                <a:latin typeface="Gill Sans MT" panose="020B0502020104020203" pitchFamily="34" charset="0"/>
              </a:rPr>
              <a:t>then</a:t>
            </a:r>
            <a:r>
              <a:rPr lang="it-IT" dirty="0">
                <a:latin typeface="Gill Sans MT" panose="020B0502020104020203" pitchFamily="34" charset="0"/>
              </a:rPr>
              <a:t> </a:t>
            </a:r>
            <a:r>
              <a:rPr lang="it-IT" dirty="0" err="1">
                <a:latin typeface="Gill Sans MT" panose="020B0502020104020203" pitchFamily="34" charset="0"/>
              </a:rPr>
              <a:t>retrain</a:t>
            </a:r>
            <a:r>
              <a:rPr lang="it-IT" dirty="0">
                <a:latin typeface="Gill Sans MT" panose="020B0502020104020203" pitchFamily="34" charset="0"/>
              </a:rPr>
              <a:t> </a:t>
            </a:r>
            <a:r>
              <a:rPr lang="it-IT" dirty="0" err="1">
                <a:latin typeface="Gill Sans MT" panose="020B0502020104020203" pitchFamily="34" charset="0"/>
              </a:rPr>
              <a:t>it</a:t>
            </a:r>
            <a:r>
              <a:rPr lang="it-IT" dirty="0">
                <a:latin typeface="Gill Sans MT" panose="020B0502020104020203" pitchFamily="34" charset="0"/>
              </a:rPr>
              <a:t> </a:t>
            </a:r>
            <a:r>
              <a:rPr lang="it-IT" dirty="0" err="1">
                <a:latin typeface="Gill Sans MT" panose="020B0502020104020203" pitchFamily="34" charset="0"/>
              </a:rPr>
              <a:t>using</a:t>
            </a:r>
            <a:r>
              <a:rPr lang="it-IT" dirty="0">
                <a:latin typeface="Gill Sans MT" panose="020B0502020104020203" pitchFamily="34" charset="0"/>
              </a:rPr>
              <a:t> the </a:t>
            </a:r>
            <a:r>
              <a:rPr lang="it-IT" dirty="0" err="1">
                <a:latin typeface="Gill Sans MT" panose="020B0502020104020203" pitchFamily="34" charset="0"/>
              </a:rPr>
              <a:t>augmented</a:t>
            </a:r>
            <a:r>
              <a:rPr lang="it-IT" dirty="0">
                <a:latin typeface="Gill Sans MT" panose="020B0502020104020203" pitchFamily="34" charset="0"/>
              </a:rPr>
              <a:t> file.</a:t>
            </a:r>
            <a:endParaRPr lang="en-US" dirty="0">
              <a:latin typeface="Gill Sans MT" panose="020B0502020104020203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DEBC05D-9A3A-AAD2-2B8C-0AD311AF63B4}"/>
              </a:ext>
            </a:extLst>
          </p:cNvPr>
          <p:cNvSpPr txBox="1"/>
          <p:nvPr/>
        </p:nvSpPr>
        <p:spPr>
          <a:xfrm>
            <a:off x="7422076" y="4667641"/>
            <a:ext cx="14013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>
                <a:latin typeface="Gill Sans MT" panose="020B0502020104020203" pitchFamily="34" charset="0"/>
              </a:rPr>
              <a:t>Samuel Piron</a:t>
            </a:r>
            <a:endParaRPr lang="en-US" dirty="0">
              <a:latin typeface="Gill Sans MT" panose="020B0502020104020203" pitchFamily="34" charset="0"/>
            </a:endParaRPr>
          </a:p>
        </p:txBody>
      </p:sp>
      <p:pic>
        <p:nvPicPr>
          <p:cNvPr id="5" name="Picture 4" descr="A logo with a tree and text&#10;&#10;AI-generated content may be incorrect.">
            <a:extLst>
              <a:ext uri="{FF2B5EF4-FFF2-40B4-BE49-F238E27FC236}">
                <a16:creationId xmlns:a16="http://schemas.microsoft.com/office/drawing/2014/main" id="{D89DD8CA-D418-23B3-2186-0D5201142DB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76570" y="752255"/>
            <a:ext cx="1847111" cy="219680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B9A618C-F73B-F01E-FA63-D9AEDCD8BED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7245" y="3144027"/>
            <a:ext cx="3545763" cy="15236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398020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AEDA58-019D-E111-45C2-4F8BCE880A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55373E2-5AFE-B202-FCC2-FC072332DF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8459" y="187958"/>
            <a:ext cx="8374549" cy="369332"/>
          </a:xfrm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it-IT" sz="2400" b="1" dirty="0">
                <a:latin typeface="Gill Sans MT"/>
              </a:rPr>
              <a:t>Data </a:t>
            </a:r>
            <a:r>
              <a:rPr lang="it-IT" sz="2400" b="1" dirty="0" err="1">
                <a:latin typeface="Gill Sans MT"/>
              </a:rPr>
              <a:t>Augmentation</a:t>
            </a:r>
            <a:r>
              <a:rPr lang="it-IT" sz="2400" b="1" dirty="0">
                <a:latin typeface="Gill Sans MT"/>
              </a:rPr>
              <a:t> -  </a:t>
            </a:r>
            <a:r>
              <a:rPr lang="it-IT" sz="2400" b="1" dirty="0" err="1">
                <a:latin typeface="Gill Sans MT"/>
              </a:rPr>
              <a:t>Implementation</a:t>
            </a:r>
            <a:r>
              <a:rPr lang="it-IT" sz="2400" b="1" dirty="0">
                <a:latin typeface="Gill Sans MT"/>
              </a:rPr>
              <a:t> (II)</a:t>
            </a:r>
            <a:endParaRPr lang="it-IT" dirty="0">
              <a:latin typeface="Gill Sans MT"/>
            </a:endParaRPr>
          </a:p>
        </p:txBody>
      </p:sp>
      <p:pic>
        <p:nvPicPr>
          <p:cNvPr id="5" name="Picture 4" descr="A graph of a number of blue bars&#10;&#10;AI-generated content may be incorrect.">
            <a:extLst>
              <a:ext uri="{FF2B5EF4-FFF2-40B4-BE49-F238E27FC236}">
                <a16:creationId xmlns:a16="http://schemas.microsoft.com/office/drawing/2014/main" id="{DF84725C-945C-B34B-DE73-318545DEDAF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9263" y="1253928"/>
            <a:ext cx="4950788" cy="3263493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802CDAC1-1193-2DD3-BEFB-91ABAE6E90AC}"/>
              </a:ext>
            </a:extLst>
          </p:cNvPr>
          <p:cNvSpPr txBox="1"/>
          <p:nvPr/>
        </p:nvSpPr>
        <p:spPr>
          <a:xfrm>
            <a:off x="7422076" y="4667641"/>
            <a:ext cx="14013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>
                <a:latin typeface="Gill Sans MT" panose="020B0502020104020203" pitchFamily="34" charset="0"/>
              </a:rPr>
              <a:t>Samuel Piron</a:t>
            </a:r>
            <a:endParaRPr lang="en-US" dirty="0">
              <a:latin typeface="Gill Sans MT" panose="020B0502020104020203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560636B-ED15-9278-E4E4-EE20D88EE6BB}"/>
              </a:ext>
            </a:extLst>
          </p:cNvPr>
          <p:cNvSpPr txBox="1"/>
          <p:nvPr/>
        </p:nvSpPr>
        <p:spPr>
          <a:xfrm>
            <a:off x="198459" y="1316013"/>
            <a:ext cx="3820804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>
                <a:latin typeface="Gill Sans MT" panose="020B0502020104020203" pitchFamily="34" charset="0"/>
              </a:rPr>
              <a:t>The data </a:t>
            </a:r>
            <a:r>
              <a:rPr lang="it-IT" dirty="0" err="1">
                <a:latin typeface="Gill Sans MT" panose="020B0502020104020203" pitchFamily="34" charset="0"/>
              </a:rPr>
              <a:t>augmentation</a:t>
            </a:r>
            <a:r>
              <a:rPr lang="it-IT" dirty="0">
                <a:latin typeface="Gill Sans MT" panose="020B0502020104020203" pitchFamily="34" charset="0"/>
              </a:rPr>
              <a:t> </a:t>
            </a:r>
            <a:r>
              <a:rPr lang="it-IT" dirty="0" err="1">
                <a:latin typeface="Gill Sans MT" panose="020B0502020104020203" pitchFamily="34" charset="0"/>
              </a:rPr>
              <a:t>process</a:t>
            </a:r>
            <a:endParaRPr lang="it-IT" dirty="0">
              <a:latin typeface="Gill Sans MT" panose="020B0502020104020203" pitchFamily="34" charset="0"/>
            </a:endParaRPr>
          </a:p>
          <a:p>
            <a:r>
              <a:rPr lang="it-IT" dirty="0" err="1">
                <a:latin typeface="Gill Sans MT" panose="020B0502020104020203" pitchFamily="34" charset="0"/>
              </a:rPr>
              <a:t>does</a:t>
            </a:r>
            <a:r>
              <a:rPr lang="it-IT" dirty="0">
                <a:latin typeface="Gill Sans MT" panose="020B0502020104020203" pitchFamily="34" charset="0"/>
              </a:rPr>
              <a:t> </a:t>
            </a:r>
            <a:r>
              <a:rPr lang="it-IT" dirty="0" err="1">
                <a:latin typeface="Gill Sans MT" panose="020B0502020104020203" pitchFamily="34" charset="0"/>
              </a:rPr>
              <a:t>not</a:t>
            </a:r>
            <a:r>
              <a:rPr lang="it-IT" dirty="0">
                <a:latin typeface="Gill Sans MT" panose="020B0502020104020203" pitchFamily="34" charset="0"/>
              </a:rPr>
              <a:t> </a:t>
            </a:r>
            <a:r>
              <a:rPr lang="it-IT" dirty="0" err="1">
                <a:latin typeface="Gill Sans MT" panose="020B0502020104020203" pitchFamily="34" charset="0"/>
              </a:rPr>
              <a:t>improve</a:t>
            </a:r>
            <a:r>
              <a:rPr lang="it-IT" dirty="0">
                <a:latin typeface="Gill Sans MT" panose="020B0502020104020203" pitchFamily="34" charset="0"/>
              </a:rPr>
              <a:t> so </a:t>
            </a:r>
            <a:r>
              <a:rPr lang="it-IT" dirty="0" err="1">
                <a:latin typeface="Gill Sans MT" panose="020B0502020104020203" pitchFamily="34" charset="0"/>
              </a:rPr>
              <a:t>much</a:t>
            </a:r>
            <a:r>
              <a:rPr lang="it-IT" dirty="0">
                <a:latin typeface="Gill Sans MT" panose="020B0502020104020203" pitchFamily="34" charset="0"/>
              </a:rPr>
              <a:t> the P, R, F1 </a:t>
            </a:r>
          </a:p>
          <a:p>
            <a:r>
              <a:rPr lang="it-IT" dirty="0">
                <a:latin typeface="Gill Sans MT" panose="020B0502020104020203" pitchFamily="34" charset="0"/>
              </a:rPr>
              <a:t>score.</a:t>
            </a:r>
          </a:p>
          <a:p>
            <a:endParaRPr lang="it-IT" dirty="0">
              <a:latin typeface="Gill Sans MT" panose="020B0502020104020203" pitchFamily="34" charset="0"/>
            </a:endParaRPr>
          </a:p>
          <a:p>
            <a:r>
              <a:rPr lang="it-IT" b="1" dirty="0" err="1">
                <a:latin typeface="Gill Sans MT" panose="020B0502020104020203" pitchFamily="34" charset="0"/>
              </a:rPr>
              <a:t>Why</a:t>
            </a:r>
            <a:r>
              <a:rPr lang="it-IT" b="1" dirty="0">
                <a:latin typeface="Gill Sans MT" panose="020B0502020104020203" pitchFamily="34" charset="0"/>
              </a:rPr>
              <a:t>?</a:t>
            </a:r>
          </a:p>
          <a:p>
            <a:endParaRPr lang="it-IT" dirty="0">
              <a:latin typeface="Gill Sans MT" panose="020B0502020104020203" pitchFamily="34" charset="0"/>
            </a:endParaRPr>
          </a:p>
          <a:p>
            <a:r>
              <a:rPr lang="it-IT" dirty="0">
                <a:latin typeface="Gill Sans MT" panose="020B0502020104020203" pitchFamily="34" charset="0"/>
              </a:rPr>
              <a:t>The </a:t>
            </a:r>
            <a:r>
              <a:rPr lang="it-IT" dirty="0" err="1">
                <a:latin typeface="Gill Sans MT" panose="020B0502020104020203" pitchFamily="34" charset="0"/>
              </a:rPr>
              <a:t>GLiNER</a:t>
            </a:r>
            <a:r>
              <a:rPr lang="it-IT" dirty="0">
                <a:latin typeface="Gill Sans MT" panose="020B0502020104020203" pitchFamily="34" charset="0"/>
              </a:rPr>
              <a:t> model </a:t>
            </a:r>
            <a:r>
              <a:rPr lang="it-IT" dirty="0" err="1">
                <a:latin typeface="Gill Sans MT" panose="020B0502020104020203" pitchFamily="34" charset="0"/>
              </a:rPr>
              <a:t>maps</a:t>
            </a:r>
            <a:r>
              <a:rPr lang="it-IT" dirty="0">
                <a:latin typeface="Gill Sans MT" panose="020B0502020104020203" pitchFamily="34" charset="0"/>
              </a:rPr>
              <a:t> </a:t>
            </a:r>
            <a:r>
              <a:rPr lang="it-IT" dirty="0" err="1">
                <a:latin typeface="Gill Sans MT" panose="020B0502020104020203" pitchFamily="34" charset="0"/>
              </a:rPr>
              <a:t>similar</a:t>
            </a:r>
            <a:r>
              <a:rPr lang="it-IT" dirty="0">
                <a:latin typeface="Gill Sans MT" panose="020B0502020104020203" pitchFamily="34" charset="0"/>
              </a:rPr>
              <a:t> words close so </a:t>
            </a:r>
            <a:r>
              <a:rPr lang="it-IT" dirty="0" err="1">
                <a:latin typeface="Gill Sans MT" panose="020B0502020104020203" pitchFamily="34" charset="0"/>
              </a:rPr>
              <a:t>that</a:t>
            </a:r>
            <a:r>
              <a:rPr lang="it-IT" dirty="0">
                <a:latin typeface="Gill Sans MT" panose="020B0502020104020203" pitchFamily="34" charset="0"/>
              </a:rPr>
              <a:t> </a:t>
            </a:r>
            <a:r>
              <a:rPr lang="it-IT" dirty="0" err="1">
                <a:latin typeface="Gill Sans MT" panose="020B0502020104020203" pitchFamily="34" charset="0"/>
              </a:rPr>
              <a:t>most</a:t>
            </a:r>
            <a:r>
              <a:rPr lang="it-IT" dirty="0">
                <a:latin typeface="Gill Sans MT" panose="020B0502020104020203" pitchFamily="34" charset="0"/>
              </a:rPr>
              <a:t> of the </a:t>
            </a:r>
            <a:r>
              <a:rPr lang="it-IT" dirty="0" err="1">
                <a:latin typeface="Gill Sans MT" panose="020B0502020104020203" pitchFamily="34" charset="0"/>
              </a:rPr>
              <a:t>terms</a:t>
            </a:r>
            <a:r>
              <a:rPr lang="it-IT" dirty="0">
                <a:latin typeface="Gill Sans MT" panose="020B0502020104020203" pitchFamily="34" charset="0"/>
              </a:rPr>
              <a:t> with the Cosine </a:t>
            </a:r>
            <a:r>
              <a:rPr lang="it-IT" dirty="0" err="1">
                <a:latin typeface="Gill Sans MT" panose="020B0502020104020203" pitchFamily="34" charset="0"/>
              </a:rPr>
              <a:t>similarity</a:t>
            </a:r>
            <a:r>
              <a:rPr lang="it-IT" dirty="0">
                <a:latin typeface="Gill Sans MT" panose="020B0502020104020203" pitchFamily="34" charset="0"/>
              </a:rPr>
              <a:t> </a:t>
            </a:r>
            <a:r>
              <a:rPr lang="it-IT" dirty="0" err="1">
                <a:latin typeface="Gill Sans MT" panose="020B0502020104020203" pitchFamily="34" charset="0"/>
              </a:rPr>
              <a:t>greater</a:t>
            </a:r>
            <a:r>
              <a:rPr lang="it-IT" dirty="0">
                <a:latin typeface="Gill Sans MT" panose="020B0502020104020203" pitchFamily="34" charset="0"/>
              </a:rPr>
              <a:t> </a:t>
            </a:r>
            <a:r>
              <a:rPr lang="it-IT" dirty="0" err="1">
                <a:latin typeface="Gill Sans MT" panose="020B0502020104020203" pitchFamily="34" charset="0"/>
              </a:rPr>
              <a:t>than</a:t>
            </a:r>
            <a:r>
              <a:rPr lang="it-IT" dirty="0">
                <a:latin typeface="Gill Sans MT" panose="020B0502020104020203" pitchFamily="34" charset="0"/>
              </a:rPr>
              <a:t> 0.8 </a:t>
            </a:r>
            <a:r>
              <a:rPr lang="it-IT" dirty="0" err="1">
                <a:latin typeface="Gill Sans MT" panose="020B0502020104020203" pitchFamily="34" charset="0"/>
              </a:rPr>
              <a:t>that</a:t>
            </a:r>
            <a:r>
              <a:rPr lang="it-IT" dirty="0">
                <a:latin typeface="Gill Sans MT" panose="020B0502020104020203" pitchFamily="34" charset="0"/>
              </a:rPr>
              <a:t> are </a:t>
            </a:r>
            <a:r>
              <a:rPr lang="it-IT" dirty="0" err="1">
                <a:latin typeface="Gill Sans MT" panose="020B0502020104020203" pitchFamily="34" charset="0"/>
              </a:rPr>
              <a:t>replaced</a:t>
            </a:r>
            <a:r>
              <a:rPr lang="it-IT" dirty="0">
                <a:latin typeface="Gill Sans MT" panose="020B0502020104020203" pitchFamily="34" charset="0"/>
              </a:rPr>
              <a:t> do </a:t>
            </a:r>
            <a:r>
              <a:rPr lang="it-IT" dirty="0" err="1">
                <a:latin typeface="Gill Sans MT" panose="020B0502020104020203" pitchFamily="34" charset="0"/>
              </a:rPr>
              <a:t>not</a:t>
            </a:r>
            <a:r>
              <a:rPr lang="it-IT" dirty="0">
                <a:latin typeface="Gill Sans MT" panose="020B0502020104020203" pitchFamily="34" charset="0"/>
              </a:rPr>
              <a:t> </a:t>
            </a:r>
            <a:r>
              <a:rPr lang="it-IT" dirty="0" err="1">
                <a:latin typeface="Gill Sans MT" panose="020B0502020104020203" pitchFamily="34" charset="0"/>
              </a:rPr>
              <a:t>affect</a:t>
            </a:r>
            <a:r>
              <a:rPr lang="it-IT" dirty="0">
                <a:latin typeface="Gill Sans MT" panose="020B0502020104020203" pitchFamily="34" charset="0"/>
              </a:rPr>
              <a:t> the </a:t>
            </a:r>
            <a:r>
              <a:rPr lang="it-IT" dirty="0" err="1">
                <a:latin typeface="Gill Sans MT" panose="020B0502020104020203" pitchFamily="34" charset="0"/>
              </a:rPr>
              <a:t>precision</a:t>
            </a:r>
            <a:r>
              <a:rPr lang="it-IT" dirty="0">
                <a:latin typeface="Gill Sans MT" panose="020B0502020104020203" pitchFamily="34" charset="0"/>
              </a:rPr>
              <a:t>, recall and f1 score so </a:t>
            </a:r>
            <a:r>
              <a:rPr lang="it-IT" dirty="0" err="1">
                <a:latin typeface="Gill Sans MT" panose="020B0502020104020203" pitchFamily="34" charset="0"/>
              </a:rPr>
              <a:t>much</a:t>
            </a:r>
            <a:r>
              <a:rPr lang="it-IT" dirty="0">
                <a:latin typeface="Gill Sans MT" panose="020B0502020104020203" pitchFamily="34" charset="0"/>
              </a:rPr>
              <a:t>.</a:t>
            </a:r>
            <a:endParaRPr lang="en-US" dirty="0">
              <a:latin typeface="Gill Sans MT" panose="020B05020201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722703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25699DE-FB97-0664-4454-58658EF46D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47C159EC-5904-15F4-BA1C-5A1CB1F1AB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912447"/>
            <a:ext cx="548639" cy="505095"/>
            <a:chOff x="3940602" y="308034"/>
            <a:chExt cx="2116791" cy="3428999"/>
          </a:xfrm>
          <a:solidFill>
            <a:schemeClr val="accent4"/>
          </a:solidFill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D988112A-9DEE-14DA-4963-C48C3EB3A05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940602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7D872909-A689-65FA-CE02-5857BB26D71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715626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5D009383-2DB0-EDA1-113C-385CDDF7697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490650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6" name="Rectangle 15">
            <a:extLst>
              <a:ext uri="{FF2B5EF4-FFF2-40B4-BE49-F238E27FC236}">
                <a16:creationId xmlns:a16="http://schemas.microsoft.com/office/drawing/2014/main" id="{DA5C4719-2E41-91D3-721E-58C7BBDAE1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0059" y="460465"/>
            <a:ext cx="8180615" cy="142058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32A0F33-5E93-3FE7-7423-D25BBE634FE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82723" y="607423"/>
            <a:ext cx="7457037" cy="1165860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Bef>
                <a:spcPct val="0"/>
              </a:spcBef>
            </a:pPr>
            <a:r>
              <a:rPr lang="en-US" sz="3600" kern="1200" dirty="0">
                <a:latin typeface="Gill Sans MT" panose="020B0502020104020203" pitchFamily="34" charset="0"/>
                <a:ea typeface="Calibri"/>
                <a:cs typeface="Calibri"/>
              </a:rPr>
              <a:t>5. RE Model</a:t>
            </a:r>
            <a:endParaRPr lang="en-US" dirty="0">
              <a:latin typeface="Gill Sans MT" panose="020B0502020104020203" pitchFamily="34" charset="0"/>
              <a:cs typeface="+mj-cs"/>
            </a:endParaRP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C4E82B9E-84BF-4DD6-BA5F-AC3864674F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628650" y="4863984"/>
            <a:ext cx="7886700" cy="0"/>
          </a:xfrm>
          <a:prstGeom prst="line">
            <a:avLst/>
          </a:prstGeom>
          <a:ln w="571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7693896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Picture 17" descr="A black and white line art of a gear&#10;&#10;AI-generated content may be incorrect.">
            <a:extLst>
              <a:ext uri="{FF2B5EF4-FFF2-40B4-BE49-F238E27FC236}">
                <a16:creationId xmlns:a16="http://schemas.microsoft.com/office/drawing/2014/main" id="{211F4871-1EA0-9755-95E2-5B7D90AB662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765" t="12398" r="19001" b="25974"/>
          <a:stretch/>
        </p:blipFill>
        <p:spPr>
          <a:xfrm>
            <a:off x="7678260" y="3681474"/>
            <a:ext cx="999213" cy="973849"/>
          </a:xfrm>
          <a:prstGeom prst="rect">
            <a:avLst/>
          </a:prstGeom>
        </p:spPr>
      </p:pic>
      <p:pic>
        <p:nvPicPr>
          <p:cNvPr id="15" name="Picture 14" descr="A yellow emoji with a hand and a number one&#10;&#10;AI-generated content may be incorrect.">
            <a:extLst>
              <a:ext uri="{FF2B5EF4-FFF2-40B4-BE49-F238E27FC236}">
                <a16:creationId xmlns:a16="http://schemas.microsoft.com/office/drawing/2014/main" id="{274D5092-2561-2EC2-E0AE-E7C1325EB66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789" t="23640" r="60132" b="23640"/>
          <a:stretch/>
        </p:blipFill>
        <p:spPr>
          <a:xfrm>
            <a:off x="6225864" y="2041674"/>
            <a:ext cx="1371462" cy="1305415"/>
          </a:xfrm>
          <a:prstGeom prst="rect">
            <a:avLst/>
          </a:prstGeom>
        </p:spPr>
      </p:pic>
      <p:pic>
        <p:nvPicPr>
          <p:cNvPr id="11" name="Picture 10" descr="A blue circular logo with gears around it&#10;&#10;AI-generated content may be incorrect.">
            <a:extLst>
              <a:ext uri="{FF2B5EF4-FFF2-40B4-BE49-F238E27FC236}">
                <a16:creationId xmlns:a16="http://schemas.microsoft.com/office/drawing/2014/main" id="{4A482A07-952B-30E9-C848-6574DB62F22B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27122" y="3475940"/>
            <a:ext cx="785812" cy="785812"/>
          </a:xfrm>
          <a:prstGeom prst="rect">
            <a:avLst/>
          </a:prstGeom>
        </p:spPr>
      </p:pic>
      <p:pic>
        <p:nvPicPr>
          <p:cNvPr id="4" name="Picture 3" descr="A black and white logo&#10;&#10;AI-generated content may be incorrect.">
            <a:extLst>
              <a:ext uri="{FF2B5EF4-FFF2-40B4-BE49-F238E27FC236}">
                <a16:creationId xmlns:a16="http://schemas.microsoft.com/office/drawing/2014/main" id="{45BEA4CC-655B-FC6F-BE93-C4CF1097C90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77824" y="726276"/>
            <a:ext cx="989919" cy="989919"/>
          </a:xfrm>
          <a:prstGeom prst="rect">
            <a:avLst/>
          </a:prstGeom>
        </p:spPr>
      </p:pic>
      <p:sp>
        <p:nvSpPr>
          <p:cNvPr id="2" name="Titolo 1">
            <a:extLst>
              <a:ext uri="{FF2B5EF4-FFF2-40B4-BE49-F238E27FC236}">
                <a16:creationId xmlns:a16="http://schemas.microsoft.com/office/drawing/2014/main" id="{4B07E121-9E05-58A8-7B81-5B81F4526C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725" y="227662"/>
            <a:ext cx="8374549" cy="384721"/>
          </a:xfrm>
        </p:spPr>
        <p:txBody>
          <a:bodyPr wrap="square" lIns="0" tIns="0" rIns="0" bIns="0" anchor="t">
            <a:spAutoFit/>
          </a:bodyPr>
          <a:lstStyle/>
          <a:p>
            <a:r>
              <a:rPr lang="it-IT" b="1" dirty="0">
                <a:latin typeface="Gill Sans MT"/>
              </a:rPr>
              <a:t>RE Model – </a:t>
            </a:r>
            <a:r>
              <a:rPr lang="it-IT" b="1" dirty="0" err="1">
                <a:latin typeface="Gill Sans MT"/>
              </a:rPr>
              <a:t>Implementation</a:t>
            </a:r>
            <a:r>
              <a:rPr lang="it-IT" b="1" dirty="0">
                <a:latin typeface="Gill Sans MT"/>
              </a:rPr>
              <a:t> (I)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93C9F0C-C7A4-0614-76A7-BA6A997626B1}"/>
              </a:ext>
            </a:extLst>
          </p:cNvPr>
          <p:cNvSpPr txBox="1"/>
          <p:nvPr/>
        </p:nvSpPr>
        <p:spPr>
          <a:xfrm>
            <a:off x="235608" y="948752"/>
            <a:ext cx="3111749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400" dirty="0">
                <a:latin typeface="Gill Sans MT" panose="020B0502020104020203" pitchFamily="34" charset="0"/>
              </a:rPr>
              <a:t>1) </a:t>
            </a:r>
            <a:r>
              <a:rPr lang="it-IT" sz="1400" b="1" dirty="0">
                <a:latin typeface="Gill Sans MT" panose="020B0502020104020203" pitchFamily="34" charset="0"/>
              </a:rPr>
              <a:t>Load the JSON file </a:t>
            </a:r>
          </a:p>
          <a:p>
            <a:r>
              <a:rPr lang="it-IT" sz="1400" b="1" dirty="0">
                <a:latin typeface="Gill Sans MT" panose="020B0502020104020203" pitchFamily="34" charset="0"/>
              </a:rPr>
              <a:t>&amp; </a:t>
            </a:r>
            <a:r>
              <a:rPr lang="it-IT" sz="1400" b="1" dirty="0" err="1">
                <a:latin typeface="Gill Sans MT" panose="020B0502020104020203" pitchFamily="34" charset="0"/>
              </a:rPr>
              <a:t>Tokenizer</a:t>
            </a:r>
            <a:r>
              <a:rPr lang="it-IT" sz="1400" dirty="0">
                <a:latin typeface="Gill Sans MT" panose="020B0502020104020203" pitchFamily="34" charset="0"/>
              </a:rPr>
              <a:t>: load the </a:t>
            </a:r>
          </a:p>
          <a:p>
            <a:r>
              <a:rPr lang="it-IT" sz="1400" dirty="0" err="1">
                <a:latin typeface="Gill Sans MT" panose="020B0502020104020203" pitchFamily="34" charset="0"/>
              </a:rPr>
              <a:t>articles</a:t>
            </a:r>
            <a:r>
              <a:rPr lang="it-IT" sz="1400" dirty="0">
                <a:latin typeface="Gill Sans MT" panose="020B0502020104020203" pitchFamily="34" charset="0"/>
              </a:rPr>
              <a:t>, relations and </a:t>
            </a:r>
          </a:p>
          <a:p>
            <a:r>
              <a:rPr lang="it-IT" sz="1400" dirty="0" err="1">
                <a:latin typeface="Gill Sans MT" panose="020B0502020104020203" pitchFamily="34" charset="0"/>
              </a:rPr>
              <a:t>entities</a:t>
            </a:r>
            <a:r>
              <a:rPr lang="it-IT" sz="1400" dirty="0">
                <a:latin typeface="Gill Sans MT" panose="020B0502020104020203" pitchFamily="34" charset="0"/>
              </a:rPr>
              <a:t>; </a:t>
            </a:r>
            <a:r>
              <a:rPr lang="it-IT" sz="1400" dirty="0" err="1">
                <a:latin typeface="Gill Sans MT" panose="020B0502020104020203" pitchFamily="34" charset="0"/>
              </a:rPr>
              <a:t>then</a:t>
            </a:r>
            <a:r>
              <a:rPr lang="it-IT" sz="1400" dirty="0">
                <a:latin typeface="Gill Sans MT" panose="020B0502020104020203" pitchFamily="34" charset="0"/>
              </a:rPr>
              <a:t> use BERT </a:t>
            </a:r>
            <a:r>
              <a:rPr lang="it-IT" sz="1400" dirty="0" err="1">
                <a:latin typeface="Gill Sans MT" panose="020B0502020104020203" pitchFamily="34" charset="0"/>
              </a:rPr>
              <a:t>Tokenizer</a:t>
            </a:r>
            <a:endParaRPr lang="it-IT" sz="1400" dirty="0">
              <a:latin typeface="Gill Sans MT" panose="020B0502020104020203" pitchFamily="34" charset="0"/>
            </a:endParaRPr>
          </a:p>
          <a:p>
            <a:r>
              <a:rPr lang="it-IT" sz="1400" dirty="0">
                <a:latin typeface="Gill Sans MT" panose="020B0502020104020203" pitchFamily="34" charset="0"/>
              </a:rPr>
              <a:t>to </a:t>
            </a:r>
            <a:r>
              <a:rPr lang="it-IT" sz="1400" dirty="0" err="1">
                <a:latin typeface="Gill Sans MT" panose="020B0502020104020203" pitchFamily="34" charset="0"/>
              </a:rPr>
              <a:t>prepare</a:t>
            </a:r>
            <a:r>
              <a:rPr lang="it-IT" sz="1400" dirty="0">
                <a:latin typeface="Gill Sans MT" panose="020B0502020104020203" pitchFamily="34" charset="0"/>
              </a:rPr>
              <a:t> the input for the NN </a:t>
            </a:r>
            <a:r>
              <a:rPr lang="it-IT" sz="1400" dirty="0" err="1">
                <a:latin typeface="Gill Sans MT" panose="020B0502020104020203" pitchFamily="34" charset="0"/>
              </a:rPr>
              <a:t>adding</a:t>
            </a:r>
            <a:r>
              <a:rPr lang="it-IT" sz="1400" dirty="0">
                <a:latin typeface="Gill Sans MT" panose="020B0502020104020203" pitchFamily="34" charset="0"/>
              </a:rPr>
              <a:t> </a:t>
            </a:r>
          </a:p>
          <a:p>
            <a:r>
              <a:rPr lang="it-IT" sz="1400" dirty="0">
                <a:latin typeface="Gill Sans MT" panose="020B0502020104020203" pitchFamily="34" charset="0"/>
              </a:rPr>
              <a:t>[E1],[E2] to highlight </a:t>
            </a:r>
            <a:r>
              <a:rPr lang="it-IT" sz="1400" dirty="0" err="1">
                <a:latin typeface="Gill Sans MT" panose="020B0502020104020203" pitchFamily="34" charset="0"/>
              </a:rPr>
              <a:t>entities</a:t>
            </a:r>
            <a:r>
              <a:rPr lang="it-IT" sz="1400" dirty="0">
                <a:latin typeface="Gill Sans MT" panose="020B0502020104020203" pitchFamily="34" charset="0"/>
              </a:rPr>
              <a:t> in the text.</a:t>
            </a:r>
            <a:endParaRPr lang="en-US" sz="1400" dirty="0">
              <a:latin typeface="Gill Sans MT" panose="020B0502020104020203" pitchFamily="34" charset="0"/>
            </a:endParaRPr>
          </a:p>
        </p:txBody>
      </p:sp>
      <p:pic>
        <p:nvPicPr>
          <p:cNvPr id="8" name="Picture 7" descr="A black arrow pointing to the right&#10;&#10;AI-generated content may be incorrect.">
            <a:extLst>
              <a:ext uri="{FF2B5EF4-FFF2-40B4-BE49-F238E27FC236}">
                <a16:creationId xmlns:a16="http://schemas.microsoft.com/office/drawing/2014/main" id="{FE2253B8-22FA-9DF7-EE83-15A7243719A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104" t="30797" r="14467" b="37354"/>
          <a:stretch/>
        </p:blipFill>
        <p:spPr>
          <a:xfrm rot="5400000">
            <a:off x="979129" y="2891865"/>
            <a:ext cx="1232808" cy="346409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84996227-E345-1B47-9F3A-528F6CE11212}"/>
              </a:ext>
            </a:extLst>
          </p:cNvPr>
          <p:cNvSpPr txBox="1"/>
          <p:nvPr/>
        </p:nvSpPr>
        <p:spPr>
          <a:xfrm>
            <a:off x="252118" y="3807900"/>
            <a:ext cx="3208571" cy="116955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400" dirty="0">
                <a:latin typeface="Gill Sans MT" panose="020B0502020104020203" pitchFamily="34" charset="0"/>
              </a:rPr>
              <a:t>2) </a:t>
            </a:r>
            <a:r>
              <a:rPr lang="it-IT" sz="1400" b="1" dirty="0">
                <a:latin typeface="Gill Sans MT" panose="020B0502020104020203" pitchFamily="34" charset="0"/>
              </a:rPr>
              <a:t>Data </a:t>
            </a:r>
            <a:r>
              <a:rPr lang="it-IT" sz="1400" b="1" dirty="0" err="1">
                <a:latin typeface="Gill Sans MT" panose="020B0502020104020203" pitchFamily="34" charset="0"/>
              </a:rPr>
              <a:t>Preprocessing</a:t>
            </a:r>
            <a:r>
              <a:rPr lang="it-IT" sz="1400" dirty="0">
                <a:latin typeface="Gill Sans MT" panose="020B0502020104020203" pitchFamily="34" charset="0"/>
              </a:rPr>
              <a:t>: </a:t>
            </a:r>
          </a:p>
          <a:p>
            <a:r>
              <a:rPr lang="it-IT" sz="1400" dirty="0">
                <a:latin typeface="Gill Sans MT" panose="020B0502020104020203" pitchFamily="34" charset="0"/>
              </a:rPr>
              <a:t>Separate </a:t>
            </a:r>
            <a:r>
              <a:rPr lang="it-IT" sz="1400" dirty="0" err="1">
                <a:latin typeface="Gill Sans MT" panose="020B0502020104020203" pitchFamily="34" charset="0"/>
              </a:rPr>
              <a:t>entities</a:t>
            </a:r>
            <a:r>
              <a:rPr lang="it-IT" sz="1400" dirty="0">
                <a:latin typeface="Gill Sans MT" panose="020B0502020104020203" pitchFamily="34" charset="0"/>
              </a:rPr>
              <a:t> in the </a:t>
            </a:r>
            <a:r>
              <a:rPr lang="it-IT" sz="1400" dirty="0" err="1">
                <a:latin typeface="Gill Sans MT" panose="020B0502020104020203" pitchFamily="34" charset="0"/>
              </a:rPr>
              <a:t>title</a:t>
            </a:r>
            <a:r>
              <a:rPr lang="it-IT" sz="1400" dirty="0">
                <a:latin typeface="Gill Sans MT" panose="020B0502020104020203" pitchFamily="34" charset="0"/>
              </a:rPr>
              <a:t> or</a:t>
            </a:r>
          </a:p>
          <a:p>
            <a:r>
              <a:rPr lang="it-IT" sz="1400" dirty="0">
                <a:latin typeface="Gill Sans MT" panose="020B0502020104020203" pitchFamily="34" charset="0"/>
              </a:rPr>
              <a:t>in the abstract, filter relations </a:t>
            </a:r>
            <a:r>
              <a:rPr lang="it-IT" sz="1400" dirty="0" err="1">
                <a:latin typeface="Gill Sans MT" panose="020B0502020104020203" pitchFamily="34" charset="0"/>
              </a:rPr>
              <a:t>that</a:t>
            </a:r>
            <a:r>
              <a:rPr lang="it-IT" sz="1400" dirty="0">
                <a:latin typeface="Gill Sans MT" panose="020B0502020104020203" pitchFamily="34" charset="0"/>
              </a:rPr>
              <a:t> involve</a:t>
            </a:r>
          </a:p>
          <a:p>
            <a:r>
              <a:rPr lang="it-IT" sz="1400" dirty="0" err="1">
                <a:latin typeface="Gill Sans MT" panose="020B0502020104020203" pitchFamily="34" charset="0"/>
              </a:rPr>
              <a:t>both</a:t>
            </a:r>
            <a:r>
              <a:rPr lang="it-IT" sz="1400" dirty="0">
                <a:latin typeface="Gill Sans MT" panose="020B0502020104020203" pitchFamily="34" charset="0"/>
              </a:rPr>
              <a:t> of </a:t>
            </a:r>
            <a:r>
              <a:rPr lang="it-IT" sz="1400" dirty="0" err="1">
                <a:latin typeface="Gill Sans MT" panose="020B0502020104020203" pitchFamily="34" charset="0"/>
              </a:rPr>
              <a:t>them</a:t>
            </a:r>
            <a:r>
              <a:rPr lang="it-IT" sz="1400" dirty="0">
                <a:latin typeface="Gill Sans MT" panose="020B0502020104020203" pitchFamily="34" charset="0"/>
              </a:rPr>
              <a:t>; create </a:t>
            </a:r>
            <a:r>
              <a:rPr lang="it-IT" sz="1400" dirty="0" err="1">
                <a:latin typeface="Gill Sans MT" panose="020B0502020104020203" pitchFamily="34" charset="0"/>
              </a:rPr>
              <a:t>valid</a:t>
            </a:r>
            <a:r>
              <a:rPr lang="it-IT" sz="1400" dirty="0">
                <a:latin typeface="Gill Sans MT" panose="020B0502020104020203" pitchFamily="34" charset="0"/>
              </a:rPr>
              <a:t> relations </a:t>
            </a:r>
          </a:p>
          <a:p>
            <a:r>
              <a:rPr lang="it-IT" sz="1400" dirty="0">
                <a:latin typeface="Gill Sans MT" panose="020B0502020104020203" pitchFamily="34" charset="0"/>
              </a:rPr>
              <a:t>and non </a:t>
            </a:r>
            <a:r>
              <a:rPr lang="it-IT" sz="1400" dirty="0" err="1">
                <a:latin typeface="Gill Sans MT" panose="020B0502020104020203" pitchFamily="34" charset="0"/>
              </a:rPr>
              <a:t>valid</a:t>
            </a:r>
            <a:r>
              <a:rPr lang="it-IT" sz="1400" dirty="0">
                <a:latin typeface="Gill Sans MT" panose="020B0502020104020203" pitchFamily="34" charset="0"/>
              </a:rPr>
              <a:t> relations.</a:t>
            </a:r>
            <a:endParaRPr lang="en-US" sz="1400" dirty="0">
              <a:latin typeface="Gill Sans MT" panose="020B0502020104020203" pitchFamily="34" charset="0"/>
            </a:endParaRPr>
          </a:p>
        </p:txBody>
      </p:sp>
      <p:pic>
        <p:nvPicPr>
          <p:cNvPr id="12" name="Picture 11" descr="A black arrow pointing to the right&#10;&#10;AI-generated content may be incorrect.">
            <a:extLst>
              <a:ext uri="{FF2B5EF4-FFF2-40B4-BE49-F238E27FC236}">
                <a16:creationId xmlns:a16="http://schemas.microsoft.com/office/drawing/2014/main" id="{F5E4A0E2-9DA3-D60D-2E3B-FFFACF7481A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104" t="30797" r="14467" b="37354"/>
          <a:stretch/>
        </p:blipFill>
        <p:spPr>
          <a:xfrm rot="18458710">
            <a:off x="2642717" y="2172166"/>
            <a:ext cx="2637198" cy="525113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DF583D13-632D-9367-EAA0-068F6D1C9616}"/>
              </a:ext>
            </a:extLst>
          </p:cNvPr>
          <p:cNvSpPr txBox="1"/>
          <p:nvPr/>
        </p:nvSpPr>
        <p:spPr>
          <a:xfrm>
            <a:off x="4829380" y="848059"/>
            <a:ext cx="4249306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400" dirty="0">
                <a:latin typeface="Gill Sans MT" panose="020B0502020104020203" pitchFamily="34" charset="0"/>
              </a:rPr>
              <a:t>3) </a:t>
            </a:r>
            <a:r>
              <a:rPr lang="it-IT" sz="1400" b="1" dirty="0">
                <a:latin typeface="Gill Sans MT" panose="020B0502020104020203" pitchFamily="34" charset="0"/>
              </a:rPr>
              <a:t>The </a:t>
            </a:r>
            <a:r>
              <a:rPr lang="it-IT" sz="1400" b="1" dirty="0" err="1">
                <a:latin typeface="Gill Sans MT" panose="020B0502020104020203" pitchFamily="34" charset="0"/>
              </a:rPr>
              <a:t>PubMedBERT</a:t>
            </a:r>
            <a:r>
              <a:rPr lang="it-IT" sz="1400" b="1" dirty="0">
                <a:latin typeface="Gill Sans MT" panose="020B0502020104020203" pitchFamily="34" charset="0"/>
              </a:rPr>
              <a:t> Model</a:t>
            </a:r>
            <a:r>
              <a:rPr lang="it-IT" sz="1400" dirty="0">
                <a:latin typeface="Gill Sans MT" panose="020B0502020104020203" pitchFamily="34" charset="0"/>
              </a:rPr>
              <a:t>: </a:t>
            </a:r>
            <a:r>
              <a:rPr lang="it-IT" sz="1400" dirty="0" err="1">
                <a:latin typeface="Gill Sans MT" panose="020B0502020104020203" pitchFamily="34" charset="0"/>
              </a:rPr>
              <a:t>initialize</a:t>
            </a:r>
            <a:r>
              <a:rPr lang="it-IT" sz="1400" dirty="0">
                <a:latin typeface="Gill Sans MT" panose="020B0502020104020203" pitchFamily="34" charset="0"/>
              </a:rPr>
              <a:t> a BERT model </a:t>
            </a:r>
            <a:r>
              <a:rPr lang="it-IT" sz="1400" dirty="0" err="1">
                <a:latin typeface="Gill Sans MT" panose="020B0502020104020203" pitchFamily="34" charset="0"/>
              </a:rPr>
              <a:t>pre-trained</a:t>
            </a:r>
            <a:r>
              <a:rPr lang="it-IT" sz="1400" dirty="0">
                <a:latin typeface="Gill Sans MT" panose="020B0502020104020203" pitchFamily="34" charset="0"/>
              </a:rPr>
              <a:t> on </a:t>
            </a:r>
            <a:r>
              <a:rPr lang="it-IT" sz="1400" dirty="0" err="1">
                <a:latin typeface="Gill Sans MT" panose="020B0502020104020203" pitchFamily="34" charset="0"/>
              </a:rPr>
              <a:t>PubMed</a:t>
            </a:r>
            <a:r>
              <a:rPr lang="it-IT" sz="1400" dirty="0">
                <a:latin typeface="Gill Sans MT" panose="020B0502020104020203" pitchFamily="34" charset="0"/>
              </a:rPr>
              <a:t> abstracts. </a:t>
            </a:r>
            <a:r>
              <a:rPr lang="it-IT" sz="1400" dirty="0" err="1">
                <a:latin typeface="Gill Sans MT" panose="020B0502020104020203" pitchFamily="34" charset="0"/>
              </a:rPr>
              <a:t>Resize</a:t>
            </a:r>
            <a:r>
              <a:rPr lang="it-IT" sz="1400" dirty="0">
                <a:latin typeface="Gill Sans MT" panose="020B0502020104020203" pitchFamily="34" charset="0"/>
              </a:rPr>
              <a:t> the token </a:t>
            </a:r>
            <a:r>
              <a:rPr lang="it-IT" sz="1400" dirty="0" err="1">
                <a:latin typeface="Gill Sans MT" panose="020B0502020104020203" pitchFamily="34" charset="0"/>
              </a:rPr>
              <a:t>embedding</a:t>
            </a:r>
            <a:r>
              <a:rPr lang="it-IT" sz="1400" dirty="0">
                <a:latin typeface="Gill Sans MT" panose="020B0502020104020203" pitchFamily="34" charset="0"/>
              </a:rPr>
              <a:t> to include the markers ([E1], etc.).</a:t>
            </a:r>
          </a:p>
          <a:p>
            <a:r>
              <a:rPr lang="it-IT" sz="1400" dirty="0">
                <a:latin typeface="Gill Sans MT" panose="020B0502020104020203" pitchFamily="34" charset="0"/>
              </a:rPr>
              <a:t>Set up the model to </a:t>
            </a:r>
            <a:r>
              <a:rPr lang="it-IT" sz="1400" dirty="0" err="1">
                <a:latin typeface="Gill Sans MT" panose="020B0502020104020203" pitchFamily="34" charset="0"/>
              </a:rPr>
              <a:t>perform</a:t>
            </a:r>
            <a:r>
              <a:rPr lang="it-IT" sz="1400" dirty="0">
                <a:latin typeface="Gill Sans MT" panose="020B0502020104020203" pitchFamily="34" charset="0"/>
              </a:rPr>
              <a:t> </a:t>
            </a:r>
            <a:r>
              <a:rPr lang="it-IT" sz="1400" dirty="0" err="1">
                <a:latin typeface="Gill Sans MT" panose="020B0502020104020203" pitchFamily="34" charset="0"/>
              </a:rPr>
              <a:t>Sequence</a:t>
            </a:r>
            <a:r>
              <a:rPr lang="it-IT" sz="1400" dirty="0">
                <a:latin typeface="Gill Sans MT" panose="020B0502020104020203" pitchFamily="34" charset="0"/>
              </a:rPr>
              <a:t> </a:t>
            </a:r>
            <a:r>
              <a:rPr lang="it-IT" sz="1400" dirty="0" err="1">
                <a:latin typeface="Gill Sans MT" panose="020B0502020104020203" pitchFamily="34" charset="0"/>
              </a:rPr>
              <a:t>Classification</a:t>
            </a:r>
            <a:r>
              <a:rPr lang="it-IT" sz="1400" dirty="0">
                <a:latin typeface="Gill Sans MT" panose="020B0502020104020203" pitchFamily="34" charset="0"/>
              </a:rPr>
              <a:t>: </a:t>
            </a:r>
            <a:r>
              <a:rPr lang="it-IT" sz="1400" dirty="0" err="1">
                <a:latin typeface="Gill Sans MT" panose="020B0502020104020203" pitchFamily="34" charset="0"/>
              </a:rPr>
              <a:t>each</a:t>
            </a:r>
            <a:r>
              <a:rPr lang="it-IT" sz="1400" dirty="0">
                <a:latin typeface="Gill Sans MT" panose="020B0502020104020203" pitchFamily="34" charset="0"/>
              </a:rPr>
              <a:t> </a:t>
            </a:r>
            <a:r>
              <a:rPr lang="it-IT" sz="1400" dirty="0" err="1">
                <a:latin typeface="Gill Sans MT" panose="020B0502020104020203" pitchFamily="34" charset="0"/>
              </a:rPr>
              <a:t>sequence</a:t>
            </a:r>
            <a:r>
              <a:rPr lang="it-IT" sz="1400" dirty="0">
                <a:latin typeface="Gill Sans MT" panose="020B0502020104020203" pitchFamily="34" charset="0"/>
              </a:rPr>
              <a:t> </a:t>
            </a:r>
            <a:r>
              <a:rPr lang="it-IT" sz="1400" dirty="0" err="1">
                <a:latin typeface="Gill Sans MT" panose="020B0502020104020203" pitchFamily="34" charset="0"/>
              </a:rPr>
              <a:t>corresponds</a:t>
            </a:r>
            <a:r>
              <a:rPr lang="it-IT" sz="1400" dirty="0">
                <a:latin typeface="Gill Sans MT" panose="020B0502020104020203" pitchFamily="34" charset="0"/>
              </a:rPr>
              <a:t> to a </a:t>
            </a:r>
            <a:r>
              <a:rPr lang="it-IT" sz="1400" dirty="0" err="1">
                <a:latin typeface="Gill Sans MT" panose="020B0502020104020203" pitchFamily="34" charset="0"/>
              </a:rPr>
              <a:t>potential</a:t>
            </a:r>
            <a:r>
              <a:rPr lang="it-IT" sz="1400" dirty="0">
                <a:latin typeface="Gill Sans MT" panose="020B0502020104020203" pitchFamily="34" charset="0"/>
              </a:rPr>
              <a:t> relation </a:t>
            </a:r>
            <a:r>
              <a:rPr lang="it-IT" sz="1400" dirty="0" err="1">
                <a:latin typeface="Gill Sans MT" panose="020B0502020104020203" pitchFamily="34" charset="0"/>
              </a:rPr>
              <a:t>between</a:t>
            </a:r>
            <a:r>
              <a:rPr lang="it-IT" sz="1400" dirty="0">
                <a:latin typeface="Gill Sans MT" panose="020B0502020104020203" pitchFamily="34" charset="0"/>
              </a:rPr>
              <a:t> </a:t>
            </a:r>
            <a:r>
              <a:rPr lang="it-IT" sz="1400" dirty="0" err="1">
                <a:latin typeface="Gill Sans MT" panose="020B0502020104020203" pitchFamily="34" charset="0"/>
              </a:rPr>
              <a:t>two</a:t>
            </a:r>
            <a:r>
              <a:rPr lang="it-IT" sz="1400" dirty="0">
                <a:latin typeface="Gill Sans MT" panose="020B0502020104020203" pitchFamily="34" charset="0"/>
              </a:rPr>
              <a:t> </a:t>
            </a:r>
            <a:r>
              <a:rPr lang="it-IT" sz="1400" dirty="0" err="1">
                <a:latin typeface="Gill Sans MT" panose="020B0502020104020203" pitchFamily="34" charset="0"/>
              </a:rPr>
              <a:t>entities</a:t>
            </a:r>
            <a:r>
              <a:rPr lang="it-IT" sz="1400" dirty="0">
                <a:latin typeface="Gill Sans MT" panose="020B0502020104020203" pitchFamily="34" charset="0"/>
              </a:rPr>
              <a:t>.</a:t>
            </a:r>
            <a:endParaRPr lang="en-US" sz="1400" dirty="0">
              <a:latin typeface="Gill Sans MT" panose="020B0502020104020203" pitchFamily="34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7C5E8DD-58FA-D99B-4D5A-09376252DFFB}"/>
              </a:ext>
            </a:extLst>
          </p:cNvPr>
          <p:cNvSpPr txBox="1"/>
          <p:nvPr/>
        </p:nvSpPr>
        <p:spPr>
          <a:xfrm>
            <a:off x="4974571" y="3770456"/>
            <a:ext cx="2856883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>
                <a:latin typeface="Gill Sans MT" panose="020B0502020104020203" pitchFamily="34" charset="0"/>
              </a:rPr>
              <a:t>4) </a:t>
            </a:r>
            <a:r>
              <a:rPr lang="it-IT" sz="1400" b="1" dirty="0">
                <a:latin typeface="Gill Sans MT" panose="020B0502020104020203" pitchFamily="34" charset="0"/>
              </a:rPr>
              <a:t>Training Setup</a:t>
            </a:r>
            <a:r>
              <a:rPr lang="it-IT" sz="1400" dirty="0">
                <a:latin typeface="Gill Sans MT" panose="020B0502020104020203" pitchFamily="34" charset="0"/>
              </a:rPr>
              <a:t>: Set </a:t>
            </a:r>
            <a:r>
              <a:rPr lang="it-IT" sz="1400" dirty="0" err="1">
                <a:latin typeface="Gill Sans MT" panose="020B0502020104020203" pitchFamily="34" charset="0"/>
              </a:rPr>
              <a:t>optimizer</a:t>
            </a:r>
            <a:r>
              <a:rPr lang="it-IT" sz="1400" dirty="0">
                <a:latin typeface="Gill Sans MT" panose="020B0502020104020203" pitchFamily="34" charset="0"/>
              </a:rPr>
              <a:t> to </a:t>
            </a:r>
            <a:r>
              <a:rPr lang="it-IT" sz="1400" dirty="0" err="1">
                <a:latin typeface="Gill Sans MT" panose="020B0502020104020203" pitchFamily="34" charset="0"/>
              </a:rPr>
              <a:t>AdamW</a:t>
            </a:r>
            <a:r>
              <a:rPr lang="it-IT" sz="1400" dirty="0">
                <a:latin typeface="Gill Sans MT" panose="020B0502020104020203" pitchFamily="34" charset="0"/>
              </a:rPr>
              <a:t>; set up </a:t>
            </a:r>
            <a:r>
              <a:rPr lang="it-IT" sz="1400" dirty="0" err="1">
                <a:latin typeface="Gill Sans MT" panose="020B0502020104020203" pitchFamily="34" charset="0"/>
              </a:rPr>
              <a:t>hyperparameters</a:t>
            </a:r>
            <a:r>
              <a:rPr lang="it-IT" sz="1400" dirty="0">
                <a:latin typeface="Gill Sans MT" panose="020B0502020104020203" pitchFamily="34" charset="0"/>
              </a:rPr>
              <a:t> </a:t>
            </a:r>
            <a:r>
              <a:rPr lang="it-IT" sz="1400" dirty="0" err="1">
                <a:latin typeface="Gill Sans MT" panose="020B0502020104020203" pitchFamily="34" charset="0"/>
              </a:rPr>
              <a:t>that</a:t>
            </a:r>
            <a:r>
              <a:rPr lang="it-IT" sz="1400" dirty="0">
                <a:latin typeface="Gill Sans MT" panose="020B0502020104020203" pitchFamily="34" charset="0"/>
              </a:rPr>
              <a:t> are </a:t>
            </a:r>
            <a:r>
              <a:rPr lang="it-IT" sz="1400" dirty="0" err="1">
                <a:latin typeface="Gill Sans MT" panose="020B0502020104020203" pitchFamily="34" charset="0"/>
              </a:rPr>
              <a:t>going</a:t>
            </a:r>
            <a:r>
              <a:rPr lang="it-IT" sz="1400" dirty="0">
                <a:latin typeface="Gill Sans MT" panose="020B0502020104020203" pitchFamily="34" charset="0"/>
              </a:rPr>
              <a:t> to be </a:t>
            </a:r>
            <a:r>
              <a:rPr lang="it-IT" sz="1400" dirty="0" err="1">
                <a:latin typeface="Gill Sans MT" panose="020B0502020104020203" pitchFamily="34" charset="0"/>
              </a:rPr>
              <a:t>used</a:t>
            </a:r>
            <a:r>
              <a:rPr lang="it-IT" sz="1400" dirty="0">
                <a:latin typeface="Gill Sans MT" panose="020B0502020104020203" pitchFamily="34" charset="0"/>
              </a:rPr>
              <a:t> to </a:t>
            </a:r>
            <a:r>
              <a:rPr lang="it-IT" sz="1400" dirty="0" err="1">
                <a:latin typeface="Gill Sans MT" panose="020B0502020104020203" pitchFamily="34" charset="0"/>
              </a:rPr>
              <a:t>train</a:t>
            </a:r>
            <a:r>
              <a:rPr lang="it-IT" sz="1400" dirty="0">
                <a:latin typeface="Gill Sans MT" panose="020B0502020104020203" pitchFamily="34" charset="0"/>
              </a:rPr>
              <a:t> the model (</a:t>
            </a:r>
            <a:r>
              <a:rPr lang="it-IT" sz="1400" dirty="0" err="1">
                <a:latin typeface="Gill Sans MT" panose="020B0502020104020203" pitchFamily="34" charset="0"/>
              </a:rPr>
              <a:t>epoch</a:t>
            </a:r>
            <a:r>
              <a:rPr lang="it-IT" sz="1400" dirty="0">
                <a:latin typeface="Gill Sans MT" panose="020B0502020104020203" pitchFamily="34" charset="0"/>
              </a:rPr>
              <a:t>, steps, learning rate).</a:t>
            </a:r>
            <a:endParaRPr lang="en-US" sz="1400" dirty="0">
              <a:latin typeface="Gill Sans MT" panose="020B0502020104020203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AD7B79F-ACB7-2067-0C96-C25121CDA147}"/>
              </a:ext>
            </a:extLst>
          </p:cNvPr>
          <p:cNvSpPr txBox="1"/>
          <p:nvPr/>
        </p:nvSpPr>
        <p:spPr>
          <a:xfrm>
            <a:off x="7422076" y="4667641"/>
            <a:ext cx="14013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>
                <a:latin typeface="Gill Sans MT" panose="020B0502020104020203" pitchFamily="34" charset="0"/>
              </a:rPr>
              <a:t>Samuel Piron</a:t>
            </a:r>
            <a:endParaRPr lang="en-US" dirty="0">
              <a:latin typeface="Gill Sans MT" panose="020B05020201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7709100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B71FA7-461B-6122-86E8-4B6E3C573B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Picture 16" descr="A black and white floppy disk&#10;&#10;AI-generated content may be incorrect.">
            <a:extLst>
              <a:ext uri="{FF2B5EF4-FFF2-40B4-BE49-F238E27FC236}">
                <a16:creationId xmlns:a16="http://schemas.microsoft.com/office/drawing/2014/main" id="{CAB47E23-8108-D136-2B15-77920A492E0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380" t="17833" r="22989" b="15648"/>
          <a:stretch/>
        </p:blipFill>
        <p:spPr>
          <a:xfrm>
            <a:off x="7182854" y="2155375"/>
            <a:ext cx="1203158" cy="937719"/>
          </a:xfrm>
          <a:prstGeom prst="rect">
            <a:avLst/>
          </a:prstGeom>
        </p:spPr>
      </p:pic>
      <p:pic>
        <p:nvPicPr>
          <p:cNvPr id="10" name="Picture 9" descr="A black line drawing of a graph&#10;&#10;AI-generated content may be incorrect.">
            <a:extLst>
              <a:ext uri="{FF2B5EF4-FFF2-40B4-BE49-F238E27FC236}">
                <a16:creationId xmlns:a16="http://schemas.microsoft.com/office/drawing/2014/main" id="{6B0F33A5-D7CC-5538-E040-2264CCCD1AC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5469" y="3665523"/>
            <a:ext cx="1419727" cy="1419727"/>
          </a:xfrm>
          <a:prstGeom prst="rect">
            <a:avLst/>
          </a:prstGeom>
        </p:spPr>
      </p:pic>
      <p:pic>
        <p:nvPicPr>
          <p:cNvPr id="6" name="Picture 5" descr="A black and white logo&#10;&#10;AI-generated content may be incorrect.">
            <a:extLst>
              <a:ext uri="{FF2B5EF4-FFF2-40B4-BE49-F238E27FC236}">
                <a16:creationId xmlns:a16="http://schemas.microsoft.com/office/drawing/2014/main" id="{7654CE9B-DF1D-1397-0A7F-1AD83E71A9A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04472" y="1022596"/>
            <a:ext cx="1236398" cy="958047"/>
          </a:xfrm>
          <a:prstGeom prst="rect">
            <a:avLst/>
          </a:prstGeom>
        </p:spPr>
      </p:pic>
      <p:sp>
        <p:nvSpPr>
          <p:cNvPr id="2" name="Titolo 1">
            <a:extLst>
              <a:ext uri="{FF2B5EF4-FFF2-40B4-BE49-F238E27FC236}">
                <a16:creationId xmlns:a16="http://schemas.microsoft.com/office/drawing/2014/main" id="{CD227033-2DC9-D123-EEA0-99CE4B4736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725" y="227662"/>
            <a:ext cx="8374549" cy="384721"/>
          </a:xfrm>
        </p:spPr>
        <p:txBody>
          <a:bodyPr wrap="square" lIns="0" tIns="0" rIns="0" bIns="0" anchor="t">
            <a:spAutoFit/>
          </a:bodyPr>
          <a:lstStyle/>
          <a:p>
            <a:r>
              <a:rPr lang="it-IT" b="1" dirty="0">
                <a:latin typeface="Gill Sans MT"/>
              </a:rPr>
              <a:t>RE Model – </a:t>
            </a:r>
            <a:r>
              <a:rPr lang="it-IT" b="1" dirty="0" err="1">
                <a:latin typeface="Gill Sans MT"/>
              </a:rPr>
              <a:t>Implementation</a:t>
            </a:r>
            <a:r>
              <a:rPr lang="it-IT" b="1" dirty="0">
                <a:latin typeface="Gill Sans MT"/>
              </a:rPr>
              <a:t> (II)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D6EC903-4326-3DB1-899D-F9F42E9C2C2B}"/>
              </a:ext>
            </a:extLst>
          </p:cNvPr>
          <p:cNvSpPr txBox="1"/>
          <p:nvPr/>
        </p:nvSpPr>
        <p:spPr>
          <a:xfrm>
            <a:off x="455698" y="1152688"/>
            <a:ext cx="2890535" cy="140038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700" dirty="0">
                <a:latin typeface="Gill Sans MT" panose="020B0502020104020203" pitchFamily="34" charset="0"/>
              </a:rPr>
              <a:t>5) </a:t>
            </a:r>
            <a:r>
              <a:rPr lang="it-IT" sz="1700" b="1" dirty="0">
                <a:latin typeface="Gill Sans MT" panose="020B0502020104020203" pitchFamily="34" charset="0"/>
              </a:rPr>
              <a:t>Model Training</a:t>
            </a:r>
            <a:r>
              <a:rPr lang="it-IT" sz="1700" dirty="0">
                <a:latin typeface="Gill Sans MT" panose="020B0502020104020203" pitchFamily="34" charset="0"/>
              </a:rPr>
              <a:t>: the </a:t>
            </a:r>
          </a:p>
          <a:p>
            <a:r>
              <a:rPr lang="it-IT" sz="1700" dirty="0">
                <a:latin typeface="Gill Sans MT" panose="020B0502020104020203" pitchFamily="34" charset="0"/>
              </a:rPr>
              <a:t>model </a:t>
            </a:r>
            <a:r>
              <a:rPr lang="it-IT" sz="1700" dirty="0" err="1">
                <a:latin typeface="Gill Sans MT" panose="020B0502020104020203" pitchFamily="34" charset="0"/>
              </a:rPr>
              <a:t>undergoes</a:t>
            </a:r>
            <a:r>
              <a:rPr lang="it-IT" sz="1700" dirty="0">
                <a:latin typeface="Gill Sans MT" panose="020B0502020104020203" pitchFamily="34" charset="0"/>
              </a:rPr>
              <a:t> </a:t>
            </a:r>
            <a:r>
              <a:rPr lang="it-IT" sz="1700" dirty="0" err="1">
                <a:latin typeface="Gill Sans MT" panose="020B0502020104020203" pitchFamily="34" charset="0"/>
              </a:rPr>
              <a:t>forward</a:t>
            </a:r>
            <a:r>
              <a:rPr lang="it-IT" sz="1700" dirty="0">
                <a:latin typeface="Gill Sans MT" panose="020B0502020104020203" pitchFamily="34" charset="0"/>
              </a:rPr>
              <a:t> </a:t>
            </a:r>
          </a:p>
          <a:p>
            <a:r>
              <a:rPr lang="it-IT" sz="1700" dirty="0">
                <a:latin typeface="Gill Sans MT" panose="020B0502020104020203" pitchFamily="34" charset="0"/>
              </a:rPr>
              <a:t>and </a:t>
            </a:r>
            <a:r>
              <a:rPr lang="it-IT" sz="1700" dirty="0" err="1">
                <a:latin typeface="Gill Sans MT" panose="020B0502020104020203" pitchFamily="34" charset="0"/>
              </a:rPr>
              <a:t>backward</a:t>
            </a:r>
            <a:r>
              <a:rPr lang="it-IT" sz="1700" dirty="0">
                <a:latin typeface="Gill Sans MT" panose="020B0502020104020203" pitchFamily="34" charset="0"/>
              </a:rPr>
              <a:t> pass. Update</a:t>
            </a:r>
          </a:p>
          <a:p>
            <a:r>
              <a:rPr lang="it-IT" sz="1700" dirty="0">
                <a:latin typeface="Gill Sans MT" panose="020B0502020104020203" pitchFamily="34" charset="0"/>
              </a:rPr>
              <a:t>the </a:t>
            </a:r>
            <a:r>
              <a:rPr lang="it-IT" sz="1700" dirty="0" err="1">
                <a:latin typeface="Gill Sans MT" panose="020B0502020104020203" pitchFamily="34" charset="0"/>
              </a:rPr>
              <a:t>scheduler</a:t>
            </a:r>
            <a:r>
              <a:rPr lang="it-IT" sz="1700" dirty="0">
                <a:latin typeface="Gill Sans MT" panose="020B0502020104020203" pitchFamily="34" charset="0"/>
              </a:rPr>
              <a:t> and </a:t>
            </a:r>
            <a:r>
              <a:rPr lang="it-IT" sz="1700" dirty="0" err="1">
                <a:latin typeface="Gill Sans MT" panose="020B0502020104020203" pitchFamily="34" charset="0"/>
              </a:rPr>
              <a:t>optimizer</a:t>
            </a:r>
            <a:r>
              <a:rPr lang="it-IT" sz="1700" dirty="0">
                <a:latin typeface="Gill Sans MT" panose="020B0502020104020203" pitchFamily="34" charset="0"/>
              </a:rPr>
              <a:t> </a:t>
            </a:r>
            <a:r>
              <a:rPr lang="it-IT" sz="1700" dirty="0" err="1">
                <a:latin typeface="Gill Sans MT" panose="020B0502020104020203" pitchFamily="34" charset="0"/>
              </a:rPr>
              <a:t>at</a:t>
            </a:r>
            <a:endParaRPr lang="it-IT" sz="1700" dirty="0">
              <a:latin typeface="Gill Sans MT" panose="020B0502020104020203" pitchFamily="34" charset="0"/>
            </a:endParaRPr>
          </a:p>
          <a:p>
            <a:r>
              <a:rPr lang="it-IT" sz="1700" dirty="0" err="1">
                <a:latin typeface="Gill Sans MT" panose="020B0502020104020203" pitchFamily="34" charset="0"/>
              </a:rPr>
              <a:t>each</a:t>
            </a:r>
            <a:r>
              <a:rPr lang="it-IT" sz="1700" dirty="0">
                <a:latin typeface="Gill Sans MT" panose="020B0502020104020203" pitchFamily="34" charset="0"/>
              </a:rPr>
              <a:t> step.</a:t>
            </a:r>
            <a:endParaRPr lang="en-US" sz="1700" dirty="0">
              <a:latin typeface="Gill Sans MT" panose="020B0502020104020203" pitchFamily="34" charset="0"/>
            </a:endParaRPr>
          </a:p>
        </p:txBody>
      </p:sp>
      <p:pic>
        <p:nvPicPr>
          <p:cNvPr id="8" name="Picture 7" descr="A black arrow pointing to the right&#10;&#10;AI-generated content may be incorrect.">
            <a:extLst>
              <a:ext uri="{FF2B5EF4-FFF2-40B4-BE49-F238E27FC236}">
                <a16:creationId xmlns:a16="http://schemas.microsoft.com/office/drawing/2014/main" id="{C817667A-4EB4-A754-12E2-4CD7FFA3E13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104" t="30797" r="14467" b="37354"/>
          <a:stretch/>
        </p:blipFill>
        <p:spPr>
          <a:xfrm rot="5400000">
            <a:off x="979129" y="2891865"/>
            <a:ext cx="1232808" cy="346409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EE2A22B3-CA19-5BFE-FBEE-C8501F5C9351}"/>
              </a:ext>
            </a:extLst>
          </p:cNvPr>
          <p:cNvSpPr txBox="1"/>
          <p:nvPr/>
        </p:nvSpPr>
        <p:spPr>
          <a:xfrm>
            <a:off x="384725" y="3725079"/>
            <a:ext cx="3135795" cy="113877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700" dirty="0">
                <a:latin typeface="Gill Sans MT" panose="020B0502020104020203" pitchFamily="34" charset="0"/>
              </a:rPr>
              <a:t>6) </a:t>
            </a:r>
            <a:r>
              <a:rPr lang="it-IT" sz="1700" b="1" dirty="0">
                <a:latin typeface="Gill Sans MT" panose="020B0502020104020203" pitchFamily="34" charset="0"/>
              </a:rPr>
              <a:t>Evaluation </a:t>
            </a:r>
            <a:r>
              <a:rPr lang="it-IT" sz="1700" b="1" dirty="0" err="1">
                <a:latin typeface="Gill Sans MT" panose="020B0502020104020203" pitchFamily="34" charset="0"/>
              </a:rPr>
              <a:t>Metrics</a:t>
            </a:r>
            <a:r>
              <a:rPr lang="it-IT" sz="1700" dirty="0">
                <a:latin typeface="Gill Sans MT" panose="020B0502020104020203" pitchFamily="34" charset="0"/>
              </a:rPr>
              <a:t>: </a:t>
            </a:r>
          </a:p>
          <a:p>
            <a:r>
              <a:rPr lang="it-IT" sz="1700" dirty="0">
                <a:latin typeface="Gill Sans MT" panose="020B0502020104020203" pitchFamily="34" charset="0"/>
              </a:rPr>
              <a:t>after </a:t>
            </a:r>
            <a:r>
              <a:rPr lang="it-IT" sz="1700" dirty="0" err="1">
                <a:latin typeface="Gill Sans MT" panose="020B0502020104020203" pitchFamily="34" charset="0"/>
              </a:rPr>
              <a:t>each</a:t>
            </a:r>
            <a:r>
              <a:rPr lang="it-IT" sz="1700" dirty="0">
                <a:latin typeface="Gill Sans MT" panose="020B0502020104020203" pitchFamily="34" charset="0"/>
              </a:rPr>
              <a:t> </a:t>
            </a:r>
            <a:r>
              <a:rPr lang="it-IT" sz="1700" dirty="0" err="1">
                <a:latin typeface="Gill Sans MT" panose="020B0502020104020203" pitchFamily="34" charset="0"/>
              </a:rPr>
              <a:t>epoch</a:t>
            </a:r>
            <a:r>
              <a:rPr lang="it-IT" sz="1700" dirty="0">
                <a:latin typeface="Gill Sans MT" panose="020B0502020104020203" pitchFamily="34" charset="0"/>
              </a:rPr>
              <a:t>, </a:t>
            </a:r>
            <a:r>
              <a:rPr lang="it-IT" sz="1700" dirty="0" err="1">
                <a:latin typeface="Gill Sans MT" panose="020B0502020104020203" pitchFamily="34" charset="0"/>
              </a:rPr>
              <a:t>evaluate</a:t>
            </a:r>
            <a:r>
              <a:rPr lang="it-IT" sz="1700" dirty="0">
                <a:latin typeface="Gill Sans MT" panose="020B0502020104020203" pitchFamily="34" charset="0"/>
              </a:rPr>
              <a:t> the</a:t>
            </a:r>
          </a:p>
          <a:p>
            <a:r>
              <a:rPr lang="it-IT" sz="1700" dirty="0">
                <a:latin typeface="Gill Sans MT" panose="020B0502020104020203" pitchFamily="34" charset="0"/>
              </a:rPr>
              <a:t>model on a </a:t>
            </a:r>
            <a:r>
              <a:rPr lang="it-IT" sz="1700" dirty="0" err="1">
                <a:latin typeface="Gill Sans MT" panose="020B0502020104020203" pitchFamily="34" charset="0"/>
              </a:rPr>
              <a:t>validation</a:t>
            </a:r>
            <a:r>
              <a:rPr lang="it-IT" sz="1700" dirty="0">
                <a:latin typeface="Gill Sans MT" panose="020B0502020104020203" pitchFamily="34" charset="0"/>
              </a:rPr>
              <a:t> set printing</a:t>
            </a:r>
          </a:p>
          <a:p>
            <a:r>
              <a:rPr lang="it-IT" sz="1700" dirty="0">
                <a:latin typeface="Gill Sans MT" panose="020B0502020104020203" pitchFamily="34" charset="0"/>
              </a:rPr>
              <a:t>Precision, Recall, F1 Score.</a:t>
            </a:r>
          </a:p>
        </p:txBody>
      </p:sp>
      <p:pic>
        <p:nvPicPr>
          <p:cNvPr id="12" name="Picture 11" descr="A black arrow pointing to the right&#10;&#10;AI-generated content may be incorrect.">
            <a:extLst>
              <a:ext uri="{FF2B5EF4-FFF2-40B4-BE49-F238E27FC236}">
                <a16:creationId xmlns:a16="http://schemas.microsoft.com/office/drawing/2014/main" id="{6DE1F7E9-FDDC-4784-88AD-1D6F5F6FA22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104" t="30797" r="14467" b="37354"/>
          <a:stretch/>
        </p:blipFill>
        <p:spPr>
          <a:xfrm rot="19290524">
            <a:off x="3118832" y="2830538"/>
            <a:ext cx="1512997" cy="525113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B5018A6-2068-2232-0B37-73250FDF46F0}"/>
              </a:ext>
            </a:extLst>
          </p:cNvPr>
          <p:cNvSpPr txBox="1"/>
          <p:nvPr/>
        </p:nvSpPr>
        <p:spPr>
          <a:xfrm>
            <a:off x="4572000" y="2159666"/>
            <a:ext cx="2610854" cy="8771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700" dirty="0">
                <a:latin typeface="Gill Sans MT" panose="020B0502020104020203" pitchFamily="34" charset="0"/>
              </a:rPr>
              <a:t>7) </a:t>
            </a:r>
            <a:r>
              <a:rPr lang="it-IT" sz="1700" b="1" dirty="0">
                <a:latin typeface="Gill Sans MT" panose="020B0502020104020203" pitchFamily="34" charset="0"/>
              </a:rPr>
              <a:t>Save the model</a:t>
            </a:r>
            <a:r>
              <a:rPr lang="it-IT" sz="1700" dirty="0">
                <a:latin typeface="Gill Sans MT" panose="020B0502020104020203" pitchFamily="34" charset="0"/>
              </a:rPr>
              <a:t>: </a:t>
            </a:r>
            <a:r>
              <a:rPr lang="it-IT" sz="1700" dirty="0" err="1">
                <a:latin typeface="Gill Sans MT" panose="020B0502020104020203" pitchFamily="34" charset="0"/>
              </a:rPr>
              <a:t>save</a:t>
            </a:r>
            <a:r>
              <a:rPr lang="it-IT" sz="1700" dirty="0">
                <a:latin typeface="Gill Sans MT" panose="020B0502020104020203" pitchFamily="34" charset="0"/>
              </a:rPr>
              <a:t> the model weights and </a:t>
            </a:r>
            <a:r>
              <a:rPr lang="it-IT" sz="1700" dirty="0" err="1">
                <a:latin typeface="Gill Sans MT" panose="020B0502020104020203" pitchFamily="34" charset="0"/>
              </a:rPr>
              <a:t>tokenizer</a:t>
            </a:r>
            <a:r>
              <a:rPr lang="it-IT" sz="1700" dirty="0">
                <a:latin typeface="Gill Sans MT" panose="020B0502020104020203" pitchFamily="34" charset="0"/>
              </a:rPr>
              <a:t> for future use. </a:t>
            </a:r>
            <a:endParaRPr lang="en-US" sz="1700" dirty="0">
              <a:latin typeface="Gill Sans MT" panose="020B0502020104020203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4ECAE47-F201-C780-E353-4D302FAE14D4}"/>
              </a:ext>
            </a:extLst>
          </p:cNvPr>
          <p:cNvSpPr txBox="1"/>
          <p:nvPr/>
        </p:nvSpPr>
        <p:spPr>
          <a:xfrm>
            <a:off x="7422076" y="4667641"/>
            <a:ext cx="14013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>
                <a:latin typeface="Gill Sans MT" panose="020B0502020104020203" pitchFamily="34" charset="0"/>
              </a:rPr>
              <a:t>Samuel Piron</a:t>
            </a:r>
            <a:endParaRPr lang="en-US" dirty="0">
              <a:latin typeface="Gill Sans MT" panose="020B05020201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6390565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467A5A-5DF7-04BC-AE7F-77DF30D711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olo 1">
            <a:extLst>
              <a:ext uri="{FF2B5EF4-FFF2-40B4-BE49-F238E27FC236}">
                <a16:creationId xmlns:a16="http://schemas.microsoft.com/office/drawing/2014/main" id="{2BE2935F-1E0F-0D04-868C-9A80E5093B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725" y="172986"/>
            <a:ext cx="8374549" cy="384721"/>
          </a:xfrm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it-IT" b="1">
                <a:latin typeface="Gill Sans MT"/>
              </a:rPr>
              <a:t>RE Model – Train Pipeline (III)</a:t>
            </a:r>
            <a:endParaRPr lang="it-IT" dirty="0">
              <a:latin typeface="Gill Sans MT"/>
            </a:endParaRP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59DE9E55-2897-AAB1-D639-C1DF5179A86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637" b="31647"/>
          <a:stretch/>
        </p:blipFill>
        <p:spPr>
          <a:xfrm>
            <a:off x="384725" y="557707"/>
            <a:ext cx="4030864" cy="2675154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8E5B592E-735E-C5C9-3EB3-F743E26E215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5400" b="9111"/>
          <a:stretch/>
        </p:blipFill>
        <p:spPr>
          <a:xfrm>
            <a:off x="384726" y="3232861"/>
            <a:ext cx="4030864" cy="1791761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E0B96986-60C1-E222-2313-4A119E2CF66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8412" y="557707"/>
            <a:ext cx="4063842" cy="3030447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03A9DB5F-805B-7ACB-D7C6-365B66EF22C5}"/>
              </a:ext>
            </a:extLst>
          </p:cNvPr>
          <p:cNvSpPr txBox="1"/>
          <p:nvPr/>
        </p:nvSpPr>
        <p:spPr>
          <a:xfrm>
            <a:off x="4728412" y="3588154"/>
            <a:ext cx="388503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 err="1">
                <a:latin typeface="Gill Sans MT" panose="020B0502020104020203" pitchFamily="34" charset="0"/>
              </a:rPr>
              <a:t>Process</a:t>
            </a:r>
            <a:r>
              <a:rPr lang="it-IT" dirty="0">
                <a:latin typeface="Gill Sans MT" panose="020B0502020104020203" pitchFamily="34" charset="0"/>
              </a:rPr>
              <a:t> data and relations </a:t>
            </a:r>
            <a:r>
              <a:rPr lang="it-IT" dirty="0" err="1">
                <a:latin typeface="Gill Sans MT" panose="020B0502020104020203" pitchFamily="34" charset="0"/>
              </a:rPr>
              <a:t>function</a:t>
            </a:r>
            <a:r>
              <a:rPr lang="it-IT" dirty="0">
                <a:latin typeface="Gill Sans MT" panose="020B0502020104020203" pitchFamily="34" charset="0"/>
              </a:rPr>
              <a:t> and</a:t>
            </a:r>
          </a:p>
          <a:p>
            <a:r>
              <a:rPr lang="it-IT" dirty="0" err="1">
                <a:latin typeface="Gill Sans MT" panose="020B0502020104020203" pitchFamily="34" charset="0"/>
              </a:rPr>
              <a:t>train</a:t>
            </a:r>
            <a:r>
              <a:rPr lang="it-IT" dirty="0">
                <a:latin typeface="Gill Sans MT" panose="020B0502020104020203" pitchFamily="34" charset="0"/>
              </a:rPr>
              <a:t> </a:t>
            </a:r>
            <a:r>
              <a:rPr lang="it-IT" dirty="0" err="1">
                <a:latin typeface="Gill Sans MT" panose="020B0502020104020203" pitchFamily="34" charset="0"/>
              </a:rPr>
              <a:t>function</a:t>
            </a:r>
            <a:r>
              <a:rPr lang="it-IT" dirty="0">
                <a:latin typeface="Gill Sans MT" panose="020B0502020104020203" pitchFamily="34" charset="0"/>
              </a:rPr>
              <a:t>.</a:t>
            </a:r>
            <a:endParaRPr lang="en-US" dirty="0">
              <a:latin typeface="Gill Sans MT" panose="020B05020201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38D0A00-C8AF-4B84-2610-4AF8D721D25B}"/>
              </a:ext>
            </a:extLst>
          </p:cNvPr>
          <p:cNvSpPr txBox="1"/>
          <p:nvPr/>
        </p:nvSpPr>
        <p:spPr>
          <a:xfrm>
            <a:off x="7422076" y="4667641"/>
            <a:ext cx="14013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>
                <a:latin typeface="Gill Sans MT" panose="020B0502020104020203" pitchFamily="34" charset="0"/>
              </a:rPr>
              <a:t>Samuel Piron</a:t>
            </a:r>
            <a:endParaRPr lang="en-US" dirty="0">
              <a:latin typeface="Gill Sans MT" panose="020B05020201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9753579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094640-B328-00D2-DF10-82637D842F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FC02859-E5D3-9D4B-F1AA-B37C3BF1D6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724" y="206674"/>
            <a:ext cx="8374549" cy="384721"/>
          </a:xfrm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it-IT" b="1" dirty="0">
                <a:latin typeface="Gill Sans MT"/>
              </a:rPr>
              <a:t>RE Model – Key Points</a:t>
            </a:r>
            <a:endParaRPr lang="it-IT" dirty="0">
              <a:latin typeface="Gill Sans MT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EDC69A2-DC68-AD8B-76EA-8C1D8BBD6455}"/>
              </a:ext>
            </a:extLst>
          </p:cNvPr>
          <p:cNvSpPr txBox="1"/>
          <p:nvPr/>
        </p:nvSpPr>
        <p:spPr>
          <a:xfrm>
            <a:off x="384724" y="1002089"/>
            <a:ext cx="8374549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>
                <a:latin typeface="Gill Sans MT" panose="020B0502020104020203" pitchFamily="34" charset="0"/>
              </a:rPr>
              <a:t>1) Using a </a:t>
            </a:r>
            <a:r>
              <a:rPr lang="it-IT" dirty="0" err="1">
                <a:latin typeface="Gill Sans MT" panose="020B0502020104020203" pitchFamily="34" charset="0"/>
              </a:rPr>
              <a:t>pre-trained</a:t>
            </a:r>
            <a:r>
              <a:rPr lang="it-IT" dirty="0">
                <a:latin typeface="Gill Sans MT" panose="020B0502020104020203" pitchFamily="34" charset="0"/>
              </a:rPr>
              <a:t> model on </a:t>
            </a:r>
            <a:r>
              <a:rPr lang="it-IT" dirty="0" err="1">
                <a:latin typeface="Gill Sans MT" panose="020B0502020104020203" pitchFamily="34" charset="0"/>
              </a:rPr>
              <a:t>PubMed</a:t>
            </a:r>
            <a:r>
              <a:rPr lang="it-IT" dirty="0">
                <a:latin typeface="Gill Sans MT" panose="020B0502020104020203" pitchFamily="34" charset="0"/>
              </a:rPr>
              <a:t> abstracts </a:t>
            </a:r>
            <a:r>
              <a:rPr lang="it-IT" dirty="0" err="1">
                <a:latin typeface="Gill Sans MT" panose="020B0502020104020203" pitchFamily="34" charset="0"/>
              </a:rPr>
              <a:t>improved</a:t>
            </a:r>
            <a:r>
              <a:rPr lang="it-IT" dirty="0">
                <a:latin typeface="Gill Sans MT" panose="020B0502020104020203" pitchFamily="34" charset="0"/>
              </a:rPr>
              <a:t> the </a:t>
            </a:r>
            <a:r>
              <a:rPr lang="it-IT" dirty="0" err="1">
                <a:latin typeface="Gill Sans MT" panose="020B0502020104020203" pitchFamily="34" charset="0"/>
              </a:rPr>
              <a:t>precision</a:t>
            </a:r>
            <a:r>
              <a:rPr lang="it-IT" dirty="0">
                <a:latin typeface="Gill Sans MT" panose="020B0502020104020203" pitchFamily="34" charset="0"/>
              </a:rPr>
              <a:t>, recall and f1 score of the </a:t>
            </a:r>
            <a:r>
              <a:rPr lang="it-IT" dirty="0" err="1">
                <a:latin typeface="Gill Sans MT" panose="020B0502020104020203" pitchFamily="34" charset="0"/>
              </a:rPr>
              <a:t>predictions</a:t>
            </a:r>
            <a:r>
              <a:rPr lang="it-IT" dirty="0">
                <a:latin typeface="Gill Sans MT" panose="020B0502020104020203" pitchFamily="34" charset="0"/>
              </a:rPr>
              <a:t>.</a:t>
            </a:r>
          </a:p>
          <a:p>
            <a:r>
              <a:rPr lang="it-IT" dirty="0">
                <a:latin typeface="Gill Sans MT" panose="020B0502020104020203" pitchFamily="34" charset="0"/>
              </a:rPr>
              <a:t>The model </a:t>
            </a:r>
            <a:r>
              <a:rPr lang="it-IT" dirty="0" err="1">
                <a:latin typeface="Gill Sans MT" panose="020B0502020104020203" pitchFamily="34" charset="0"/>
              </a:rPr>
              <a:t>uses</a:t>
            </a:r>
            <a:r>
              <a:rPr lang="it-IT" dirty="0">
                <a:latin typeface="Gill Sans MT" panose="020B0502020104020203" pitchFamily="34" charset="0"/>
              </a:rPr>
              <a:t> special </a:t>
            </a:r>
            <a:r>
              <a:rPr lang="it-IT" dirty="0" err="1">
                <a:latin typeface="Gill Sans MT" panose="020B0502020104020203" pitchFamily="34" charset="0"/>
              </a:rPr>
              <a:t>entity</a:t>
            </a:r>
            <a:r>
              <a:rPr lang="it-IT" dirty="0">
                <a:latin typeface="Gill Sans MT" panose="020B0502020104020203" pitchFamily="34" charset="0"/>
              </a:rPr>
              <a:t> markers to </a:t>
            </a:r>
            <a:r>
              <a:rPr lang="it-IT" dirty="0" err="1">
                <a:latin typeface="Gill Sans MT" panose="020B0502020104020203" pitchFamily="34" charset="0"/>
              </a:rPr>
              <a:t>improve</a:t>
            </a:r>
            <a:r>
              <a:rPr lang="it-IT" dirty="0">
                <a:latin typeface="Gill Sans MT" panose="020B0502020104020203" pitchFamily="34" charset="0"/>
              </a:rPr>
              <a:t> </a:t>
            </a:r>
            <a:r>
              <a:rPr lang="it-IT" dirty="0" err="1">
                <a:latin typeface="Gill Sans MT" panose="020B0502020104020203" pitchFamily="34" charset="0"/>
              </a:rPr>
              <a:t>its</a:t>
            </a:r>
            <a:r>
              <a:rPr lang="it-IT" dirty="0">
                <a:latin typeface="Gill Sans MT" panose="020B0502020104020203" pitchFamily="34" charset="0"/>
              </a:rPr>
              <a:t> </a:t>
            </a:r>
            <a:r>
              <a:rPr lang="it-IT" dirty="0" err="1">
                <a:latin typeface="Gill Sans MT" panose="020B0502020104020203" pitchFamily="34" charset="0"/>
              </a:rPr>
              <a:t>ability</a:t>
            </a:r>
            <a:r>
              <a:rPr lang="it-IT" dirty="0">
                <a:latin typeface="Gill Sans MT" panose="020B0502020104020203" pitchFamily="34" charset="0"/>
              </a:rPr>
              <a:t> to </a:t>
            </a:r>
            <a:r>
              <a:rPr lang="it-IT" dirty="0" err="1">
                <a:latin typeface="Gill Sans MT" panose="020B0502020104020203" pitchFamily="34" charset="0"/>
              </a:rPr>
              <a:t>recognize</a:t>
            </a:r>
            <a:r>
              <a:rPr lang="it-IT" dirty="0">
                <a:latin typeface="Gill Sans MT" panose="020B0502020104020203" pitchFamily="34" charset="0"/>
              </a:rPr>
              <a:t> </a:t>
            </a:r>
            <a:r>
              <a:rPr lang="it-IT" dirty="0" err="1">
                <a:latin typeface="Gill Sans MT" panose="020B0502020104020203" pitchFamily="34" charset="0"/>
              </a:rPr>
              <a:t>relationships</a:t>
            </a:r>
            <a:r>
              <a:rPr lang="it-IT" dirty="0">
                <a:latin typeface="Gill Sans MT" panose="020B0502020104020203" pitchFamily="34" charset="0"/>
              </a:rPr>
              <a:t> </a:t>
            </a:r>
            <a:r>
              <a:rPr lang="it-IT" dirty="0" err="1">
                <a:latin typeface="Gill Sans MT" panose="020B0502020104020203" pitchFamily="34" charset="0"/>
              </a:rPr>
              <a:t>between</a:t>
            </a:r>
            <a:r>
              <a:rPr lang="it-IT" dirty="0">
                <a:latin typeface="Gill Sans MT" panose="020B0502020104020203" pitchFamily="34" charset="0"/>
              </a:rPr>
              <a:t> </a:t>
            </a:r>
            <a:r>
              <a:rPr lang="it-IT" dirty="0" err="1">
                <a:latin typeface="Gill Sans MT" panose="020B0502020104020203" pitchFamily="34" charset="0"/>
              </a:rPr>
              <a:t>entities</a:t>
            </a:r>
            <a:r>
              <a:rPr lang="it-IT" dirty="0">
                <a:latin typeface="Gill Sans MT" panose="020B0502020104020203" pitchFamily="34" charset="0"/>
              </a:rPr>
              <a:t>.</a:t>
            </a:r>
          </a:p>
          <a:p>
            <a:endParaRPr lang="it-IT" dirty="0">
              <a:latin typeface="Gill Sans MT" panose="020B0502020104020203" pitchFamily="34" charset="0"/>
            </a:endParaRPr>
          </a:p>
          <a:p>
            <a:r>
              <a:rPr lang="it-IT" dirty="0">
                <a:latin typeface="Gill Sans MT" panose="020B0502020104020203" pitchFamily="34" charset="0"/>
              </a:rPr>
              <a:t>2) </a:t>
            </a:r>
            <a:r>
              <a:rPr lang="it-IT" b="1" dirty="0">
                <a:latin typeface="Gill Sans MT" panose="020B0502020104020203" pitchFamily="34" charset="0"/>
              </a:rPr>
              <a:t>Label2id</a:t>
            </a:r>
            <a:r>
              <a:rPr lang="it-IT" dirty="0">
                <a:latin typeface="Gill Sans MT" panose="020B0502020104020203" pitchFamily="34" charset="0"/>
              </a:rPr>
              <a:t> </a:t>
            </a:r>
            <a:r>
              <a:rPr lang="it-IT" dirty="0" err="1">
                <a:latin typeface="Gill Sans MT" panose="020B0502020104020203" pitchFamily="34" charset="0"/>
              </a:rPr>
              <a:t>converts</a:t>
            </a:r>
            <a:r>
              <a:rPr lang="it-IT" dirty="0">
                <a:latin typeface="Gill Sans MT" panose="020B0502020104020203" pitchFamily="34" charset="0"/>
              </a:rPr>
              <a:t> </a:t>
            </a:r>
            <a:r>
              <a:rPr lang="it-IT" dirty="0" err="1">
                <a:latin typeface="Gill Sans MT" panose="020B0502020104020203" pitchFamily="34" charset="0"/>
              </a:rPr>
              <a:t>relationship</a:t>
            </a:r>
            <a:r>
              <a:rPr lang="it-IT" dirty="0">
                <a:latin typeface="Gill Sans MT" panose="020B0502020104020203" pitchFamily="34" charset="0"/>
              </a:rPr>
              <a:t> labels from text to </a:t>
            </a:r>
            <a:r>
              <a:rPr lang="it-IT" dirty="0" err="1">
                <a:latin typeface="Gill Sans MT" panose="020B0502020104020203" pitchFamily="34" charset="0"/>
              </a:rPr>
              <a:t>numerical</a:t>
            </a:r>
            <a:r>
              <a:rPr lang="it-IT" dirty="0">
                <a:latin typeface="Gill Sans MT" panose="020B0502020104020203" pitchFamily="34" charset="0"/>
              </a:rPr>
              <a:t> </a:t>
            </a:r>
            <a:r>
              <a:rPr lang="it-IT" dirty="0" err="1">
                <a:latin typeface="Gill Sans MT" panose="020B0502020104020203" pitchFamily="34" charset="0"/>
              </a:rPr>
              <a:t>form</a:t>
            </a:r>
            <a:r>
              <a:rPr lang="it-IT" dirty="0">
                <a:latin typeface="Gill Sans MT" panose="020B0502020104020203" pitchFamily="34" charset="0"/>
              </a:rPr>
              <a:t>, </a:t>
            </a:r>
            <a:r>
              <a:rPr lang="it-IT" dirty="0" err="1">
                <a:latin typeface="Gill Sans MT" panose="020B0502020104020203" pitchFamily="34" charset="0"/>
              </a:rPr>
              <a:t>essential</a:t>
            </a:r>
            <a:r>
              <a:rPr lang="it-IT" dirty="0">
                <a:latin typeface="Gill Sans MT" panose="020B0502020104020203" pitchFamily="34" charset="0"/>
              </a:rPr>
              <a:t> for multi-class </a:t>
            </a:r>
            <a:r>
              <a:rPr lang="it-IT" dirty="0" err="1">
                <a:latin typeface="Gill Sans MT" panose="020B0502020104020203" pitchFamily="34" charset="0"/>
              </a:rPr>
              <a:t>classification</a:t>
            </a:r>
            <a:r>
              <a:rPr lang="it-IT" dirty="0">
                <a:latin typeface="Gill Sans MT" panose="020B0502020104020203" pitchFamily="34" charset="0"/>
              </a:rPr>
              <a:t>. </a:t>
            </a:r>
          </a:p>
          <a:p>
            <a:r>
              <a:rPr lang="it-IT" dirty="0" err="1">
                <a:latin typeface="Gill Sans MT" panose="020B0502020104020203" pitchFamily="34" charset="0"/>
              </a:rPr>
              <a:t>It</a:t>
            </a:r>
            <a:r>
              <a:rPr lang="it-IT" dirty="0">
                <a:latin typeface="Gill Sans MT" panose="020B0502020104020203" pitchFamily="34" charset="0"/>
              </a:rPr>
              <a:t> </a:t>
            </a:r>
            <a:r>
              <a:rPr lang="it-IT" dirty="0" err="1">
                <a:latin typeface="Gill Sans MT" panose="020B0502020104020203" pitchFamily="34" charset="0"/>
              </a:rPr>
              <a:t>allows</a:t>
            </a:r>
            <a:r>
              <a:rPr lang="it-IT" dirty="0">
                <a:latin typeface="Gill Sans MT" panose="020B0502020104020203" pitchFamily="34" charset="0"/>
              </a:rPr>
              <a:t> </a:t>
            </a:r>
            <a:r>
              <a:rPr lang="it-IT" dirty="0" err="1">
                <a:latin typeface="Gill Sans MT" panose="020B0502020104020203" pitchFamily="34" charset="0"/>
              </a:rPr>
              <a:t>loss</a:t>
            </a:r>
            <a:r>
              <a:rPr lang="it-IT" dirty="0">
                <a:latin typeface="Gill Sans MT" panose="020B0502020104020203" pitchFamily="34" charset="0"/>
              </a:rPr>
              <a:t> </a:t>
            </a:r>
            <a:r>
              <a:rPr lang="it-IT" dirty="0" err="1">
                <a:latin typeface="Gill Sans MT" panose="020B0502020104020203" pitchFamily="34" charset="0"/>
              </a:rPr>
              <a:t>calculation</a:t>
            </a:r>
            <a:r>
              <a:rPr lang="it-IT" dirty="0">
                <a:latin typeface="Gill Sans MT" panose="020B0502020104020203" pitchFamily="34" charset="0"/>
              </a:rPr>
              <a:t> and </a:t>
            </a:r>
            <a:r>
              <a:rPr lang="it-IT" b="1" dirty="0" err="1">
                <a:latin typeface="Gill Sans MT" panose="020B0502020104020203" pitchFamily="34" charset="0"/>
              </a:rPr>
              <a:t>efficient</a:t>
            </a:r>
            <a:r>
              <a:rPr lang="it-IT" dirty="0">
                <a:latin typeface="Gill Sans MT" panose="020B0502020104020203" pitchFamily="34" charset="0"/>
              </a:rPr>
              <a:t> model training, </a:t>
            </a:r>
            <a:r>
              <a:rPr lang="en-US" b="1" dirty="0">
                <a:latin typeface="Gill Sans MT" panose="020B0502020104020203" pitchFamily="34" charset="0"/>
              </a:rPr>
              <a:t>simplifies</a:t>
            </a:r>
            <a:r>
              <a:rPr lang="en-US" dirty="0">
                <a:latin typeface="Gill Sans MT" panose="020B0502020104020203" pitchFamily="34" charset="0"/>
              </a:rPr>
              <a:t> predictions, calculates loss, and interprets</a:t>
            </a:r>
            <a:r>
              <a:rPr lang="it-IT" dirty="0">
                <a:latin typeface="Gill Sans MT" panose="020B0502020104020203" pitchFamily="34" charset="0"/>
              </a:rPr>
              <a:t> model </a:t>
            </a:r>
            <a:r>
              <a:rPr lang="it-IT" dirty="0" err="1">
                <a:latin typeface="Gill Sans MT" panose="020B0502020104020203" pitchFamily="34" charset="0"/>
              </a:rPr>
              <a:t>predictions</a:t>
            </a:r>
            <a:r>
              <a:rPr lang="it-IT" dirty="0">
                <a:latin typeface="Gill Sans MT" panose="020B0502020104020203" pitchFamily="34" charset="0"/>
              </a:rPr>
              <a:t> </a:t>
            </a:r>
            <a:r>
              <a:rPr lang="it-IT" dirty="0" err="1">
                <a:latin typeface="Gill Sans MT" panose="020B0502020104020203" pitchFamily="34" charset="0"/>
              </a:rPr>
              <a:t>easily</a:t>
            </a:r>
            <a:r>
              <a:rPr lang="it-IT" dirty="0">
                <a:latin typeface="Gill Sans MT" panose="020B0502020104020203" pitchFamily="34" charset="0"/>
              </a:rPr>
              <a:t>.</a:t>
            </a:r>
          </a:p>
          <a:p>
            <a:endParaRPr lang="it-IT" dirty="0">
              <a:latin typeface="Gill Sans MT" panose="020B0502020104020203" pitchFamily="34" charset="0"/>
            </a:endParaRPr>
          </a:p>
          <a:p>
            <a:r>
              <a:rPr lang="it-IT" dirty="0">
                <a:latin typeface="Gill Sans MT" panose="020B0502020104020203" pitchFamily="34" charset="0"/>
              </a:rPr>
              <a:t>3) The </a:t>
            </a:r>
            <a:r>
              <a:rPr lang="it-IT" dirty="0" err="1">
                <a:latin typeface="Gill Sans MT" panose="020B0502020104020203" pitchFamily="34" charset="0"/>
              </a:rPr>
              <a:t>controlled</a:t>
            </a:r>
            <a:r>
              <a:rPr lang="it-IT" dirty="0">
                <a:latin typeface="Gill Sans MT" panose="020B0502020104020203" pitchFamily="34" charset="0"/>
              </a:rPr>
              <a:t> negative ratio helps to create negative samples: </a:t>
            </a:r>
            <a:r>
              <a:rPr lang="it-IT" dirty="0" err="1">
                <a:latin typeface="Gill Sans MT" panose="020B0502020104020203" pitchFamily="34" charset="0"/>
              </a:rPr>
              <a:t>it</a:t>
            </a:r>
            <a:r>
              <a:rPr lang="it-IT" dirty="0">
                <a:latin typeface="Gill Sans MT" panose="020B0502020104020203" pitchFamily="34" charset="0"/>
              </a:rPr>
              <a:t> helps the model to</a:t>
            </a:r>
          </a:p>
          <a:p>
            <a:r>
              <a:rPr lang="it-IT" dirty="0" err="1">
                <a:latin typeface="Gill Sans MT" panose="020B0502020104020203" pitchFamily="34" charset="0"/>
              </a:rPr>
              <a:t>distinguish</a:t>
            </a:r>
            <a:r>
              <a:rPr lang="it-IT" dirty="0">
                <a:latin typeface="Gill Sans MT" panose="020B0502020104020203" pitchFamily="34" charset="0"/>
              </a:rPr>
              <a:t> </a:t>
            </a:r>
            <a:r>
              <a:rPr lang="it-IT" dirty="0" err="1">
                <a:latin typeface="Gill Sans MT" panose="020B0502020104020203" pitchFamily="34" charset="0"/>
              </a:rPr>
              <a:t>between</a:t>
            </a:r>
            <a:r>
              <a:rPr lang="it-IT" dirty="0">
                <a:latin typeface="Gill Sans MT" panose="020B0502020104020203" pitchFamily="34" charset="0"/>
              </a:rPr>
              <a:t> </a:t>
            </a:r>
            <a:r>
              <a:rPr lang="it-IT" dirty="0" err="1">
                <a:latin typeface="Gill Sans MT" panose="020B0502020104020203" pitchFamily="34" charset="0"/>
              </a:rPr>
              <a:t>actual</a:t>
            </a:r>
            <a:r>
              <a:rPr lang="it-IT" dirty="0">
                <a:latin typeface="Gill Sans MT" panose="020B0502020104020203" pitchFamily="34" charset="0"/>
              </a:rPr>
              <a:t> </a:t>
            </a:r>
            <a:r>
              <a:rPr lang="it-IT" dirty="0" err="1">
                <a:latin typeface="Gill Sans MT" panose="020B0502020104020203" pitchFamily="34" charset="0"/>
              </a:rPr>
              <a:t>relationships</a:t>
            </a:r>
            <a:r>
              <a:rPr lang="it-IT" dirty="0">
                <a:latin typeface="Gill Sans MT" panose="020B0502020104020203" pitchFamily="34" charset="0"/>
              </a:rPr>
              <a:t> and non-</a:t>
            </a:r>
            <a:r>
              <a:rPr lang="it-IT" dirty="0" err="1">
                <a:latin typeface="Gill Sans MT" panose="020B0502020104020203" pitchFamily="34" charset="0"/>
              </a:rPr>
              <a:t>relationships</a:t>
            </a:r>
            <a:r>
              <a:rPr lang="it-IT" dirty="0">
                <a:latin typeface="Gill Sans MT" panose="020B0502020104020203" pitchFamily="34" charset="0"/>
              </a:rPr>
              <a:t>.</a:t>
            </a:r>
          </a:p>
          <a:p>
            <a:endParaRPr lang="en-US" dirty="0">
              <a:latin typeface="Gill Sans MT" panose="020B05020201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88FD8A4-7EF6-98F1-82E7-DF949D9FACFB}"/>
              </a:ext>
            </a:extLst>
          </p:cNvPr>
          <p:cNvSpPr txBox="1"/>
          <p:nvPr/>
        </p:nvSpPr>
        <p:spPr>
          <a:xfrm>
            <a:off x="7422076" y="4667641"/>
            <a:ext cx="14013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>
                <a:latin typeface="Gill Sans MT" panose="020B0502020104020203" pitchFamily="34" charset="0"/>
              </a:rPr>
              <a:t>Samuel Piron</a:t>
            </a:r>
            <a:endParaRPr lang="en-US" dirty="0">
              <a:latin typeface="Gill Sans MT" panose="020B05020201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551298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B4F7B19-D77F-CFA3-D36F-767B3FF54C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4D7AB4E4-B76E-BB0D-2952-FBBF3CB0FE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912447"/>
            <a:ext cx="548639" cy="505095"/>
            <a:chOff x="3940602" y="308034"/>
            <a:chExt cx="2116791" cy="3428999"/>
          </a:xfrm>
          <a:solidFill>
            <a:schemeClr val="accent4"/>
          </a:solidFill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E27326D3-F231-357D-6483-C6A1FB1D4EC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940602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4BF91713-C0B6-17DE-E37D-D14CD8C59B2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715626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27C07DAE-2A50-9A19-B07F-4DEE0DEA5B9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490650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6" name="Rectangle 15">
            <a:extLst>
              <a:ext uri="{FF2B5EF4-FFF2-40B4-BE49-F238E27FC236}">
                <a16:creationId xmlns:a16="http://schemas.microsoft.com/office/drawing/2014/main" id="{3B421A32-A332-7041-3855-E66B60A4AB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0059" y="460465"/>
            <a:ext cx="8180615" cy="142058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38EC01E-3613-8509-97A4-514476E69B7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82723" y="607423"/>
            <a:ext cx="7457037" cy="1165860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Bef>
                <a:spcPct val="0"/>
              </a:spcBef>
            </a:pPr>
            <a:r>
              <a:rPr lang="en-US" sz="3600" kern="1200" dirty="0">
                <a:latin typeface="Gill Sans MT"/>
                <a:ea typeface="Calibri"/>
                <a:cs typeface="Calibri"/>
              </a:rPr>
              <a:t>4. Model Evaluation</a:t>
            </a:r>
            <a:endParaRPr lang="en-US" dirty="0">
              <a:latin typeface="Gill Sans MT"/>
              <a:ea typeface="+mj-ea"/>
              <a:cs typeface="+mj-cs"/>
            </a:endParaRP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2BFA7219-D4B8-1CCF-4C12-35A5963327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628650" y="4863984"/>
            <a:ext cx="7886700" cy="0"/>
          </a:xfrm>
          <a:prstGeom prst="line">
            <a:avLst/>
          </a:prstGeom>
          <a:ln w="571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399134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239FA4-F9F4-7D17-8BD4-23C033FA6C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A60EF044-A01B-3B4D-541A-1495595244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3083" y="2441122"/>
            <a:ext cx="6554115" cy="2000529"/>
          </a:xfrm>
          <a:prstGeom prst="rect">
            <a:avLst/>
          </a:prstGeom>
        </p:spPr>
      </p:pic>
      <p:sp>
        <p:nvSpPr>
          <p:cNvPr id="2" name="Titolo 1">
            <a:extLst>
              <a:ext uri="{FF2B5EF4-FFF2-40B4-BE49-F238E27FC236}">
                <a16:creationId xmlns:a16="http://schemas.microsoft.com/office/drawing/2014/main" id="{787681A3-7796-6D8D-3072-F5D1EF0B98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3083" y="200658"/>
            <a:ext cx="2938139" cy="384721"/>
          </a:xfrm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it-IT" b="1" dirty="0">
                <a:latin typeface="Gill Sans MT"/>
              </a:rPr>
              <a:t>Evaluation </a:t>
            </a:r>
            <a:r>
              <a:rPr lang="it-IT" b="1" dirty="0" err="1">
                <a:latin typeface="Gill Sans MT"/>
              </a:rPr>
              <a:t>Metrics</a:t>
            </a:r>
            <a:endParaRPr lang="it-IT" dirty="0">
              <a:latin typeface="Gill Sans MT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7AD5FF3-C269-7332-B6CF-93BC12800F6C}"/>
              </a:ext>
            </a:extLst>
          </p:cNvPr>
          <p:cNvSpPr txBox="1"/>
          <p:nvPr/>
        </p:nvSpPr>
        <p:spPr>
          <a:xfrm>
            <a:off x="7422076" y="4667641"/>
            <a:ext cx="14013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>
                <a:latin typeface="Gill Sans MT" panose="020B0502020104020203" pitchFamily="34" charset="0"/>
              </a:rPr>
              <a:t>Samuel Piron</a:t>
            </a:r>
            <a:endParaRPr lang="en-US" dirty="0">
              <a:latin typeface="Gill Sans MT" panose="020B05020201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7E05BA9-87CA-98D6-8760-8852E767FABA}"/>
              </a:ext>
            </a:extLst>
          </p:cNvPr>
          <p:cNvSpPr txBox="1"/>
          <p:nvPr/>
        </p:nvSpPr>
        <p:spPr>
          <a:xfrm>
            <a:off x="245431" y="841415"/>
            <a:ext cx="8653138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b="1" i="1" dirty="0">
                <a:latin typeface="Gill Sans MT" panose="020B0502020104020203" pitchFamily="34" charset="0"/>
              </a:rPr>
              <a:t>TP (True </a:t>
            </a:r>
            <a:r>
              <a:rPr lang="it-IT" b="1" i="1" dirty="0" err="1">
                <a:latin typeface="Gill Sans MT" panose="020B0502020104020203" pitchFamily="34" charset="0"/>
              </a:rPr>
              <a:t>Positives</a:t>
            </a:r>
            <a:r>
              <a:rPr lang="it-IT" b="1" i="1" dirty="0">
                <a:latin typeface="Gill Sans MT" panose="020B0502020104020203" pitchFamily="34" charset="0"/>
              </a:rPr>
              <a:t>)</a:t>
            </a:r>
            <a:r>
              <a:rPr lang="it-IT" dirty="0">
                <a:latin typeface="Gill Sans MT" panose="020B0502020104020203" pitchFamily="34" charset="0"/>
              </a:rPr>
              <a:t> </a:t>
            </a:r>
            <a:r>
              <a:rPr lang="it-IT" dirty="0" err="1">
                <a:latin typeface="Gill Sans MT" panose="020B0502020104020203" pitchFamily="34" charset="0"/>
              </a:rPr>
              <a:t>refers</a:t>
            </a:r>
            <a:r>
              <a:rPr lang="it-IT" dirty="0">
                <a:latin typeface="Gill Sans MT" panose="020B0502020104020203" pitchFamily="34" charset="0"/>
              </a:rPr>
              <a:t> to the </a:t>
            </a:r>
            <a:r>
              <a:rPr lang="it-IT" dirty="0" err="1">
                <a:latin typeface="Gill Sans MT" panose="020B0502020104020203" pitchFamily="34" charset="0"/>
              </a:rPr>
              <a:t>number</a:t>
            </a:r>
            <a:r>
              <a:rPr lang="it-IT" dirty="0">
                <a:latin typeface="Gill Sans MT" panose="020B0502020104020203" pitchFamily="34" charset="0"/>
              </a:rPr>
              <a:t> of </a:t>
            </a:r>
            <a:r>
              <a:rPr lang="it-IT" dirty="0" err="1">
                <a:latin typeface="Gill Sans MT" panose="020B0502020104020203" pitchFamily="34" charset="0"/>
              </a:rPr>
              <a:t>correctly</a:t>
            </a:r>
            <a:r>
              <a:rPr lang="it-IT" dirty="0">
                <a:latin typeface="Gill Sans MT" panose="020B0502020104020203" pitchFamily="34" charset="0"/>
              </a:rPr>
              <a:t> </a:t>
            </a:r>
            <a:r>
              <a:rPr lang="it-IT" dirty="0" err="1">
                <a:latin typeface="Gill Sans MT" panose="020B0502020104020203" pitchFamily="34" charset="0"/>
              </a:rPr>
              <a:t>predicted</a:t>
            </a:r>
            <a:r>
              <a:rPr lang="it-IT" dirty="0">
                <a:latin typeface="Gill Sans MT" panose="020B0502020104020203" pitchFamily="34" charset="0"/>
              </a:rPr>
              <a:t> </a:t>
            </a:r>
            <a:r>
              <a:rPr lang="it-IT" dirty="0" err="1">
                <a:latin typeface="Gill Sans MT" panose="020B0502020104020203" pitchFamily="34" charset="0"/>
              </a:rPr>
              <a:t>entities</a:t>
            </a:r>
            <a:r>
              <a:rPr lang="it-IT" dirty="0">
                <a:latin typeface="Gill Sans MT" panose="020B0502020104020203" pitchFamily="34" charset="0"/>
              </a:rPr>
              <a:t> or relations.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b="1" i="1" dirty="0">
                <a:latin typeface="Gill Sans MT" panose="020B0502020104020203" pitchFamily="34" charset="0"/>
              </a:rPr>
              <a:t>FP (False </a:t>
            </a:r>
            <a:r>
              <a:rPr lang="it-IT" b="1" i="1" dirty="0" err="1">
                <a:latin typeface="Gill Sans MT" panose="020B0502020104020203" pitchFamily="34" charset="0"/>
              </a:rPr>
              <a:t>Positives</a:t>
            </a:r>
            <a:r>
              <a:rPr lang="it-IT" b="1" i="1" dirty="0">
                <a:latin typeface="Gill Sans MT" panose="020B0502020104020203" pitchFamily="34" charset="0"/>
              </a:rPr>
              <a:t>) </a:t>
            </a:r>
            <a:r>
              <a:rPr lang="it-IT" dirty="0" err="1">
                <a:latin typeface="Gill Sans MT" panose="020B0502020104020203" pitchFamily="34" charset="0"/>
              </a:rPr>
              <a:t>refers</a:t>
            </a:r>
            <a:r>
              <a:rPr lang="it-IT" dirty="0">
                <a:latin typeface="Gill Sans MT" panose="020B0502020104020203" pitchFamily="34" charset="0"/>
              </a:rPr>
              <a:t> to the </a:t>
            </a:r>
            <a:r>
              <a:rPr lang="it-IT" dirty="0" err="1">
                <a:latin typeface="Gill Sans MT" panose="020B0502020104020203" pitchFamily="34" charset="0"/>
              </a:rPr>
              <a:t>number</a:t>
            </a:r>
            <a:r>
              <a:rPr lang="it-IT" dirty="0">
                <a:latin typeface="Gill Sans MT" panose="020B0502020104020203" pitchFamily="34" charset="0"/>
              </a:rPr>
              <a:t> of </a:t>
            </a:r>
            <a:r>
              <a:rPr lang="it-IT" dirty="0" err="1">
                <a:latin typeface="Gill Sans MT" panose="020B0502020104020203" pitchFamily="34" charset="0"/>
              </a:rPr>
              <a:t>wrongly</a:t>
            </a:r>
            <a:r>
              <a:rPr lang="it-IT" dirty="0">
                <a:latin typeface="Gill Sans MT" panose="020B0502020104020203" pitchFamily="34" charset="0"/>
              </a:rPr>
              <a:t> </a:t>
            </a:r>
            <a:r>
              <a:rPr lang="it-IT" dirty="0" err="1">
                <a:latin typeface="Gill Sans MT" panose="020B0502020104020203" pitchFamily="34" charset="0"/>
              </a:rPr>
              <a:t>predicted</a:t>
            </a:r>
            <a:r>
              <a:rPr lang="it-IT" dirty="0">
                <a:latin typeface="Gill Sans MT" panose="020B0502020104020203" pitchFamily="34" charset="0"/>
              </a:rPr>
              <a:t> </a:t>
            </a:r>
            <a:r>
              <a:rPr lang="it-IT" dirty="0" err="1">
                <a:latin typeface="Gill Sans MT" panose="020B0502020104020203" pitchFamily="34" charset="0"/>
              </a:rPr>
              <a:t>entities</a:t>
            </a:r>
            <a:r>
              <a:rPr lang="it-IT" dirty="0">
                <a:latin typeface="Gill Sans MT" panose="020B0502020104020203" pitchFamily="34" charset="0"/>
              </a:rPr>
              <a:t> or relations.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b="1" i="1" dirty="0">
                <a:latin typeface="Gill Sans MT" panose="020B0502020104020203" pitchFamily="34" charset="0"/>
              </a:rPr>
              <a:t>FN (False </a:t>
            </a:r>
            <a:r>
              <a:rPr lang="it-IT" b="1" i="1" dirty="0" err="1">
                <a:latin typeface="Gill Sans MT" panose="020B0502020104020203" pitchFamily="34" charset="0"/>
              </a:rPr>
              <a:t>Negatives</a:t>
            </a:r>
            <a:r>
              <a:rPr lang="it-IT" b="1" i="1" dirty="0">
                <a:latin typeface="Gill Sans MT" panose="020B0502020104020203" pitchFamily="34" charset="0"/>
              </a:rPr>
              <a:t>) </a:t>
            </a:r>
            <a:r>
              <a:rPr lang="it-IT" dirty="0" err="1">
                <a:latin typeface="Gill Sans MT" panose="020B0502020104020203" pitchFamily="34" charset="0"/>
              </a:rPr>
              <a:t>refers</a:t>
            </a:r>
            <a:r>
              <a:rPr lang="it-IT" dirty="0">
                <a:latin typeface="Gill Sans MT" panose="020B0502020104020203" pitchFamily="34" charset="0"/>
              </a:rPr>
              <a:t> to the </a:t>
            </a:r>
            <a:r>
              <a:rPr lang="it-IT" dirty="0" err="1">
                <a:latin typeface="Gill Sans MT" panose="020B0502020104020203" pitchFamily="34" charset="0"/>
              </a:rPr>
              <a:t>number</a:t>
            </a:r>
            <a:r>
              <a:rPr lang="it-IT" dirty="0">
                <a:latin typeface="Gill Sans MT" panose="020B0502020104020203" pitchFamily="34" charset="0"/>
              </a:rPr>
              <a:t> of </a:t>
            </a:r>
            <a:r>
              <a:rPr lang="it-IT" dirty="0" err="1">
                <a:latin typeface="Gill Sans MT" panose="020B0502020104020203" pitchFamily="34" charset="0"/>
              </a:rPr>
              <a:t>entities</a:t>
            </a:r>
            <a:r>
              <a:rPr lang="it-IT" dirty="0">
                <a:latin typeface="Gill Sans MT" panose="020B0502020104020203" pitchFamily="34" charset="0"/>
              </a:rPr>
              <a:t> or relations in the ground truth</a:t>
            </a:r>
          </a:p>
          <a:p>
            <a:r>
              <a:rPr lang="it-IT" dirty="0">
                <a:latin typeface="Gill Sans MT" panose="020B0502020104020203" pitchFamily="34" charset="0"/>
              </a:rPr>
              <a:t>     </a:t>
            </a:r>
            <a:r>
              <a:rPr lang="it-IT" dirty="0" err="1">
                <a:latin typeface="Gill Sans MT" panose="020B0502020104020203" pitchFamily="34" charset="0"/>
              </a:rPr>
              <a:t>that</a:t>
            </a:r>
            <a:r>
              <a:rPr lang="it-IT" dirty="0">
                <a:latin typeface="Gill Sans MT" panose="020B0502020104020203" pitchFamily="34" charset="0"/>
              </a:rPr>
              <a:t> </a:t>
            </a:r>
            <a:r>
              <a:rPr lang="it-IT" dirty="0" err="1">
                <a:latin typeface="Gill Sans MT" panose="020B0502020104020203" pitchFamily="34" charset="0"/>
              </a:rPr>
              <a:t>were</a:t>
            </a:r>
            <a:r>
              <a:rPr lang="it-IT" dirty="0">
                <a:latin typeface="Gill Sans MT" panose="020B0502020104020203" pitchFamily="34" charset="0"/>
              </a:rPr>
              <a:t> </a:t>
            </a:r>
            <a:r>
              <a:rPr lang="it-IT" dirty="0" err="1">
                <a:latin typeface="Gill Sans MT" panose="020B0502020104020203" pitchFamily="34" charset="0"/>
              </a:rPr>
              <a:t>not</a:t>
            </a:r>
            <a:r>
              <a:rPr lang="it-IT" dirty="0">
                <a:latin typeface="Gill Sans MT" panose="020B0502020104020203" pitchFamily="34" charset="0"/>
              </a:rPr>
              <a:t> </a:t>
            </a:r>
            <a:r>
              <a:rPr lang="it-IT" dirty="0" err="1">
                <a:latin typeface="Gill Sans MT" panose="020B0502020104020203" pitchFamily="34" charset="0"/>
              </a:rPr>
              <a:t>predicted</a:t>
            </a:r>
            <a:r>
              <a:rPr lang="it-IT" dirty="0">
                <a:latin typeface="Gill Sans MT" panose="020B0502020104020203" pitchFamily="34" charset="0"/>
              </a:rPr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b="1" i="1" dirty="0">
                <a:latin typeface="Gill Sans MT" panose="020B0502020104020203" pitchFamily="34" charset="0"/>
              </a:rPr>
              <a:t>L</a:t>
            </a:r>
            <a:r>
              <a:rPr lang="it-IT" dirty="0">
                <a:latin typeface="Gill Sans MT" panose="020B0502020104020203" pitchFamily="34" charset="0"/>
              </a:rPr>
              <a:t> </a:t>
            </a:r>
            <a:r>
              <a:rPr lang="it-IT" dirty="0" err="1">
                <a:latin typeface="Gill Sans MT" panose="020B0502020104020203" pitchFamily="34" charset="0"/>
              </a:rPr>
              <a:t>is</a:t>
            </a:r>
            <a:r>
              <a:rPr lang="it-IT" dirty="0">
                <a:latin typeface="Gill Sans MT" panose="020B0502020104020203" pitchFamily="34" charset="0"/>
              </a:rPr>
              <a:t> the set of labels </a:t>
            </a:r>
            <a:r>
              <a:rPr lang="it-IT" dirty="0" err="1">
                <a:latin typeface="Gill Sans MT" panose="020B0502020104020203" pitchFamily="34" charset="0"/>
              </a:rPr>
              <a:t>referring</a:t>
            </a:r>
            <a:r>
              <a:rPr lang="it-IT" dirty="0">
                <a:latin typeface="Gill Sans MT" panose="020B0502020104020203" pitchFamily="34" charset="0"/>
              </a:rPr>
              <a:t> to </a:t>
            </a:r>
            <a:r>
              <a:rPr lang="it-IT" dirty="0" err="1">
                <a:latin typeface="Gill Sans MT" panose="020B0502020104020203" pitchFamily="34" charset="0"/>
              </a:rPr>
              <a:t>each</a:t>
            </a:r>
            <a:r>
              <a:rPr lang="it-IT" dirty="0">
                <a:latin typeface="Gill Sans MT" panose="020B0502020104020203" pitchFamily="34" charset="0"/>
              </a:rPr>
              <a:t> </a:t>
            </a:r>
            <a:r>
              <a:rPr lang="it-IT" dirty="0" err="1">
                <a:latin typeface="Gill Sans MT" panose="020B0502020104020203" pitchFamily="34" charset="0"/>
              </a:rPr>
              <a:t>subtask</a:t>
            </a:r>
            <a:r>
              <a:rPr lang="it-IT" dirty="0">
                <a:latin typeface="Gill Sans MT" panose="020B0502020104020203" pitchFamily="34" charset="0"/>
              </a:rPr>
              <a:t> (e.g. for </a:t>
            </a:r>
            <a:r>
              <a:rPr lang="it-IT" u="sng" dirty="0">
                <a:latin typeface="Gill Sans MT" panose="020B0502020104020203" pitchFamily="34" charset="0"/>
              </a:rPr>
              <a:t>NER</a:t>
            </a:r>
            <a:r>
              <a:rPr lang="it-IT" dirty="0">
                <a:latin typeface="Gill Sans MT" panose="020B0502020104020203" pitchFamily="34" charset="0"/>
              </a:rPr>
              <a:t> </a:t>
            </a:r>
            <a:r>
              <a:rPr lang="it-IT" dirty="0" err="1">
                <a:latin typeface="Gill Sans MT" panose="020B0502020104020203" pitchFamily="34" charset="0"/>
              </a:rPr>
              <a:t>entity</a:t>
            </a:r>
            <a:r>
              <a:rPr lang="it-IT" dirty="0">
                <a:latin typeface="Gill Sans MT" panose="020B0502020104020203" pitchFamily="34" charset="0"/>
              </a:rPr>
              <a:t> labels; for </a:t>
            </a:r>
            <a:r>
              <a:rPr lang="it-IT" u="sng" dirty="0" err="1">
                <a:latin typeface="Gill Sans MT" panose="020B0502020104020203" pitchFamily="34" charset="0"/>
              </a:rPr>
              <a:t>Binary</a:t>
            </a:r>
            <a:r>
              <a:rPr lang="it-IT" dirty="0">
                <a:latin typeface="Gill Sans MT" panose="020B0502020104020203" pitchFamily="34" charset="0"/>
              </a:rPr>
              <a:t> </a:t>
            </a:r>
            <a:r>
              <a:rPr lang="it-IT" dirty="0" err="1">
                <a:latin typeface="Gill Sans MT" panose="020B0502020104020203" pitchFamily="34" charset="0"/>
              </a:rPr>
              <a:t>subject</a:t>
            </a:r>
            <a:r>
              <a:rPr lang="en-US" dirty="0">
                <a:latin typeface="Gill Sans MT" panose="020B0502020104020203" pitchFamily="34" charset="0"/>
              </a:rPr>
              <a:t>, object)</a:t>
            </a:r>
            <a:endParaRPr lang="it-IT" dirty="0">
              <a:latin typeface="Gill Sans MT" panose="020B05020201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0231351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1420E1-7CEC-3771-CA6A-85EB52B501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E047E1A-3648-4366-C036-55C72D8686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725" y="86358"/>
            <a:ext cx="8374549" cy="384721"/>
          </a:xfrm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it-IT" b="1" dirty="0">
                <a:latin typeface="Gill Sans MT"/>
              </a:rPr>
              <a:t>NER Model - Evaluation</a:t>
            </a:r>
            <a:endParaRPr lang="it-IT" dirty="0">
              <a:latin typeface="Gill Sans MT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1F93B61-A219-B474-6CEA-F869C6CC7627}"/>
              </a:ext>
            </a:extLst>
          </p:cNvPr>
          <p:cNvSpPr txBox="1"/>
          <p:nvPr/>
        </p:nvSpPr>
        <p:spPr>
          <a:xfrm>
            <a:off x="7422076" y="4667641"/>
            <a:ext cx="14013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>
                <a:latin typeface="Gill Sans MT" panose="020B0502020104020203" pitchFamily="34" charset="0"/>
              </a:rPr>
              <a:t>Samuel Piron</a:t>
            </a:r>
            <a:endParaRPr lang="en-US" dirty="0">
              <a:latin typeface="Gill Sans MT" panose="020B0502020104020203" pitchFamily="34" charset="0"/>
            </a:endParaRP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8D2307D5-F21E-E605-3405-017C9B7DEFB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68347193"/>
              </p:ext>
            </p:extLst>
          </p:nvPr>
        </p:nvGraphicFramePr>
        <p:xfrm>
          <a:off x="1699257" y="555172"/>
          <a:ext cx="6220100" cy="319905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44020">
                  <a:extLst>
                    <a:ext uri="{9D8B030D-6E8A-4147-A177-3AD203B41FA5}">
                      <a16:colId xmlns:a16="http://schemas.microsoft.com/office/drawing/2014/main" val="1668161153"/>
                    </a:ext>
                  </a:extLst>
                </a:gridCol>
                <a:gridCol w="1244020">
                  <a:extLst>
                    <a:ext uri="{9D8B030D-6E8A-4147-A177-3AD203B41FA5}">
                      <a16:colId xmlns:a16="http://schemas.microsoft.com/office/drawing/2014/main" val="2613488493"/>
                    </a:ext>
                  </a:extLst>
                </a:gridCol>
                <a:gridCol w="1244020">
                  <a:extLst>
                    <a:ext uri="{9D8B030D-6E8A-4147-A177-3AD203B41FA5}">
                      <a16:colId xmlns:a16="http://schemas.microsoft.com/office/drawing/2014/main" val="2746191053"/>
                    </a:ext>
                  </a:extLst>
                </a:gridCol>
                <a:gridCol w="1244020">
                  <a:extLst>
                    <a:ext uri="{9D8B030D-6E8A-4147-A177-3AD203B41FA5}">
                      <a16:colId xmlns:a16="http://schemas.microsoft.com/office/drawing/2014/main" val="2372762899"/>
                    </a:ext>
                  </a:extLst>
                </a:gridCol>
                <a:gridCol w="1244020">
                  <a:extLst>
                    <a:ext uri="{9D8B030D-6E8A-4147-A177-3AD203B41FA5}">
                      <a16:colId xmlns:a16="http://schemas.microsoft.com/office/drawing/2014/main" val="2479999630"/>
                    </a:ext>
                  </a:extLst>
                </a:gridCol>
              </a:tblGrid>
              <a:tr h="638739">
                <a:tc>
                  <a:txBody>
                    <a:bodyPr/>
                    <a:lstStyle/>
                    <a:p>
                      <a:r>
                        <a:rPr lang="it-IT" sz="1500" dirty="0">
                          <a:latin typeface="Gill Sans MT" panose="020B0502020104020203" pitchFamily="34" charset="0"/>
                        </a:rPr>
                        <a:t>            Test                </a:t>
                      </a:r>
                      <a:r>
                        <a:rPr lang="en-US" sz="1500" dirty="0">
                          <a:latin typeface="Gill Sans MT" panose="020B0502020104020203" pitchFamily="34" charset="0"/>
                        </a:rPr>
                        <a:t>Train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500" dirty="0">
                          <a:latin typeface="Gill Sans MT" panose="020B0502020104020203" pitchFamily="34" charset="0"/>
                        </a:rPr>
                        <a:t>Platinum</a:t>
                      </a:r>
                    </a:p>
                    <a:p>
                      <a:r>
                        <a:rPr lang="it-IT" sz="1500" dirty="0">
                          <a:latin typeface="Gill Sans MT" panose="020B0502020104020203" pitchFamily="34" charset="0"/>
                        </a:rPr>
                        <a:t>Collection</a:t>
                      </a:r>
                      <a:endParaRPr lang="en-US" sz="1500" dirty="0">
                        <a:latin typeface="Gill Sans MT" panose="020B0502020104020203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500" dirty="0">
                          <a:latin typeface="Gill Sans MT" panose="020B0502020104020203" pitchFamily="34" charset="0"/>
                        </a:rPr>
                        <a:t>Gold</a:t>
                      </a:r>
                    </a:p>
                    <a:p>
                      <a:r>
                        <a:rPr lang="it-IT" sz="1500" dirty="0">
                          <a:latin typeface="Gill Sans MT" panose="020B0502020104020203" pitchFamily="34" charset="0"/>
                        </a:rPr>
                        <a:t>Collection</a:t>
                      </a:r>
                      <a:endParaRPr lang="en-US" sz="1500" dirty="0">
                        <a:latin typeface="Gill Sans MT" panose="020B0502020104020203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500" dirty="0">
                          <a:latin typeface="Gill Sans MT" panose="020B0502020104020203" pitchFamily="34" charset="0"/>
                        </a:rPr>
                        <a:t>Silver</a:t>
                      </a:r>
                    </a:p>
                    <a:p>
                      <a:r>
                        <a:rPr lang="it-IT" sz="1500" dirty="0">
                          <a:latin typeface="Gill Sans MT" panose="020B0502020104020203" pitchFamily="34" charset="0"/>
                        </a:rPr>
                        <a:t>Collection</a:t>
                      </a:r>
                      <a:endParaRPr lang="en-US" sz="1500" dirty="0">
                        <a:latin typeface="Gill Sans MT" panose="020B0502020104020203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500" dirty="0" err="1">
                          <a:latin typeface="Gill Sans MT" panose="020B0502020104020203" pitchFamily="34" charset="0"/>
                        </a:rPr>
                        <a:t>Bronze</a:t>
                      </a:r>
                      <a:endParaRPr lang="it-IT" sz="1500" dirty="0">
                        <a:latin typeface="Gill Sans MT" panose="020B0502020104020203" pitchFamily="34" charset="0"/>
                      </a:endParaRPr>
                    </a:p>
                    <a:p>
                      <a:r>
                        <a:rPr lang="it-IT" sz="1500" dirty="0">
                          <a:latin typeface="Gill Sans MT" panose="020B0502020104020203" pitchFamily="34" charset="0"/>
                        </a:rPr>
                        <a:t>Collection</a:t>
                      </a:r>
                      <a:endParaRPr lang="en-US" sz="1500" dirty="0">
                        <a:latin typeface="Gill Sans MT" panose="020B0502020104020203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94949842"/>
                  </a:ext>
                </a:extLst>
              </a:tr>
              <a:tr h="638739">
                <a:tc>
                  <a:txBody>
                    <a:bodyPr/>
                    <a:lstStyle/>
                    <a:p>
                      <a:r>
                        <a:rPr lang="it-IT" sz="1500" dirty="0">
                          <a:latin typeface="Gill Sans MT" panose="020B0502020104020203" pitchFamily="34" charset="0"/>
                        </a:rPr>
                        <a:t>Platinum</a:t>
                      </a:r>
                    </a:p>
                    <a:p>
                      <a:r>
                        <a:rPr lang="it-IT" sz="1500" dirty="0">
                          <a:latin typeface="Gill Sans MT" panose="020B0502020104020203" pitchFamily="34" charset="0"/>
                        </a:rPr>
                        <a:t>+ Gold</a:t>
                      </a:r>
                      <a:endParaRPr lang="en-US" sz="1500" dirty="0">
                        <a:latin typeface="Gill Sans MT" panose="020B0502020104020203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500" dirty="0">
                          <a:latin typeface="Gill Sans MT" panose="020B0502020104020203" pitchFamily="34" charset="0"/>
                        </a:rPr>
                        <a:t>P:0.9634</a:t>
                      </a:r>
                    </a:p>
                    <a:p>
                      <a:r>
                        <a:rPr lang="it-IT" sz="1500" dirty="0">
                          <a:latin typeface="Gill Sans MT" panose="020B0502020104020203" pitchFamily="34" charset="0"/>
                        </a:rPr>
                        <a:t>R:0.8906</a:t>
                      </a:r>
                    </a:p>
                    <a:p>
                      <a:r>
                        <a:rPr lang="it-IT" sz="1500" dirty="0">
                          <a:latin typeface="Gill Sans MT" panose="020B0502020104020203" pitchFamily="34" charset="0"/>
                        </a:rPr>
                        <a:t>F1:0.9256</a:t>
                      </a:r>
                      <a:endParaRPr lang="en-US" sz="1500" dirty="0">
                        <a:latin typeface="Gill Sans MT" panose="020B0502020104020203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500" dirty="0">
                          <a:latin typeface="Gill Sans MT" panose="020B0502020104020203" pitchFamily="34" charset="0"/>
                        </a:rPr>
                        <a:t>P:0.9775</a:t>
                      </a:r>
                    </a:p>
                    <a:p>
                      <a:r>
                        <a:rPr lang="it-IT" sz="1500" dirty="0">
                          <a:latin typeface="Gill Sans MT" panose="020B0502020104020203" pitchFamily="34" charset="0"/>
                        </a:rPr>
                        <a:t>R:0.8775</a:t>
                      </a:r>
                    </a:p>
                    <a:p>
                      <a:r>
                        <a:rPr lang="it-IT" sz="1500" dirty="0">
                          <a:latin typeface="Gill Sans MT" panose="020B0502020104020203" pitchFamily="34" charset="0"/>
                        </a:rPr>
                        <a:t>F1:0.9248</a:t>
                      </a:r>
                      <a:endParaRPr lang="en-US" sz="1500" dirty="0">
                        <a:latin typeface="Gill Sans MT" panose="020B0502020104020203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500" dirty="0">
                          <a:latin typeface="Gill Sans MT" panose="020B0502020104020203" pitchFamily="34" charset="0"/>
                        </a:rPr>
                        <a:t>P:0.7862</a:t>
                      </a:r>
                    </a:p>
                    <a:p>
                      <a:r>
                        <a:rPr lang="it-IT" sz="1500" dirty="0">
                          <a:latin typeface="Gill Sans MT" panose="020B0502020104020203" pitchFamily="34" charset="0"/>
                        </a:rPr>
                        <a:t>R:0.6708</a:t>
                      </a:r>
                    </a:p>
                    <a:p>
                      <a:r>
                        <a:rPr lang="it-IT" sz="1500" dirty="0">
                          <a:latin typeface="Gill Sans MT" panose="020B0502020104020203" pitchFamily="34" charset="0"/>
                        </a:rPr>
                        <a:t>F1:0.7239</a:t>
                      </a:r>
                      <a:endParaRPr lang="en-US" sz="1500" dirty="0">
                        <a:latin typeface="Gill Sans MT" panose="020B0502020104020203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500" dirty="0">
                          <a:latin typeface="Gill Sans MT" panose="020B0502020104020203" pitchFamily="34" charset="0"/>
                        </a:rPr>
                        <a:t>P:0.9021</a:t>
                      </a:r>
                    </a:p>
                    <a:p>
                      <a:r>
                        <a:rPr lang="it-IT" sz="1500" dirty="0">
                          <a:latin typeface="Gill Sans MT" panose="020B0502020104020203" pitchFamily="34" charset="0"/>
                        </a:rPr>
                        <a:t>R:0.7905</a:t>
                      </a:r>
                    </a:p>
                    <a:p>
                      <a:r>
                        <a:rPr lang="it-IT" sz="1500" dirty="0">
                          <a:latin typeface="Gill Sans MT" panose="020B0502020104020203" pitchFamily="34" charset="0"/>
                        </a:rPr>
                        <a:t>F1:0.8426</a:t>
                      </a:r>
                      <a:endParaRPr lang="en-US" sz="1500" dirty="0">
                        <a:latin typeface="Gill Sans MT" panose="020B0502020104020203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3746583"/>
                  </a:ext>
                </a:extLst>
              </a:tr>
              <a:tr h="638739">
                <a:tc>
                  <a:txBody>
                    <a:bodyPr/>
                    <a:lstStyle/>
                    <a:p>
                      <a:r>
                        <a:rPr lang="it-IT" sz="1500" dirty="0">
                          <a:latin typeface="Gill Sans MT" panose="020B0502020104020203" pitchFamily="34" charset="0"/>
                        </a:rPr>
                        <a:t>Platinum</a:t>
                      </a:r>
                    </a:p>
                    <a:p>
                      <a:r>
                        <a:rPr lang="it-IT" sz="1500" dirty="0">
                          <a:latin typeface="Gill Sans MT" panose="020B0502020104020203" pitchFamily="34" charset="0"/>
                        </a:rPr>
                        <a:t>+ Gold</a:t>
                      </a:r>
                    </a:p>
                    <a:p>
                      <a:r>
                        <a:rPr lang="it-IT" sz="1500" dirty="0">
                          <a:latin typeface="Gill Sans MT" panose="020B0502020104020203" pitchFamily="34" charset="0"/>
                        </a:rPr>
                        <a:t>+ Silver</a:t>
                      </a:r>
                      <a:endParaRPr lang="en-US" sz="1500" dirty="0">
                        <a:latin typeface="Gill Sans MT" panose="020B0502020104020203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500" dirty="0">
                          <a:latin typeface="Gill Sans MT" panose="020B0502020104020203" pitchFamily="34" charset="0"/>
                        </a:rPr>
                        <a:t>P:0.8179</a:t>
                      </a:r>
                    </a:p>
                    <a:p>
                      <a:r>
                        <a:rPr lang="it-IT" sz="1500" dirty="0">
                          <a:latin typeface="Gill Sans MT" panose="020B0502020104020203" pitchFamily="34" charset="0"/>
                        </a:rPr>
                        <a:t>R:0.8233</a:t>
                      </a:r>
                    </a:p>
                    <a:p>
                      <a:r>
                        <a:rPr lang="it-IT" sz="1500" dirty="0">
                          <a:latin typeface="Gill Sans MT" panose="020B0502020104020203" pitchFamily="34" charset="0"/>
                        </a:rPr>
                        <a:t>F1:0.8205</a:t>
                      </a:r>
                      <a:endParaRPr lang="en-US" sz="1500" dirty="0">
                        <a:latin typeface="Gill Sans MT" panose="020B0502020104020203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500" dirty="0">
                          <a:latin typeface="Gill Sans MT" panose="020B0502020104020203" pitchFamily="34" charset="0"/>
                        </a:rPr>
                        <a:t>P:0.8325</a:t>
                      </a:r>
                    </a:p>
                    <a:p>
                      <a:r>
                        <a:rPr lang="it-IT" sz="1500" dirty="0">
                          <a:latin typeface="Gill Sans MT" panose="020B0502020104020203" pitchFamily="34" charset="0"/>
                        </a:rPr>
                        <a:t>R:0.8386</a:t>
                      </a:r>
                    </a:p>
                    <a:p>
                      <a:r>
                        <a:rPr lang="it-IT" sz="1500" dirty="0">
                          <a:latin typeface="Gill Sans MT" panose="020B0502020104020203" pitchFamily="34" charset="0"/>
                        </a:rPr>
                        <a:t>F1:0.8355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500" dirty="0">
                          <a:latin typeface="Gill Sans MT" panose="020B0502020104020203" pitchFamily="34" charset="0"/>
                        </a:rPr>
                        <a:t>P:0.8074</a:t>
                      </a:r>
                    </a:p>
                    <a:p>
                      <a:r>
                        <a:rPr lang="it-IT" sz="1500" dirty="0">
                          <a:latin typeface="Gill Sans MT" panose="020B0502020104020203" pitchFamily="34" charset="0"/>
                        </a:rPr>
                        <a:t>R:0.7799</a:t>
                      </a:r>
                    </a:p>
                    <a:p>
                      <a:r>
                        <a:rPr lang="it-IT" sz="1500" dirty="0">
                          <a:latin typeface="Gill Sans MT" panose="020B0502020104020203" pitchFamily="34" charset="0"/>
                        </a:rPr>
                        <a:t>F1:0.7934</a:t>
                      </a:r>
                      <a:endParaRPr lang="en-US" sz="1500" dirty="0">
                        <a:latin typeface="Gill Sans MT" panose="020B0502020104020203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500" dirty="0">
                          <a:latin typeface="Gill Sans MT" panose="020B0502020104020203" pitchFamily="34" charset="0"/>
                        </a:rPr>
                        <a:t>P:0.8165</a:t>
                      </a:r>
                    </a:p>
                    <a:p>
                      <a:r>
                        <a:rPr lang="it-IT" sz="1500" dirty="0">
                          <a:latin typeface="Gill Sans MT" panose="020B0502020104020203" pitchFamily="34" charset="0"/>
                        </a:rPr>
                        <a:t>R:0.8179</a:t>
                      </a:r>
                    </a:p>
                    <a:p>
                      <a:r>
                        <a:rPr lang="it-IT" sz="1500" dirty="0">
                          <a:latin typeface="Gill Sans MT" panose="020B0502020104020203" pitchFamily="34" charset="0"/>
                        </a:rPr>
                        <a:t>F1:0.8172</a:t>
                      </a:r>
                      <a:endParaRPr lang="en-US" sz="1500" dirty="0">
                        <a:latin typeface="Gill Sans MT" panose="020B0502020104020203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30841726"/>
                  </a:ext>
                </a:extLst>
              </a:tr>
              <a:tr h="638739">
                <a:tc>
                  <a:txBody>
                    <a:bodyPr/>
                    <a:lstStyle/>
                    <a:p>
                      <a:r>
                        <a:rPr lang="it-IT" sz="1500" dirty="0">
                          <a:latin typeface="Gill Sans MT" panose="020B0502020104020203" pitchFamily="34" charset="0"/>
                        </a:rPr>
                        <a:t>Platinum</a:t>
                      </a:r>
                    </a:p>
                    <a:p>
                      <a:r>
                        <a:rPr lang="it-IT" sz="1500" dirty="0">
                          <a:latin typeface="Gill Sans MT" panose="020B0502020104020203" pitchFamily="34" charset="0"/>
                        </a:rPr>
                        <a:t>+ Gold</a:t>
                      </a:r>
                    </a:p>
                    <a:p>
                      <a:r>
                        <a:rPr lang="it-IT" sz="1500" dirty="0">
                          <a:latin typeface="Gill Sans MT" panose="020B0502020104020203" pitchFamily="34" charset="0"/>
                        </a:rPr>
                        <a:t>+ </a:t>
                      </a:r>
                      <a:r>
                        <a:rPr lang="it-IT" sz="1500" dirty="0" err="1">
                          <a:latin typeface="Gill Sans MT" panose="020B0502020104020203" pitchFamily="34" charset="0"/>
                        </a:rPr>
                        <a:t>Bronze</a:t>
                      </a:r>
                      <a:r>
                        <a:rPr lang="en-US" sz="1500" dirty="0">
                          <a:latin typeface="Gill Sans MT" panose="020B0502020104020203" pitchFamily="34" charset="0"/>
                        </a:rPr>
                        <a:t> Augmented</a:t>
                      </a:r>
                      <a:endParaRPr lang="it-IT" sz="1500" dirty="0">
                        <a:latin typeface="Gill Sans MT" panose="020B0502020104020203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>
                          <a:latin typeface="Gill Sans MT" panose="020B0502020104020203" pitchFamily="34" charset="0"/>
                        </a:rPr>
                        <a:t>-</a:t>
                      </a:r>
                      <a:endParaRPr lang="en-US" dirty="0">
                        <a:latin typeface="Gill Sans MT" panose="020B0502020104020203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500" dirty="0">
                          <a:latin typeface="Gill Sans MT" panose="020B0502020104020203" pitchFamily="34" charset="0"/>
                        </a:rP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>
                          <a:latin typeface="Gill Sans MT" panose="020B0502020104020203" pitchFamily="34" charset="0"/>
                        </a:rPr>
                        <a:t>-</a:t>
                      </a:r>
                      <a:endParaRPr lang="en-US" dirty="0">
                        <a:latin typeface="Gill Sans MT" panose="020B0502020104020203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500" dirty="0">
                          <a:latin typeface="Gill Sans MT" panose="020B0502020104020203" pitchFamily="34" charset="0"/>
                        </a:rPr>
                        <a:t>P:0.7071</a:t>
                      </a:r>
                    </a:p>
                    <a:p>
                      <a:r>
                        <a:rPr lang="it-IT" sz="1500" dirty="0">
                          <a:latin typeface="Gill Sans MT" panose="020B0502020104020203" pitchFamily="34" charset="0"/>
                        </a:rPr>
                        <a:t>R:0.8025</a:t>
                      </a:r>
                    </a:p>
                    <a:p>
                      <a:r>
                        <a:rPr lang="it-IT" sz="1500" dirty="0">
                          <a:latin typeface="Gill Sans MT" panose="020B0502020104020203" pitchFamily="34" charset="0"/>
                        </a:rPr>
                        <a:t>F1:0.7518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84861711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5317A35B-381A-D025-24FB-0540626E4B9F}"/>
              </a:ext>
            </a:extLst>
          </p:cNvPr>
          <p:cNvSpPr txBox="1"/>
          <p:nvPr/>
        </p:nvSpPr>
        <p:spPr>
          <a:xfrm>
            <a:off x="187779" y="3838324"/>
            <a:ext cx="67314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>
                <a:latin typeface="Gill Sans MT" panose="020B0502020104020203" pitchFamily="34" charset="0"/>
              </a:rPr>
              <a:t>The </a:t>
            </a:r>
            <a:r>
              <a:rPr lang="it-IT" b="1" dirty="0">
                <a:latin typeface="Gill Sans MT" panose="020B0502020104020203" pitchFamily="34" charset="0"/>
              </a:rPr>
              <a:t>Dev Dataset</a:t>
            </a:r>
            <a:r>
              <a:rPr lang="it-IT" dirty="0">
                <a:latin typeface="Gill Sans MT" panose="020B0502020104020203" pitchFamily="34" charset="0"/>
              </a:rPr>
              <a:t> in </a:t>
            </a:r>
            <a:r>
              <a:rPr lang="it-IT" dirty="0" err="1">
                <a:latin typeface="Gill Sans MT" panose="020B0502020104020203" pitchFamily="34" charset="0"/>
              </a:rPr>
              <a:t>this</a:t>
            </a:r>
            <a:r>
              <a:rPr lang="it-IT" dirty="0">
                <a:latin typeface="Gill Sans MT" panose="020B0502020104020203" pitchFamily="34" charset="0"/>
              </a:rPr>
              <a:t> </a:t>
            </a:r>
            <a:r>
              <a:rPr lang="it-IT" dirty="0" err="1">
                <a:latin typeface="Gill Sans MT" panose="020B0502020104020203" pitchFamily="34" charset="0"/>
              </a:rPr>
              <a:t>evaluation</a:t>
            </a:r>
            <a:r>
              <a:rPr lang="it-IT" dirty="0">
                <a:latin typeface="Gill Sans MT" panose="020B0502020104020203" pitchFamily="34" charset="0"/>
              </a:rPr>
              <a:t> </a:t>
            </a:r>
            <a:r>
              <a:rPr lang="it-IT" dirty="0" err="1">
                <a:latin typeface="Gill Sans MT" panose="020B0502020104020203" pitchFamily="34" charset="0"/>
              </a:rPr>
              <a:t>is</a:t>
            </a:r>
            <a:r>
              <a:rPr lang="it-IT" dirty="0">
                <a:latin typeface="Gill Sans MT" panose="020B0502020104020203" pitchFamily="34" charset="0"/>
              </a:rPr>
              <a:t> </a:t>
            </a:r>
            <a:r>
              <a:rPr lang="it-IT" dirty="0" err="1">
                <a:latin typeface="Gill Sans MT" panose="020B0502020104020203" pitchFamily="34" charset="0"/>
              </a:rPr>
              <a:t>considered</a:t>
            </a:r>
            <a:r>
              <a:rPr lang="it-IT" dirty="0">
                <a:latin typeface="Gill Sans MT" panose="020B0502020104020203" pitchFamily="34" charset="0"/>
              </a:rPr>
              <a:t> </a:t>
            </a:r>
            <a:r>
              <a:rPr lang="it-IT" dirty="0" err="1">
                <a:latin typeface="Gill Sans MT" panose="020B0502020104020203" pitchFamily="34" charset="0"/>
              </a:rPr>
              <a:t>as</a:t>
            </a:r>
            <a:r>
              <a:rPr lang="it-IT" dirty="0">
                <a:latin typeface="Gill Sans MT" panose="020B0502020104020203" pitchFamily="34" charset="0"/>
              </a:rPr>
              <a:t> the Test Dataset.</a:t>
            </a:r>
            <a:endParaRPr lang="en-US" dirty="0">
              <a:latin typeface="Gill Sans MT" panose="020B0502020104020203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F76D041-3CD7-F09B-11E7-1DA4D5594B3E}"/>
              </a:ext>
            </a:extLst>
          </p:cNvPr>
          <p:cNvSpPr txBox="1"/>
          <p:nvPr/>
        </p:nvSpPr>
        <p:spPr>
          <a:xfrm>
            <a:off x="187779" y="4252982"/>
            <a:ext cx="47966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>
                <a:latin typeface="Gill Sans MT" panose="020B0502020104020203" pitchFamily="34" charset="0"/>
              </a:rPr>
              <a:t>Precision: 0.8017,      Recall: 0.6947,      F1: 0.7444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F596AC6-D50B-1990-309F-96B00D7AB02B}"/>
              </a:ext>
            </a:extLst>
          </p:cNvPr>
          <p:cNvSpPr txBox="1"/>
          <p:nvPr/>
        </p:nvSpPr>
        <p:spPr>
          <a:xfrm>
            <a:off x="187779" y="4667641"/>
            <a:ext cx="64804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>
                <a:latin typeface="Gill Sans MT" panose="020B0502020104020203" pitchFamily="34" charset="0"/>
              </a:rPr>
              <a:t>The model </a:t>
            </a:r>
            <a:r>
              <a:rPr lang="it-IT" dirty="0" err="1">
                <a:latin typeface="Gill Sans MT" panose="020B0502020104020203" pitchFamily="34" charset="0"/>
              </a:rPr>
              <a:t>used</a:t>
            </a:r>
            <a:r>
              <a:rPr lang="it-IT" dirty="0">
                <a:latin typeface="Gill Sans MT" panose="020B0502020104020203" pitchFamily="34" charset="0"/>
              </a:rPr>
              <a:t> for </a:t>
            </a:r>
            <a:r>
              <a:rPr lang="it-IT" b="1" dirty="0">
                <a:latin typeface="Gill Sans MT" panose="020B0502020104020203" pitchFamily="34" charset="0"/>
              </a:rPr>
              <a:t>NER</a:t>
            </a:r>
            <a:r>
              <a:rPr lang="it-IT" dirty="0">
                <a:latin typeface="Gill Sans MT" panose="020B0502020104020203" pitchFamily="34" charset="0"/>
              </a:rPr>
              <a:t> of the </a:t>
            </a:r>
            <a:r>
              <a:rPr lang="it-IT" i="1" dirty="0">
                <a:latin typeface="Gill Sans MT" panose="020B0502020104020203" pitchFamily="34" charset="0"/>
              </a:rPr>
              <a:t>Dev Dataset </a:t>
            </a:r>
            <a:r>
              <a:rPr lang="it-IT" dirty="0" err="1">
                <a:latin typeface="Gill Sans MT" panose="020B0502020104020203" pitchFamily="34" charset="0"/>
              </a:rPr>
              <a:t>is</a:t>
            </a:r>
            <a:r>
              <a:rPr lang="it-IT" dirty="0">
                <a:latin typeface="Gill Sans MT" panose="020B0502020104020203" pitchFamily="34" charset="0"/>
              </a:rPr>
              <a:t> </a:t>
            </a:r>
            <a:r>
              <a:rPr lang="it-IT" b="1" dirty="0" err="1">
                <a:latin typeface="Gill Sans MT" panose="020B0502020104020203" pitchFamily="34" charset="0"/>
              </a:rPr>
              <a:t>platinum</a:t>
            </a:r>
            <a:r>
              <a:rPr lang="it-IT" b="1" dirty="0">
                <a:latin typeface="Gill Sans MT" panose="020B0502020104020203" pitchFamily="34" charset="0"/>
              </a:rPr>
              <a:t> + </a:t>
            </a:r>
            <a:r>
              <a:rPr lang="it-IT" b="1" dirty="0" err="1">
                <a:latin typeface="Gill Sans MT" panose="020B0502020104020203" pitchFamily="34" charset="0"/>
              </a:rPr>
              <a:t>gold</a:t>
            </a:r>
            <a:r>
              <a:rPr lang="it-IT" dirty="0">
                <a:latin typeface="Gill Sans MT" panose="020B0502020104020203" pitchFamily="34" charset="0"/>
              </a:rPr>
              <a:t>.</a:t>
            </a:r>
            <a:endParaRPr lang="en-US" dirty="0">
              <a:latin typeface="Gill Sans MT" panose="020B05020201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7309178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E61775-9580-2657-4079-153C38B74C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4A47946-636D-F45B-8086-69585AD69C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725" y="86358"/>
            <a:ext cx="8374549" cy="384721"/>
          </a:xfrm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it-IT" b="1" dirty="0" err="1">
                <a:latin typeface="Gill Sans MT"/>
              </a:rPr>
              <a:t>Binary</a:t>
            </a:r>
            <a:r>
              <a:rPr lang="it-IT" b="1" dirty="0">
                <a:latin typeface="Gill Sans MT"/>
              </a:rPr>
              <a:t> Tag-</a:t>
            </a:r>
            <a:r>
              <a:rPr lang="it-IT" b="1" dirty="0" err="1">
                <a:latin typeface="Gill Sans MT"/>
              </a:rPr>
              <a:t>Based</a:t>
            </a:r>
            <a:r>
              <a:rPr lang="it-IT" b="1" dirty="0">
                <a:latin typeface="Gill Sans MT"/>
              </a:rPr>
              <a:t> Relation </a:t>
            </a:r>
            <a:r>
              <a:rPr lang="it-IT" b="1" dirty="0" err="1">
                <a:latin typeface="Gill Sans MT"/>
              </a:rPr>
              <a:t>Extraction</a:t>
            </a:r>
            <a:endParaRPr lang="it-IT" dirty="0">
              <a:latin typeface="Gill Sans MT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7A53119-CB4A-8337-FB21-D82E5EBA6303}"/>
              </a:ext>
            </a:extLst>
          </p:cNvPr>
          <p:cNvSpPr txBox="1"/>
          <p:nvPr/>
        </p:nvSpPr>
        <p:spPr>
          <a:xfrm>
            <a:off x="7422076" y="4667641"/>
            <a:ext cx="14013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>
                <a:latin typeface="Gill Sans MT" panose="020B0502020104020203" pitchFamily="34" charset="0"/>
              </a:rPr>
              <a:t>Samuel Piron</a:t>
            </a:r>
            <a:endParaRPr lang="en-US" dirty="0">
              <a:latin typeface="Gill Sans MT" panose="020B0502020104020203" pitchFamily="34" charset="0"/>
            </a:endParaRP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F80B1E78-974F-88BB-36C9-D994FFF13AA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69275948"/>
              </p:ext>
            </p:extLst>
          </p:nvPr>
        </p:nvGraphicFramePr>
        <p:xfrm>
          <a:off x="1699256" y="702129"/>
          <a:ext cx="5745485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9097">
                  <a:extLst>
                    <a:ext uri="{9D8B030D-6E8A-4147-A177-3AD203B41FA5}">
                      <a16:colId xmlns:a16="http://schemas.microsoft.com/office/drawing/2014/main" val="1668161153"/>
                    </a:ext>
                  </a:extLst>
                </a:gridCol>
                <a:gridCol w="1149097">
                  <a:extLst>
                    <a:ext uri="{9D8B030D-6E8A-4147-A177-3AD203B41FA5}">
                      <a16:colId xmlns:a16="http://schemas.microsoft.com/office/drawing/2014/main" val="2613488493"/>
                    </a:ext>
                  </a:extLst>
                </a:gridCol>
                <a:gridCol w="1149097">
                  <a:extLst>
                    <a:ext uri="{9D8B030D-6E8A-4147-A177-3AD203B41FA5}">
                      <a16:colId xmlns:a16="http://schemas.microsoft.com/office/drawing/2014/main" val="2746191053"/>
                    </a:ext>
                  </a:extLst>
                </a:gridCol>
                <a:gridCol w="1149097">
                  <a:extLst>
                    <a:ext uri="{9D8B030D-6E8A-4147-A177-3AD203B41FA5}">
                      <a16:colId xmlns:a16="http://schemas.microsoft.com/office/drawing/2014/main" val="2372762899"/>
                    </a:ext>
                  </a:extLst>
                </a:gridCol>
                <a:gridCol w="1149097">
                  <a:extLst>
                    <a:ext uri="{9D8B030D-6E8A-4147-A177-3AD203B41FA5}">
                      <a16:colId xmlns:a16="http://schemas.microsoft.com/office/drawing/2014/main" val="2479999630"/>
                    </a:ext>
                  </a:extLst>
                </a:gridCol>
              </a:tblGrid>
              <a:tr h="638739">
                <a:tc>
                  <a:txBody>
                    <a:bodyPr/>
                    <a:lstStyle/>
                    <a:p>
                      <a:r>
                        <a:rPr lang="it-IT" dirty="0"/>
                        <a:t>          Test                </a:t>
                      </a:r>
                      <a:r>
                        <a:rPr lang="en-US" dirty="0"/>
                        <a:t>Train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Platinum</a:t>
                      </a:r>
                    </a:p>
                    <a:p>
                      <a:r>
                        <a:rPr lang="it-IT" dirty="0"/>
                        <a:t>Collection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Gold</a:t>
                      </a:r>
                    </a:p>
                    <a:p>
                      <a:r>
                        <a:rPr lang="it-IT" dirty="0"/>
                        <a:t>Collection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Silver</a:t>
                      </a:r>
                    </a:p>
                    <a:p>
                      <a:r>
                        <a:rPr lang="it-IT" dirty="0"/>
                        <a:t>Collection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 err="1"/>
                        <a:t>Bronze</a:t>
                      </a:r>
                      <a:endParaRPr lang="it-IT" dirty="0"/>
                    </a:p>
                    <a:p>
                      <a:r>
                        <a:rPr lang="it-IT" dirty="0"/>
                        <a:t>Collection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94949842"/>
                  </a:ext>
                </a:extLst>
              </a:tr>
              <a:tr h="638739">
                <a:tc>
                  <a:txBody>
                    <a:bodyPr/>
                    <a:lstStyle/>
                    <a:p>
                      <a:r>
                        <a:rPr lang="it-IT" dirty="0"/>
                        <a:t>Platinum</a:t>
                      </a:r>
                    </a:p>
                    <a:p>
                      <a:r>
                        <a:rPr lang="it-IT" dirty="0"/>
                        <a:t>+ Gold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P:0.5130</a:t>
                      </a:r>
                    </a:p>
                    <a:p>
                      <a:r>
                        <a:rPr lang="it-IT" dirty="0"/>
                        <a:t>R:0.9135</a:t>
                      </a:r>
                    </a:p>
                    <a:p>
                      <a:r>
                        <a:rPr lang="it-IT" dirty="0"/>
                        <a:t>F1:0.6571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P:0.4154</a:t>
                      </a:r>
                    </a:p>
                    <a:p>
                      <a:r>
                        <a:rPr lang="it-IT" dirty="0"/>
                        <a:t>R:0.8640</a:t>
                      </a:r>
                    </a:p>
                    <a:p>
                      <a:r>
                        <a:rPr lang="it-IT" dirty="0"/>
                        <a:t>F1:0.5610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P:0.4397</a:t>
                      </a:r>
                    </a:p>
                    <a:p>
                      <a:r>
                        <a:rPr lang="it-IT" dirty="0"/>
                        <a:t>R:0.7479</a:t>
                      </a:r>
                    </a:p>
                    <a:p>
                      <a:r>
                        <a:rPr lang="it-IT" dirty="0"/>
                        <a:t>F1:0.5538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P:0.3471</a:t>
                      </a:r>
                    </a:p>
                    <a:p>
                      <a:r>
                        <a:rPr lang="it-IT" dirty="0"/>
                        <a:t>R:0.8646</a:t>
                      </a:r>
                    </a:p>
                    <a:p>
                      <a:r>
                        <a:rPr lang="it-IT" dirty="0"/>
                        <a:t>F1:0.4953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3746583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51CEE1EC-1B37-8160-CCA4-807293866CCB}"/>
              </a:ext>
            </a:extLst>
          </p:cNvPr>
          <p:cNvSpPr txBox="1"/>
          <p:nvPr/>
        </p:nvSpPr>
        <p:spPr>
          <a:xfrm>
            <a:off x="326571" y="2694214"/>
            <a:ext cx="67314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>
                <a:latin typeface="Gill Sans MT" panose="020B0502020104020203" pitchFamily="34" charset="0"/>
              </a:rPr>
              <a:t>The </a:t>
            </a:r>
            <a:r>
              <a:rPr lang="it-IT" b="1" dirty="0">
                <a:latin typeface="Gill Sans MT" panose="020B0502020104020203" pitchFamily="34" charset="0"/>
              </a:rPr>
              <a:t>Dev Dataset</a:t>
            </a:r>
            <a:r>
              <a:rPr lang="it-IT" dirty="0">
                <a:latin typeface="Gill Sans MT" panose="020B0502020104020203" pitchFamily="34" charset="0"/>
              </a:rPr>
              <a:t> in </a:t>
            </a:r>
            <a:r>
              <a:rPr lang="it-IT" dirty="0" err="1">
                <a:latin typeface="Gill Sans MT" panose="020B0502020104020203" pitchFamily="34" charset="0"/>
              </a:rPr>
              <a:t>this</a:t>
            </a:r>
            <a:r>
              <a:rPr lang="it-IT" dirty="0">
                <a:latin typeface="Gill Sans MT" panose="020B0502020104020203" pitchFamily="34" charset="0"/>
              </a:rPr>
              <a:t> </a:t>
            </a:r>
            <a:r>
              <a:rPr lang="it-IT" dirty="0" err="1">
                <a:latin typeface="Gill Sans MT" panose="020B0502020104020203" pitchFamily="34" charset="0"/>
              </a:rPr>
              <a:t>evaluation</a:t>
            </a:r>
            <a:r>
              <a:rPr lang="it-IT" dirty="0">
                <a:latin typeface="Gill Sans MT" panose="020B0502020104020203" pitchFamily="34" charset="0"/>
              </a:rPr>
              <a:t> </a:t>
            </a:r>
            <a:r>
              <a:rPr lang="it-IT" dirty="0" err="1">
                <a:latin typeface="Gill Sans MT" panose="020B0502020104020203" pitchFamily="34" charset="0"/>
              </a:rPr>
              <a:t>is</a:t>
            </a:r>
            <a:r>
              <a:rPr lang="it-IT" dirty="0">
                <a:latin typeface="Gill Sans MT" panose="020B0502020104020203" pitchFamily="34" charset="0"/>
              </a:rPr>
              <a:t> </a:t>
            </a:r>
            <a:r>
              <a:rPr lang="it-IT" dirty="0" err="1">
                <a:latin typeface="Gill Sans MT" panose="020B0502020104020203" pitchFamily="34" charset="0"/>
              </a:rPr>
              <a:t>considered</a:t>
            </a:r>
            <a:r>
              <a:rPr lang="it-IT" dirty="0">
                <a:latin typeface="Gill Sans MT" panose="020B0502020104020203" pitchFamily="34" charset="0"/>
              </a:rPr>
              <a:t> </a:t>
            </a:r>
            <a:r>
              <a:rPr lang="it-IT" dirty="0" err="1">
                <a:latin typeface="Gill Sans MT" panose="020B0502020104020203" pitchFamily="34" charset="0"/>
              </a:rPr>
              <a:t>as</a:t>
            </a:r>
            <a:r>
              <a:rPr lang="it-IT" dirty="0">
                <a:latin typeface="Gill Sans MT" panose="020B0502020104020203" pitchFamily="34" charset="0"/>
              </a:rPr>
              <a:t> the Test Dataset.</a:t>
            </a:r>
            <a:endParaRPr lang="en-US" dirty="0">
              <a:latin typeface="Gill Sans MT" panose="020B0502020104020203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2A01D8C-D2A5-F03A-6A18-0C06A122E6D2}"/>
              </a:ext>
            </a:extLst>
          </p:cNvPr>
          <p:cNvSpPr txBox="1"/>
          <p:nvPr/>
        </p:nvSpPr>
        <p:spPr>
          <a:xfrm>
            <a:off x="384725" y="3214203"/>
            <a:ext cx="1753557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>
                <a:latin typeface="Gill Sans MT" panose="020B0502020104020203" pitchFamily="34" charset="0"/>
              </a:rPr>
              <a:t>Precision: 0.5978</a:t>
            </a:r>
          </a:p>
          <a:p>
            <a:r>
              <a:rPr lang="it-IT" dirty="0">
                <a:latin typeface="Gill Sans MT" panose="020B0502020104020203" pitchFamily="34" charset="0"/>
              </a:rPr>
              <a:t>Recall: 0.7364</a:t>
            </a:r>
          </a:p>
          <a:p>
            <a:r>
              <a:rPr lang="it-IT" dirty="0">
                <a:latin typeface="Gill Sans MT" panose="020B0502020104020203" pitchFamily="34" charset="0"/>
              </a:rPr>
              <a:t>F1: 0.6599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851C5DD-46C6-9015-0B82-FC54AEE957EE}"/>
              </a:ext>
            </a:extLst>
          </p:cNvPr>
          <p:cNvSpPr txBox="1"/>
          <p:nvPr/>
        </p:nvSpPr>
        <p:spPr>
          <a:xfrm>
            <a:off x="320578" y="4288190"/>
            <a:ext cx="69015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 err="1">
                <a:latin typeface="Gill Sans MT" panose="020B0502020104020203" pitchFamily="34" charset="0"/>
              </a:rPr>
              <a:t>This</a:t>
            </a:r>
            <a:r>
              <a:rPr lang="it-IT" dirty="0">
                <a:latin typeface="Gill Sans MT" panose="020B0502020104020203" pitchFamily="34" charset="0"/>
              </a:rPr>
              <a:t> </a:t>
            </a:r>
            <a:r>
              <a:rPr lang="it-IT" dirty="0" err="1">
                <a:latin typeface="Gill Sans MT" panose="020B0502020104020203" pitchFamily="34" charset="0"/>
              </a:rPr>
              <a:t>is</a:t>
            </a:r>
            <a:r>
              <a:rPr lang="it-IT" dirty="0">
                <a:latin typeface="Gill Sans MT" panose="020B0502020104020203" pitchFamily="34" charset="0"/>
              </a:rPr>
              <a:t> the best </a:t>
            </a:r>
            <a:r>
              <a:rPr lang="it-IT" dirty="0" err="1">
                <a:latin typeface="Gill Sans MT" panose="020B0502020104020203" pitchFamily="34" charset="0"/>
              </a:rPr>
              <a:t>result</a:t>
            </a:r>
            <a:r>
              <a:rPr lang="it-IT" dirty="0">
                <a:latin typeface="Gill Sans MT" panose="020B0502020104020203" pitchFamily="34" charset="0"/>
              </a:rPr>
              <a:t> so far, with a </a:t>
            </a:r>
            <a:r>
              <a:rPr lang="it-IT" dirty="0" err="1">
                <a:latin typeface="Gill Sans MT" panose="020B0502020104020203" pitchFamily="34" charset="0"/>
              </a:rPr>
              <a:t>threshold</a:t>
            </a:r>
            <a:r>
              <a:rPr lang="it-IT" dirty="0">
                <a:latin typeface="Gill Sans MT" panose="020B0502020104020203" pitchFamily="34" charset="0"/>
              </a:rPr>
              <a:t> of 0.7 for the </a:t>
            </a:r>
            <a:r>
              <a:rPr lang="it-IT" dirty="0" err="1">
                <a:latin typeface="Gill Sans MT" panose="020B0502020104020203" pitchFamily="34" charset="0"/>
              </a:rPr>
              <a:t>predictions</a:t>
            </a:r>
            <a:r>
              <a:rPr lang="it-IT" dirty="0">
                <a:latin typeface="Gill Sans MT" panose="020B0502020104020203" pitchFamily="34" charset="0"/>
              </a:rPr>
              <a:t>.</a:t>
            </a:r>
            <a:endParaRPr lang="en-US" dirty="0">
              <a:latin typeface="Gill Sans MT" panose="020B05020201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2467637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8B81C8-E3F8-9029-9A36-C6070A7F76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B0E1C5D-9F3F-1A52-1253-8EE6D7CC25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725" y="86358"/>
            <a:ext cx="8374549" cy="384721"/>
          </a:xfrm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it-IT" b="1" dirty="0" err="1">
                <a:latin typeface="Gill Sans MT"/>
              </a:rPr>
              <a:t>Ternary</a:t>
            </a:r>
            <a:r>
              <a:rPr lang="it-IT" b="1" dirty="0">
                <a:latin typeface="Gill Sans MT"/>
              </a:rPr>
              <a:t> Tag-</a:t>
            </a:r>
            <a:r>
              <a:rPr lang="it-IT" b="1" dirty="0" err="1">
                <a:latin typeface="Gill Sans MT"/>
              </a:rPr>
              <a:t>Based</a:t>
            </a:r>
            <a:r>
              <a:rPr lang="it-IT" b="1" dirty="0">
                <a:latin typeface="Gill Sans MT"/>
              </a:rPr>
              <a:t> RE</a:t>
            </a:r>
            <a:endParaRPr lang="it-IT" dirty="0">
              <a:latin typeface="Gill Sans MT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1E1A434-91A9-228C-F634-20822222F2F4}"/>
              </a:ext>
            </a:extLst>
          </p:cNvPr>
          <p:cNvSpPr txBox="1"/>
          <p:nvPr/>
        </p:nvSpPr>
        <p:spPr>
          <a:xfrm>
            <a:off x="7422076" y="4667641"/>
            <a:ext cx="14013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>
                <a:latin typeface="Gill Sans MT" panose="020B0502020104020203" pitchFamily="34" charset="0"/>
              </a:rPr>
              <a:t>Samuel Piron</a:t>
            </a:r>
            <a:endParaRPr lang="en-US" dirty="0">
              <a:latin typeface="Gill Sans MT" panose="020B0502020104020203" pitchFamily="34" charset="0"/>
            </a:endParaRP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4F8556B4-3321-3783-8960-892A331CF02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69860143"/>
              </p:ext>
            </p:extLst>
          </p:nvPr>
        </p:nvGraphicFramePr>
        <p:xfrm>
          <a:off x="1699256" y="702129"/>
          <a:ext cx="5745485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9097">
                  <a:extLst>
                    <a:ext uri="{9D8B030D-6E8A-4147-A177-3AD203B41FA5}">
                      <a16:colId xmlns:a16="http://schemas.microsoft.com/office/drawing/2014/main" val="1668161153"/>
                    </a:ext>
                  </a:extLst>
                </a:gridCol>
                <a:gridCol w="1149097">
                  <a:extLst>
                    <a:ext uri="{9D8B030D-6E8A-4147-A177-3AD203B41FA5}">
                      <a16:colId xmlns:a16="http://schemas.microsoft.com/office/drawing/2014/main" val="2613488493"/>
                    </a:ext>
                  </a:extLst>
                </a:gridCol>
                <a:gridCol w="1149097">
                  <a:extLst>
                    <a:ext uri="{9D8B030D-6E8A-4147-A177-3AD203B41FA5}">
                      <a16:colId xmlns:a16="http://schemas.microsoft.com/office/drawing/2014/main" val="2746191053"/>
                    </a:ext>
                  </a:extLst>
                </a:gridCol>
                <a:gridCol w="1149097">
                  <a:extLst>
                    <a:ext uri="{9D8B030D-6E8A-4147-A177-3AD203B41FA5}">
                      <a16:colId xmlns:a16="http://schemas.microsoft.com/office/drawing/2014/main" val="2372762899"/>
                    </a:ext>
                  </a:extLst>
                </a:gridCol>
                <a:gridCol w="1149097">
                  <a:extLst>
                    <a:ext uri="{9D8B030D-6E8A-4147-A177-3AD203B41FA5}">
                      <a16:colId xmlns:a16="http://schemas.microsoft.com/office/drawing/2014/main" val="2479999630"/>
                    </a:ext>
                  </a:extLst>
                </a:gridCol>
              </a:tblGrid>
              <a:tr h="638739">
                <a:tc>
                  <a:txBody>
                    <a:bodyPr/>
                    <a:lstStyle/>
                    <a:p>
                      <a:r>
                        <a:rPr lang="it-IT" dirty="0"/>
                        <a:t>          Test                </a:t>
                      </a:r>
                      <a:r>
                        <a:rPr lang="en-US" dirty="0"/>
                        <a:t>Train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Platinum</a:t>
                      </a:r>
                    </a:p>
                    <a:p>
                      <a:r>
                        <a:rPr lang="it-IT" dirty="0"/>
                        <a:t>Collection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Gold</a:t>
                      </a:r>
                    </a:p>
                    <a:p>
                      <a:r>
                        <a:rPr lang="it-IT" dirty="0"/>
                        <a:t>Collection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Silver</a:t>
                      </a:r>
                    </a:p>
                    <a:p>
                      <a:r>
                        <a:rPr lang="it-IT" dirty="0"/>
                        <a:t>Collection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 err="1"/>
                        <a:t>Bronze</a:t>
                      </a:r>
                      <a:endParaRPr lang="it-IT" dirty="0"/>
                    </a:p>
                    <a:p>
                      <a:r>
                        <a:rPr lang="it-IT" dirty="0"/>
                        <a:t>Collection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94949842"/>
                  </a:ext>
                </a:extLst>
              </a:tr>
              <a:tr h="638739">
                <a:tc>
                  <a:txBody>
                    <a:bodyPr/>
                    <a:lstStyle/>
                    <a:p>
                      <a:r>
                        <a:rPr lang="it-IT" dirty="0"/>
                        <a:t>Platinum</a:t>
                      </a:r>
                    </a:p>
                    <a:p>
                      <a:r>
                        <a:rPr lang="it-IT" dirty="0"/>
                        <a:t>+ Gold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P:0.8753</a:t>
                      </a:r>
                    </a:p>
                    <a:p>
                      <a:r>
                        <a:rPr lang="it-IT" dirty="0"/>
                        <a:t>R:0.6757</a:t>
                      </a:r>
                    </a:p>
                    <a:p>
                      <a:r>
                        <a:rPr lang="it-IT" dirty="0"/>
                        <a:t>F1:0.7627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P:0.7694</a:t>
                      </a:r>
                    </a:p>
                    <a:p>
                      <a:r>
                        <a:rPr lang="it-IT" dirty="0"/>
                        <a:t>R:0.6085</a:t>
                      </a:r>
                    </a:p>
                    <a:p>
                      <a:r>
                        <a:rPr lang="it-IT" dirty="0"/>
                        <a:t>F1:0.6795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P:0.6938</a:t>
                      </a:r>
                    </a:p>
                    <a:p>
                      <a:r>
                        <a:rPr lang="it-IT" dirty="0"/>
                        <a:t>R:0.4493</a:t>
                      </a:r>
                    </a:p>
                    <a:p>
                      <a:r>
                        <a:rPr lang="it-IT" dirty="0"/>
                        <a:t>F1:0.5454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P:0.7060</a:t>
                      </a:r>
                    </a:p>
                    <a:p>
                      <a:r>
                        <a:rPr lang="it-IT" dirty="0"/>
                        <a:t>R:0.5433</a:t>
                      </a:r>
                    </a:p>
                    <a:p>
                      <a:r>
                        <a:rPr lang="it-IT" dirty="0"/>
                        <a:t>F1:0.6140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3746583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677CAF77-7642-A8B8-99BF-0F7D26FAF553}"/>
              </a:ext>
            </a:extLst>
          </p:cNvPr>
          <p:cNvSpPr txBox="1"/>
          <p:nvPr/>
        </p:nvSpPr>
        <p:spPr>
          <a:xfrm>
            <a:off x="326571" y="2694214"/>
            <a:ext cx="67314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>
                <a:latin typeface="Gill Sans MT" panose="020B0502020104020203" pitchFamily="34" charset="0"/>
              </a:rPr>
              <a:t>The </a:t>
            </a:r>
            <a:r>
              <a:rPr lang="it-IT" b="1" dirty="0">
                <a:latin typeface="Gill Sans MT" panose="020B0502020104020203" pitchFamily="34" charset="0"/>
              </a:rPr>
              <a:t>Dev Dataset</a:t>
            </a:r>
            <a:r>
              <a:rPr lang="it-IT" dirty="0">
                <a:latin typeface="Gill Sans MT" panose="020B0502020104020203" pitchFamily="34" charset="0"/>
              </a:rPr>
              <a:t> in </a:t>
            </a:r>
            <a:r>
              <a:rPr lang="it-IT" dirty="0" err="1">
                <a:latin typeface="Gill Sans MT" panose="020B0502020104020203" pitchFamily="34" charset="0"/>
              </a:rPr>
              <a:t>this</a:t>
            </a:r>
            <a:r>
              <a:rPr lang="it-IT" dirty="0">
                <a:latin typeface="Gill Sans MT" panose="020B0502020104020203" pitchFamily="34" charset="0"/>
              </a:rPr>
              <a:t> </a:t>
            </a:r>
            <a:r>
              <a:rPr lang="it-IT" dirty="0" err="1">
                <a:latin typeface="Gill Sans MT" panose="020B0502020104020203" pitchFamily="34" charset="0"/>
              </a:rPr>
              <a:t>evaluation</a:t>
            </a:r>
            <a:r>
              <a:rPr lang="it-IT" dirty="0">
                <a:latin typeface="Gill Sans MT" panose="020B0502020104020203" pitchFamily="34" charset="0"/>
              </a:rPr>
              <a:t> </a:t>
            </a:r>
            <a:r>
              <a:rPr lang="it-IT" dirty="0" err="1">
                <a:latin typeface="Gill Sans MT" panose="020B0502020104020203" pitchFamily="34" charset="0"/>
              </a:rPr>
              <a:t>is</a:t>
            </a:r>
            <a:r>
              <a:rPr lang="it-IT" dirty="0">
                <a:latin typeface="Gill Sans MT" panose="020B0502020104020203" pitchFamily="34" charset="0"/>
              </a:rPr>
              <a:t> </a:t>
            </a:r>
            <a:r>
              <a:rPr lang="it-IT" dirty="0" err="1">
                <a:latin typeface="Gill Sans MT" panose="020B0502020104020203" pitchFamily="34" charset="0"/>
              </a:rPr>
              <a:t>considered</a:t>
            </a:r>
            <a:r>
              <a:rPr lang="it-IT" dirty="0">
                <a:latin typeface="Gill Sans MT" panose="020B0502020104020203" pitchFamily="34" charset="0"/>
              </a:rPr>
              <a:t> </a:t>
            </a:r>
            <a:r>
              <a:rPr lang="it-IT" dirty="0" err="1">
                <a:latin typeface="Gill Sans MT" panose="020B0502020104020203" pitchFamily="34" charset="0"/>
              </a:rPr>
              <a:t>as</a:t>
            </a:r>
            <a:r>
              <a:rPr lang="it-IT" dirty="0">
                <a:latin typeface="Gill Sans MT" panose="020B0502020104020203" pitchFamily="34" charset="0"/>
              </a:rPr>
              <a:t> the Test Dataset.</a:t>
            </a:r>
            <a:endParaRPr lang="en-US" dirty="0">
              <a:latin typeface="Gill Sans MT" panose="020B05020201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4B23197-4FBF-C72D-BDDA-38B618DD84E3}"/>
              </a:ext>
            </a:extLst>
          </p:cNvPr>
          <p:cNvSpPr txBox="1"/>
          <p:nvPr/>
        </p:nvSpPr>
        <p:spPr>
          <a:xfrm>
            <a:off x="384725" y="3214203"/>
            <a:ext cx="1753557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>
                <a:latin typeface="Gill Sans MT" panose="020B0502020104020203" pitchFamily="34" charset="0"/>
              </a:rPr>
              <a:t>Precision: 0.8100</a:t>
            </a:r>
          </a:p>
          <a:p>
            <a:r>
              <a:rPr lang="it-IT" dirty="0">
                <a:latin typeface="Gill Sans MT" panose="020B0502020104020203" pitchFamily="34" charset="0"/>
              </a:rPr>
              <a:t>Recall: 0.3522</a:t>
            </a:r>
          </a:p>
          <a:p>
            <a:r>
              <a:rPr lang="it-IT" dirty="0">
                <a:latin typeface="Gill Sans MT" panose="020B0502020104020203" pitchFamily="34" charset="0"/>
              </a:rPr>
              <a:t>F1: 0.4909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554082B-88E8-FE98-D2C9-28F00FB63A9D}"/>
              </a:ext>
            </a:extLst>
          </p:cNvPr>
          <p:cNvSpPr txBox="1"/>
          <p:nvPr/>
        </p:nvSpPr>
        <p:spPr>
          <a:xfrm>
            <a:off x="320578" y="4288190"/>
            <a:ext cx="69015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 err="1">
                <a:latin typeface="Gill Sans MT" panose="020B0502020104020203" pitchFamily="34" charset="0"/>
              </a:rPr>
              <a:t>This</a:t>
            </a:r>
            <a:r>
              <a:rPr lang="it-IT" dirty="0">
                <a:latin typeface="Gill Sans MT" panose="020B0502020104020203" pitchFamily="34" charset="0"/>
              </a:rPr>
              <a:t> </a:t>
            </a:r>
            <a:r>
              <a:rPr lang="it-IT" dirty="0" err="1">
                <a:latin typeface="Gill Sans MT" panose="020B0502020104020203" pitchFamily="34" charset="0"/>
              </a:rPr>
              <a:t>is</a:t>
            </a:r>
            <a:r>
              <a:rPr lang="it-IT" dirty="0">
                <a:latin typeface="Gill Sans MT" panose="020B0502020104020203" pitchFamily="34" charset="0"/>
              </a:rPr>
              <a:t> the best </a:t>
            </a:r>
            <a:r>
              <a:rPr lang="it-IT" dirty="0" err="1">
                <a:latin typeface="Gill Sans MT" panose="020B0502020104020203" pitchFamily="34" charset="0"/>
              </a:rPr>
              <a:t>result</a:t>
            </a:r>
            <a:r>
              <a:rPr lang="it-IT" dirty="0">
                <a:latin typeface="Gill Sans MT" panose="020B0502020104020203" pitchFamily="34" charset="0"/>
              </a:rPr>
              <a:t> so far, with a </a:t>
            </a:r>
            <a:r>
              <a:rPr lang="it-IT" dirty="0" err="1">
                <a:latin typeface="Gill Sans MT" panose="020B0502020104020203" pitchFamily="34" charset="0"/>
              </a:rPr>
              <a:t>threshold</a:t>
            </a:r>
            <a:r>
              <a:rPr lang="it-IT" dirty="0">
                <a:latin typeface="Gill Sans MT" panose="020B0502020104020203" pitchFamily="34" charset="0"/>
              </a:rPr>
              <a:t> of 0.7 for the </a:t>
            </a:r>
            <a:r>
              <a:rPr lang="it-IT" dirty="0" err="1">
                <a:latin typeface="Gill Sans MT" panose="020B0502020104020203" pitchFamily="34" charset="0"/>
              </a:rPr>
              <a:t>predictions</a:t>
            </a:r>
            <a:r>
              <a:rPr lang="it-IT" dirty="0">
                <a:latin typeface="Gill Sans MT" panose="020B0502020104020203" pitchFamily="34" charset="0"/>
              </a:rPr>
              <a:t>.</a:t>
            </a:r>
            <a:endParaRPr lang="en-US" dirty="0">
              <a:latin typeface="Gill Sans MT" panose="020B05020201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771190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316DBF-03E7-8574-983B-D4FBAC601F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83C1093-EE96-8CF7-52C5-263F155A25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725" y="86358"/>
            <a:ext cx="8374549" cy="384721"/>
          </a:xfrm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it-IT" b="1" dirty="0" err="1">
                <a:latin typeface="Gill Sans MT"/>
              </a:rPr>
              <a:t>Ternary</a:t>
            </a:r>
            <a:r>
              <a:rPr lang="it-IT" b="1" dirty="0">
                <a:latin typeface="Gill Sans MT"/>
              </a:rPr>
              <a:t> </a:t>
            </a:r>
            <a:r>
              <a:rPr lang="it-IT" b="1" dirty="0" err="1">
                <a:latin typeface="Gill Sans MT"/>
              </a:rPr>
              <a:t>Mention-Based</a:t>
            </a:r>
            <a:r>
              <a:rPr lang="it-IT" b="1" dirty="0">
                <a:latin typeface="Gill Sans MT"/>
              </a:rPr>
              <a:t> RE</a:t>
            </a:r>
            <a:endParaRPr lang="it-IT" dirty="0">
              <a:latin typeface="Gill Sans MT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3C57747-47F6-F670-8229-F99B957302DD}"/>
              </a:ext>
            </a:extLst>
          </p:cNvPr>
          <p:cNvSpPr txBox="1"/>
          <p:nvPr/>
        </p:nvSpPr>
        <p:spPr>
          <a:xfrm>
            <a:off x="7422076" y="4667641"/>
            <a:ext cx="14013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>
                <a:latin typeface="Gill Sans MT" panose="020B0502020104020203" pitchFamily="34" charset="0"/>
              </a:rPr>
              <a:t>Samuel Piron</a:t>
            </a:r>
            <a:endParaRPr lang="en-US" dirty="0">
              <a:latin typeface="Gill Sans MT" panose="020B0502020104020203" pitchFamily="34" charset="0"/>
            </a:endParaRP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8BD4064D-E9DF-2FE8-48D5-8F27D6AAC95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01006112"/>
              </p:ext>
            </p:extLst>
          </p:nvPr>
        </p:nvGraphicFramePr>
        <p:xfrm>
          <a:off x="1699256" y="702129"/>
          <a:ext cx="5745485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9097">
                  <a:extLst>
                    <a:ext uri="{9D8B030D-6E8A-4147-A177-3AD203B41FA5}">
                      <a16:colId xmlns:a16="http://schemas.microsoft.com/office/drawing/2014/main" val="1668161153"/>
                    </a:ext>
                  </a:extLst>
                </a:gridCol>
                <a:gridCol w="1149097">
                  <a:extLst>
                    <a:ext uri="{9D8B030D-6E8A-4147-A177-3AD203B41FA5}">
                      <a16:colId xmlns:a16="http://schemas.microsoft.com/office/drawing/2014/main" val="2613488493"/>
                    </a:ext>
                  </a:extLst>
                </a:gridCol>
                <a:gridCol w="1149097">
                  <a:extLst>
                    <a:ext uri="{9D8B030D-6E8A-4147-A177-3AD203B41FA5}">
                      <a16:colId xmlns:a16="http://schemas.microsoft.com/office/drawing/2014/main" val="2746191053"/>
                    </a:ext>
                  </a:extLst>
                </a:gridCol>
                <a:gridCol w="1149097">
                  <a:extLst>
                    <a:ext uri="{9D8B030D-6E8A-4147-A177-3AD203B41FA5}">
                      <a16:colId xmlns:a16="http://schemas.microsoft.com/office/drawing/2014/main" val="2372762899"/>
                    </a:ext>
                  </a:extLst>
                </a:gridCol>
                <a:gridCol w="1149097">
                  <a:extLst>
                    <a:ext uri="{9D8B030D-6E8A-4147-A177-3AD203B41FA5}">
                      <a16:colId xmlns:a16="http://schemas.microsoft.com/office/drawing/2014/main" val="2479999630"/>
                    </a:ext>
                  </a:extLst>
                </a:gridCol>
              </a:tblGrid>
              <a:tr h="638739">
                <a:tc>
                  <a:txBody>
                    <a:bodyPr/>
                    <a:lstStyle/>
                    <a:p>
                      <a:r>
                        <a:rPr lang="it-IT" dirty="0"/>
                        <a:t>          Test                </a:t>
                      </a:r>
                      <a:r>
                        <a:rPr lang="en-US" dirty="0"/>
                        <a:t>Train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Platinum</a:t>
                      </a:r>
                    </a:p>
                    <a:p>
                      <a:r>
                        <a:rPr lang="it-IT" dirty="0"/>
                        <a:t>Collection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Gold</a:t>
                      </a:r>
                    </a:p>
                    <a:p>
                      <a:r>
                        <a:rPr lang="it-IT" dirty="0"/>
                        <a:t>Collection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Silver</a:t>
                      </a:r>
                    </a:p>
                    <a:p>
                      <a:r>
                        <a:rPr lang="it-IT" dirty="0"/>
                        <a:t>Collection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 err="1"/>
                        <a:t>Bronze</a:t>
                      </a:r>
                      <a:endParaRPr lang="it-IT" dirty="0"/>
                    </a:p>
                    <a:p>
                      <a:r>
                        <a:rPr lang="it-IT" dirty="0"/>
                        <a:t>Collection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94949842"/>
                  </a:ext>
                </a:extLst>
              </a:tr>
              <a:tr h="638739">
                <a:tc>
                  <a:txBody>
                    <a:bodyPr/>
                    <a:lstStyle/>
                    <a:p>
                      <a:r>
                        <a:rPr lang="it-IT" dirty="0"/>
                        <a:t>Platinum</a:t>
                      </a:r>
                    </a:p>
                    <a:p>
                      <a:r>
                        <a:rPr lang="it-IT" dirty="0"/>
                        <a:t>+ Gold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P:0.8288</a:t>
                      </a:r>
                    </a:p>
                    <a:p>
                      <a:r>
                        <a:rPr lang="it-IT" dirty="0"/>
                        <a:t>R:1.2329</a:t>
                      </a:r>
                    </a:p>
                    <a:p>
                      <a:r>
                        <a:rPr lang="it-IT" dirty="0"/>
                        <a:t>F1:0.9912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P:0.7283</a:t>
                      </a:r>
                    </a:p>
                    <a:p>
                      <a:r>
                        <a:rPr lang="it-IT" dirty="0"/>
                        <a:t>R:1.0661</a:t>
                      </a:r>
                    </a:p>
                    <a:p>
                      <a:r>
                        <a:rPr lang="it-IT" dirty="0"/>
                        <a:t>F1:0.8654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P:0.5762</a:t>
                      </a:r>
                    </a:p>
                    <a:p>
                      <a:r>
                        <a:rPr lang="it-IT" dirty="0"/>
                        <a:t>R:0.5259</a:t>
                      </a:r>
                    </a:p>
                    <a:p>
                      <a:r>
                        <a:rPr lang="it-IT" dirty="0"/>
                        <a:t>F1:0.5499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P:0.6382</a:t>
                      </a:r>
                    </a:p>
                    <a:p>
                      <a:r>
                        <a:rPr lang="it-IT" dirty="0"/>
                        <a:t>R:0.9184</a:t>
                      </a:r>
                    </a:p>
                    <a:p>
                      <a:r>
                        <a:rPr lang="it-IT" dirty="0"/>
                        <a:t>F1:0.7531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3746583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698D8F18-ABB2-AA72-021A-3827C36355D6}"/>
              </a:ext>
            </a:extLst>
          </p:cNvPr>
          <p:cNvSpPr txBox="1"/>
          <p:nvPr/>
        </p:nvSpPr>
        <p:spPr>
          <a:xfrm>
            <a:off x="326571" y="2694214"/>
            <a:ext cx="67314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>
                <a:latin typeface="Gill Sans MT" panose="020B0502020104020203" pitchFamily="34" charset="0"/>
              </a:rPr>
              <a:t>The </a:t>
            </a:r>
            <a:r>
              <a:rPr lang="it-IT" b="1" dirty="0">
                <a:latin typeface="Gill Sans MT" panose="020B0502020104020203" pitchFamily="34" charset="0"/>
              </a:rPr>
              <a:t>Dev Dataset</a:t>
            </a:r>
            <a:r>
              <a:rPr lang="it-IT" dirty="0">
                <a:latin typeface="Gill Sans MT" panose="020B0502020104020203" pitchFamily="34" charset="0"/>
              </a:rPr>
              <a:t> in </a:t>
            </a:r>
            <a:r>
              <a:rPr lang="it-IT" dirty="0" err="1">
                <a:latin typeface="Gill Sans MT" panose="020B0502020104020203" pitchFamily="34" charset="0"/>
              </a:rPr>
              <a:t>this</a:t>
            </a:r>
            <a:r>
              <a:rPr lang="it-IT" dirty="0">
                <a:latin typeface="Gill Sans MT" panose="020B0502020104020203" pitchFamily="34" charset="0"/>
              </a:rPr>
              <a:t> </a:t>
            </a:r>
            <a:r>
              <a:rPr lang="it-IT" dirty="0" err="1">
                <a:latin typeface="Gill Sans MT" panose="020B0502020104020203" pitchFamily="34" charset="0"/>
              </a:rPr>
              <a:t>evaluation</a:t>
            </a:r>
            <a:r>
              <a:rPr lang="it-IT" dirty="0">
                <a:latin typeface="Gill Sans MT" panose="020B0502020104020203" pitchFamily="34" charset="0"/>
              </a:rPr>
              <a:t> </a:t>
            </a:r>
            <a:r>
              <a:rPr lang="it-IT" dirty="0" err="1">
                <a:latin typeface="Gill Sans MT" panose="020B0502020104020203" pitchFamily="34" charset="0"/>
              </a:rPr>
              <a:t>is</a:t>
            </a:r>
            <a:r>
              <a:rPr lang="it-IT" dirty="0">
                <a:latin typeface="Gill Sans MT" panose="020B0502020104020203" pitchFamily="34" charset="0"/>
              </a:rPr>
              <a:t> </a:t>
            </a:r>
            <a:r>
              <a:rPr lang="it-IT" dirty="0" err="1">
                <a:latin typeface="Gill Sans MT" panose="020B0502020104020203" pitchFamily="34" charset="0"/>
              </a:rPr>
              <a:t>considered</a:t>
            </a:r>
            <a:r>
              <a:rPr lang="it-IT" dirty="0">
                <a:latin typeface="Gill Sans MT" panose="020B0502020104020203" pitchFamily="34" charset="0"/>
              </a:rPr>
              <a:t> </a:t>
            </a:r>
            <a:r>
              <a:rPr lang="it-IT" dirty="0" err="1">
                <a:latin typeface="Gill Sans MT" panose="020B0502020104020203" pitchFamily="34" charset="0"/>
              </a:rPr>
              <a:t>as</a:t>
            </a:r>
            <a:r>
              <a:rPr lang="it-IT" dirty="0">
                <a:latin typeface="Gill Sans MT" panose="020B0502020104020203" pitchFamily="34" charset="0"/>
              </a:rPr>
              <a:t> the Test Dataset.</a:t>
            </a:r>
            <a:endParaRPr lang="en-US" dirty="0">
              <a:latin typeface="Gill Sans MT" panose="020B0502020104020203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AAF90E1-853E-0319-4409-70E25513E5E3}"/>
              </a:ext>
            </a:extLst>
          </p:cNvPr>
          <p:cNvSpPr txBox="1"/>
          <p:nvPr/>
        </p:nvSpPr>
        <p:spPr>
          <a:xfrm>
            <a:off x="384725" y="3214203"/>
            <a:ext cx="1753557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>
                <a:latin typeface="Gill Sans MT" panose="020B0502020104020203" pitchFamily="34" charset="0"/>
              </a:rPr>
              <a:t>Precision: 0.6573</a:t>
            </a:r>
          </a:p>
          <a:p>
            <a:r>
              <a:rPr lang="it-IT" dirty="0">
                <a:latin typeface="Gill Sans MT" panose="020B0502020104020203" pitchFamily="34" charset="0"/>
              </a:rPr>
              <a:t>Recall: 0.5821</a:t>
            </a:r>
          </a:p>
          <a:p>
            <a:r>
              <a:rPr lang="it-IT" dirty="0">
                <a:latin typeface="Gill Sans MT" panose="020B0502020104020203" pitchFamily="34" charset="0"/>
              </a:rPr>
              <a:t>F1: 0.6174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47BF4EE-7854-67BB-520D-2E65849DB372}"/>
              </a:ext>
            </a:extLst>
          </p:cNvPr>
          <p:cNvSpPr txBox="1"/>
          <p:nvPr/>
        </p:nvSpPr>
        <p:spPr>
          <a:xfrm>
            <a:off x="320578" y="4288190"/>
            <a:ext cx="69015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 err="1">
                <a:latin typeface="Gill Sans MT" panose="020B0502020104020203" pitchFamily="34" charset="0"/>
              </a:rPr>
              <a:t>This</a:t>
            </a:r>
            <a:r>
              <a:rPr lang="it-IT" dirty="0">
                <a:latin typeface="Gill Sans MT" panose="020B0502020104020203" pitchFamily="34" charset="0"/>
              </a:rPr>
              <a:t> </a:t>
            </a:r>
            <a:r>
              <a:rPr lang="it-IT" dirty="0" err="1">
                <a:latin typeface="Gill Sans MT" panose="020B0502020104020203" pitchFamily="34" charset="0"/>
              </a:rPr>
              <a:t>is</a:t>
            </a:r>
            <a:r>
              <a:rPr lang="it-IT" dirty="0">
                <a:latin typeface="Gill Sans MT" panose="020B0502020104020203" pitchFamily="34" charset="0"/>
              </a:rPr>
              <a:t> the best </a:t>
            </a:r>
            <a:r>
              <a:rPr lang="it-IT" dirty="0" err="1">
                <a:latin typeface="Gill Sans MT" panose="020B0502020104020203" pitchFamily="34" charset="0"/>
              </a:rPr>
              <a:t>result</a:t>
            </a:r>
            <a:r>
              <a:rPr lang="it-IT" dirty="0">
                <a:latin typeface="Gill Sans MT" panose="020B0502020104020203" pitchFamily="34" charset="0"/>
              </a:rPr>
              <a:t> so far, with a </a:t>
            </a:r>
            <a:r>
              <a:rPr lang="it-IT" dirty="0" err="1">
                <a:latin typeface="Gill Sans MT" panose="020B0502020104020203" pitchFamily="34" charset="0"/>
              </a:rPr>
              <a:t>threshold</a:t>
            </a:r>
            <a:r>
              <a:rPr lang="it-IT" dirty="0">
                <a:latin typeface="Gill Sans MT" panose="020B0502020104020203" pitchFamily="34" charset="0"/>
              </a:rPr>
              <a:t> of 0.7 for the </a:t>
            </a:r>
            <a:r>
              <a:rPr lang="it-IT" dirty="0" err="1">
                <a:latin typeface="Gill Sans MT" panose="020B0502020104020203" pitchFamily="34" charset="0"/>
              </a:rPr>
              <a:t>predictions</a:t>
            </a:r>
            <a:r>
              <a:rPr lang="it-IT" dirty="0">
                <a:latin typeface="Gill Sans MT" panose="020B0502020104020203" pitchFamily="34" charset="0"/>
              </a:rPr>
              <a:t>.</a:t>
            </a:r>
            <a:endParaRPr lang="en-US" dirty="0">
              <a:latin typeface="Gill Sans MT" panose="020B05020201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7533232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AE1C45F0-260A-458C-96ED-C1F6D21512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912447"/>
            <a:ext cx="548639" cy="505095"/>
            <a:chOff x="3940602" y="308034"/>
            <a:chExt cx="2116791" cy="3428999"/>
          </a:xfrm>
          <a:solidFill>
            <a:schemeClr val="accent4"/>
          </a:solidFill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A6604B49-AD5C-4590-B051-06C8222ECD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940602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743ECCAF-29C5-4537-947C-7EA1292463D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715626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ED49787B-8DE6-4467-AD0A-8DECC6E0C2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490650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6" name="Rectangle 15">
            <a:extLst>
              <a:ext uri="{FF2B5EF4-FFF2-40B4-BE49-F238E27FC236}">
                <a16:creationId xmlns:a16="http://schemas.microsoft.com/office/drawing/2014/main" id="{D5B0017B-2ECA-49AF-B397-DC140825DF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0059" y="460465"/>
            <a:ext cx="8180615" cy="142058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A1D4C52-9B60-3622-E82C-62530D1A522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82723" y="607423"/>
            <a:ext cx="7457037" cy="1165860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Bef>
                <a:spcPct val="0"/>
              </a:spcBef>
            </a:pPr>
            <a:r>
              <a:rPr lang="en-US" sz="3600" kern="1200" dirty="0">
                <a:latin typeface="Gill Sans MT"/>
                <a:ea typeface="Calibri"/>
                <a:cs typeface="Calibri"/>
              </a:rPr>
              <a:t>5. Conclusions and Future Work</a:t>
            </a:r>
            <a:endParaRPr lang="en-US" dirty="0">
              <a:latin typeface="Gill Sans MT"/>
              <a:ea typeface="+mj-ea"/>
              <a:cs typeface="+mj-cs"/>
            </a:endParaRP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6CF1BAF6-AD41-4082-B212-8A1F9A2E87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628650" y="4863984"/>
            <a:ext cx="7886700" cy="0"/>
          </a:xfrm>
          <a:prstGeom prst="line">
            <a:avLst/>
          </a:prstGeom>
          <a:ln w="571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6766418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" name="Rectangle 4">
            <a:extLst>
              <a:ext uri="{FF2B5EF4-FFF2-40B4-BE49-F238E27FC236}">
                <a16:creationId xmlns:a16="http://schemas.microsoft.com/office/drawing/2014/main" id="{081EA652-8C6A-4E69-BEB9-1708094745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51435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ight Triangle 5">
            <a:extLst>
              <a:ext uri="{FF2B5EF4-FFF2-40B4-BE49-F238E27FC236}">
                <a16:creationId xmlns:a16="http://schemas.microsoft.com/office/drawing/2014/main" id="{5298780A-33B9-4EA2-8F67-DE68AD6284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432540" y="2501900"/>
            <a:ext cx="2468880" cy="24003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F488E8B-4E1E-4402-8935-D4E6C02615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330" y="467456"/>
            <a:ext cx="8178790" cy="4205911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0A3B5CC0-0E61-F91B-4864-A2F8B9D305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63930" y="597446"/>
            <a:ext cx="7468052" cy="675985"/>
          </a:xfrm>
        </p:spPr>
        <p:txBody>
          <a:bodyPr lIns="0" tIns="0" rIns="0" bIns="0" anchor="ctr">
            <a:normAutofit/>
          </a:bodyPr>
          <a:lstStyle/>
          <a:p>
            <a:pPr>
              <a:lnSpc>
                <a:spcPct val="90000"/>
              </a:lnSpc>
            </a:pPr>
            <a:r>
              <a:rPr lang="it-IT" sz="3200" b="1" dirty="0" err="1">
                <a:latin typeface="Gill Sans MT"/>
              </a:rPr>
              <a:t>Conclusions</a:t>
            </a:r>
            <a:r>
              <a:rPr lang="it-IT" sz="3200" b="1" dirty="0">
                <a:latin typeface="Gill Sans MT"/>
              </a:rPr>
              <a:t> &amp; Future Work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23F1E892-6584-2C90-8202-7D06DC34A22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63930" y="1273431"/>
            <a:ext cx="6056111" cy="3181807"/>
          </a:xfrm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it-IT" sz="1400" b="1" dirty="0" err="1">
                <a:latin typeface="Gill Sans MT"/>
                <a:ea typeface="Calibri"/>
                <a:cs typeface="Calibri"/>
              </a:rPr>
              <a:t>Conclusions</a:t>
            </a:r>
            <a:endParaRPr lang="it-IT" sz="1400" b="1" dirty="0">
              <a:latin typeface="Gill Sans MT"/>
              <a:ea typeface="Calibri"/>
              <a:cs typeface="Calibri"/>
            </a:endParaRPr>
          </a:p>
          <a:p>
            <a:pPr marL="285750" indent="-285750">
              <a:lnSpc>
                <a:spcPct val="90000"/>
              </a:lnSpc>
              <a:spcAft>
                <a:spcPts val="600"/>
              </a:spcAft>
              <a:buFont typeface="Arial"/>
              <a:buChar char="•"/>
            </a:pPr>
            <a:endParaRPr lang="it-IT" sz="1400" dirty="0">
              <a:latin typeface="Gill Sans MT"/>
              <a:ea typeface="Calibri"/>
              <a:cs typeface="Calibri"/>
            </a:endParaRPr>
          </a:p>
          <a:p>
            <a:pPr marL="285750" indent="-285750">
              <a:lnSpc>
                <a:spcPct val="90000"/>
              </a:lnSpc>
              <a:spcAft>
                <a:spcPts val="600"/>
              </a:spcAft>
              <a:buFont typeface="Arial"/>
              <a:buChar char="•"/>
            </a:pPr>
            <a:r>
              <a:rPr lang="it-IT" sz="1400" dirty="0">
                <a:latin typeface="Gill Sans MT"/>
                <a:ea typeface="Calibri"/>
                <a:cs typeface="Calibri"/>
              </a:rPr>
              <a:t>The training strategies of the NER and RE models </a:t>
            </a:r>
            <a:r>
              <a:rPr lang="it-IT" sz="1400" dirty="0" err="1">
                <a:latin typeface="Gill Sans MT"/>
                <a:ea typeface="Calibri"/>
                <a:cs typeface="Calibri"/>
              </a:rPr>
              <a:t>helped</a:t>
            </a:r>
            <a:r>
              <a:rPr lang="it-IT" sz="1400" dirty="0">
                <a:latin typeface="Gill Sans MT"/>
                <a:ea typeface="Calibri"/>
                <a:cs typeface="Calibri"/>
              </a:rPr>
              <a:t> </a:t>
            </a:r>
            <a:r>
              <a:rPr lang="it-IT" sz="1400" dirty="0" err="1">
                <a:latin typeface="Gill Sans MT"/>
                <a:ea typeface="Calibri"/>
                <a:cs typeface="Calibri"/>
              </a:rPr>
              <a:t>perform</a:t>
            </a:r>
            <a:r>
              <a:rPr lang="it-IT" sz="1400" dirty="0">
                <a:latin typeface="Gill Sans MT"/>
                <a:ea typeface="Calibri"/>
                <a:cs typeface="Calibri"/>
              </a:rPr>
              <a:t> </a:t>
            </a:r>
            <a:r>
              <a:rPr lang="it-IT" sz="1400" dirty="0" err="1">
                <a:latin typeface="Gill Sans MT"/>
                <a:ea typeface="Calibri"/>
                <a:cs typeface="Calibri"/>
              </a:rPr>
              <a:t>complex</a:t>
            </a:r>
            <a:r>
              <a:rPr lang="it-IT" sz="1400" dirty="0">
                <a:latin typeface="Gill Sans MT"/>
                <a:ea typeface="Calibri"/>
                <a:cs typeface="Calibri"/>
              </a:rPr>
              <a:t> information </a:t>
            </a:r>
            <a:r>
              <a:rPr lang="it-IT" sz="1400" dirty="0" err="1">
                <a:latin typeface="Gill Sans MT"/>
                <a:ea typeface="Calibri"/>
                <a:cs typeface="Calibri"/>
              </a:rPr>
              <a:t>extraction</a:t>
            </a:r>
            <a:r>
              <a:rPr lang="it-IT" sz="1400" dirty="0">
                <a:latin typeface="Gill Sans MT"/>
                <a:ea typeface="Calibri"/>
                <a:cs typeface="Calibri"/>
              </a:rPr>
              <a:t> on </a:t>
            </a:r>
            <a:r>
              <a:rPr lang="it-IT" sz="1400" dirty="0" err="1">
                <a:latin typeface="Gill Sans MT"/>
                <a:ea typeface="Calibri"/>
                <a:cs typeface="Calibri"/>
              </a:rPr>
              <a:t>biomedical</a:t>
            </a:r>
            <a:r>
              <a:rPr lang="it-IT" sz="1400" dirty="0">
                <a:latin typeface="Gill Sans MT"/>
                <a:ea typeface="Calibri"/>
                <a:cs typeface="Calibri"/>
              </a:rPr>
              <a:t> data.</a:t>
            </a:r>
            <a:endParaRPr lang="it-IT" sz="1400" dirty="0">
              <a:ea typeface="Calibri"/>
              <a:cs typeface="Calibri"/>
            </a:endParaRPr>
          </a:p>
          <a:p>
            <a:pPr marL="285750" indent="-285750">
              <a:lnSpc>
                <a:spcPct val="90000"/>
              </a:lnSpc>
              <a:spcAft>
                <a:spcPts val="600"/>
              </a:spcAft>
              <a:buFont typeface="Arial"/>
              <a:buChar char="•"/>
            </a:pPr>
            <a:r>
              <a:rPr lang="it-IT" sz="1400" dirty="0">
                <a:latin typeface="Gill Sans MT"/>
                <a:ea typeface="Calibri"/>
                <a:cs typeface="Calibri"/>
              </a:rPr>
              <a:t>The </a:t>
            </a:r>
            <a:r>
              <a:rPr lang="it-IT" sz="1400" dirty="0" err="1">
                <a:latin typeface="Gill Sans MT"/>
                <a:ea typeface="Calibri"/>
                <a:cs typeface="Calibri"/>
              </a:rPr>
              <a:t>process</a:t>
            </a:r>
            <a:r>
              <a:rPr lang="it-IT" sz="1400" dirty="0">
                <a:latin typeface="Gill Sans MT"/>
                <a:ea typeface="Calibri"/>
                <a:cs typeface="Calibri"/>
              </a:rPr>
              <a:t> of Data </a:t>
            </a:r>
            <a:r>
              <a:rPr lang="it-IT" sz="1400" dirty="0" err="1">
                <a:latin typeface="Gill Sans MT"/>
                <a:ea typeface="Calibri"/>
                <a:cs typeface="Calibri"/>
              </a:rPr>
              <a:t>Augmentation</a:t>
            </a:r>
            <a:r>
              <a:rPr lang="it-IT" sz="1400" dirty="0">
                <a:latin typeface="Gill Sans MT"/>
                <a:ea typeface="Calibri"/>
                <a:cs typeface="Calibri"/>
              </a:rPr>
              <a:t> </a:t>
            </a:r>
            <a:r>
              <a:rPr lang="it-IT" sz="1400" dirty="0" err="1">
                <a:latin typeface="Gill Sans MT"/>
                <a:ea typeface="Calibri"/>
                <a:cs typeface="Calibri"/>
              </a:rPr>
              <a:t>did</a:t>
            </a:r>
            <a:r>
              <a:rPr lang="it-IT" sz="1400" dirty="0">
                <a:latin typeface="Gill Sans MT"/>
                <a:ea typeface="Calibri"/>
                <a:cs typeface="Calibri"/>
              </a:rPr>
              <a:t> </a:t>
            </a:r>
            <a:r>
              <a:rPr lang="it-IT" sz="1400" dirty="0" err="1">
                <a:latin typeface="Gill Sans MT"/>
                <a:ea typeface="Calibri"/>
                <a:cs typeface="Calibri"/>
              </a:rPr>
              <a:t>not</a:t>
            </a:r>
            <a:r>
              <a:rPr lang="it-IT" sz="1400" dirty="0">
                <a:latin typeface="Gill Sans MT"/>
                <a:ea typeface="Calibri"/>
                <a:cs typeface="Calibri"/>
              </a:rPr>
              <a:t> help to </a:t>
            </a:r>
            <a:r>
              <a:rPr lang="it-IT" sz="1400" dirty="0" err="1">
                <a:latin typeface="Gill Sans MT"/>
                <a:ea typeface="Calibri"/>
                <a:cs typeface="Calibri"/>
              </a:rPr>
              <a:t>improve</a:t>
            </a:r>
            <a:r>
              <a:rPr lang="it-IT" sz="1400" dirty="0">
                <a:latin typeface="Gill Sans MT"/>
                <a:ea typeface="Calibri"/>
                <a:cs typeface="Calibri"/>
              </a:rPr>
              <a:t> the scores of the NER model </a:t>
            </a:r>
            <a:r>
              <a:rPr lang="it-IT" sz="1400" dirty="0" err="1">
                <a:latin typeface="Gill Sans MT"/>
                <a:ea typeface="Calibri"/>
                <a:cs typeface="Calibri"/>
              </a:rPr>
              <a:t>caused</a:t>
            </a:r>
            <a:r>
              <a:rPr lang="it-IT" sz="1400" dirty="0">
                <a:latin typeface="Gill Sans MT"/>
                <a:ea typeface="Calibri"/>
                <a:cs typeface="Calibri"/>
              </a:rPr>
              <a:t> by the </a:t>
            </a:r>
            <a:r>
              <a:rPr lang="it-IT" sz="1400" dirty="0" err="1">
                <a:latin typeface="Gill Sans MT"/>
                <a:ea typeface="Calibri"/>
                <a:cs typeface="Calibri"/>
              </a:rPr>
              <a:t>GLiNER</a:t>
            </a:r>
            <a:r>
              <a:rPr lang="it-IT" sz="1400" dirty="0">
                <a:latin typeface="Gill Sans MT"/>
                <a:ea typeface="Calibri"/>
                <a:cs typeface="Calibri"/>
              </a:rPr>
              <a:t> </a:t>
            </a:r>
            <a:r>
              <a:rPr lang="it-IT" sz="1400" dirty="0" err="1">
                <a:latin typeface="Gill Sans MT"/>
                <a:ea typeface="Calibri"/>
                <a:cs typeface="Calibri"/>
              </a:rPr>
              <a:t>embeddings</a:t>
            </a:r>
            <a:r>
              <a:rPr lang="it-IT" sz="1400" dirty="0">
                <a:latin typeface="Gill Sans MT"/>
                <a:ea typeface="Calibri"/>
                <a:cs typeface="Calibri"/>
              </a:rPr>
              <a:t>.</a:t>
            </a:r>
          </a:p>
          <a:p>
            <a:pPr marL="285750" indent="-285750">
              <a:lnSpc>
                <a:spcPct val="90000"/>
              </a:lnSpc>
              <a:spcAft>
                <a:spcPts val="600"/>
              </a:spcAft>
              <a:buFont typeface="Arial"/>
              <a:buChar char="•"/>
            </a:pPr>
            <a:r>
              <a:rPr lang="it-IT" sz="1400" dirty="0">
                <a:latin typeface="Gill Sans MT"/>
                <a:ea typeface="+mn-lt"/>
                <a:cs typeface="+mn-lt"/>
              </a:rPr>
              <a:t>The </a:t>
            </a:r>
            <a:r>
              <a:rPr lang="it-IT" sz="1400" dirty="0" err="1">
                <a:latin typeface="Gill Sans MT"/>
                <a:ea typeface="+mn-lt"/>
                <a:cs typeface="+mn-lt"/>
              </a:rPr>
              <a:t>results</a:t>
            </a:r>
            <a:r>
              <a:rPr lang="it-IT" sz="1400" dirty="0">
                <a:latin typeface="Gill Sans MT"/>
                <a:ea typeface="+mn-lt"/>
                <a:cs typeface="+mn-lt"/>
              </a:rPr>
              <a:t> </a:t>
            </a:r>
            <a:r>
              <a:rPr lang="it-IT" sz="1400" dirty="0" err="1">
                <a:latin typeface="Gill Sans MT"/>
                <a:ea typeface="+mn-lt"/>
                <a:cs typeface="+mn-lt"/>
              </a:rPr>
              <a:t>compared</a:t>
            </a:r>
            <a:r>
              <a:rPr lang="it-IT" sz="1400" dirty="0">
                <a:latin typeface="Gill Sans MT"/>
                <a:ea typeface="+mn-lt"/>
                <a:cs typeface="+mn-lt"/>
              </a:rPr>
              <a:t> to the Baseline </a:t>
            </a:r>
            <a:r>
              <a:rPr lang="it-IT" sz="1400" dirty="0" err="1">
                <a:latin typeface="Gill Sans MT"/>
                <a:ea typeface="+mn-lt"/>
                <a:cs typeface="+mn-lt"/>
              </a:rPr>
              <a:t>provided</a:t>
            </a:r>
            <a:r>
              <a:rPr lang="it-IT" sz="1400" dirty="0">
                <a:latin typeface="Gill Sans MT"/>
                <a:ea typeface="+mn-lt"/>
                <a:cs typeface="+mn-lt"/>
              </a:rPr>
              <a:t> in the official site show an </a:t>
            </a:r>
            <a:r>
              <a:rPr lang="it-IT" sz="1400" dirty="0" err="1">
                <a:latin typeface="Gill Sans MT"/>
                <a:ea typeface="+mn-lt"/>
                <a:cs typeface="+mn-lt"/>
              </a:rPr>
              <a:t>improvement</a:t>
            </a:r>
            <a:r>
              <a:rPr lang="it-IT" sz="1400" dirty="0">
                <a:latin typeface="Gill Sans MT"/>
                <a:ea typeface="+mn-lt"/>
                <a:cs typeface="+mn-lt"/>
              </a:rPr>
              <a:t> for the relation </a:t>
            </a:r>
            <a:r>
              <a:rPr lang="it-IT" sz="1400" dirty="0" err="1">
                <a:latin typeface="Gill Sans MT"/>
                <a:ea typeface="+mn-lt"/>
                <a:cs typeface="+mn-lt"/>
              </a:rPr>
              <a:t>extraction</a:t>
            </a:r>
            <a:r>
              <a:rPr lang="it-IT" sz="1400" dirty="0">
                <a:latin typeface="Gill Sans MT"/>
                <a:ea typeface="+mn-lt"/>
                <a:cs typeface="+mn-lt"/>
              </a:rPr>
              <a:t> </a:t>
            </a:r>
            <a:r>
              <a:rPr lang="it-IT" sz="1400" dirty="0" err="1">
                <a:latin typeface="Gill Sans MT"/>
                <a:ea typeface="+mn-lt"/>
                <a:cs typeface="+mn-lt"/>
              </a:rPr>
              <a:t>subtask</a:t>
            </a:r>
            <a:r>
              <a:rPr lang="it-IT" sz="1400" dirty="0">
                <a:latin typeface="Gill Sans MT"/>
                <a:ea typeface="+mn-lt"/>
                <a:cs typeface="+mn-lt"/>
              </a:rPr>
              <a:t>.</a:t>
            </a:r>
          </a:p>
          <a:p>
            <a:pPr marL="285750" indent="-285750">
              <a:lnSpc>
                <a:spcPct val="90000"/>
              </a:lnSpc>
              <a:spcAft>
                <a:spcPts val="600"/>
              </a:spcAft>
              <a:buFont typeface="Arial"/>
              <a:buChar char="•"/>
            </a:pPr>
            <a:endParaRPr lang="it-IT" sz="1400" dirty="0">
              <a:latin typeface="Gill Sans MT"/>
              <a:ea typeface="Calibri"/>
              <a:cs typeface="Calibri"/>
            </a:endParaRPr>
          </a:p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it-IT" sz="1400" b="1" dirty="0">
                <a:latin typeface="Gill Sans MT"/>
                <a:ea typeface="Calibri"/>
                <a:cs typeface="Calibri"/>
              </a:rPr>
              <a:t>Future Work</a:t>
            </a:r>
            <a:endParaRPr lang="it-IT" sz="1400" dirty="0">
              <a:latin typeface="Gill Sans MT"/>
              <a:ea typeface="Calibri"/>
              <a:cs typeface="Calibri"/>
            </a:endParaRPr>
          </a:p>
          <a:p>
            <a:pPr marL="285750" indent="-285750">
              <a:lnSpc>
                <a:spcPct val="90000"/>
              </a:lnSpc>
              <a:spcAft>
                <a:spcPts val="600"/>
              </a:spcAft>
              <a:buFont typeface="Arial"/>
              <a:buChar char="•"/>
            </a:pPr>
            <a:r>
              <a:rPr lang="it-IT" sz="1400" dirty="0" err="1">
                <a:latin typeface="Gill Sans MT"/>
                <a:ea typeface="Calibri"/>
                <a:cs typeface="Calibri"/>
              </a:rPr>
              <a:t>Try</a:t>
            </a:r>
            <a:r>
              <a:rPr lang="it-IT" sz="1400" dirty="0">
                <a:latin typeface="Gill Sans MT"/>
                <a:ea typeface="Calibri"/>
                <a:cs typeface="Calibri"/>
              </a:rPr>
              <a:t>, for </a:t>
            </a:r>
            <a:r>
              <a:rPr lang="it-IT" sz="1400" dirty="0" err="1">
                <a:latin typeface="Gill Sans MT"/>
                <a:ea typeface="Calibri"/>
                <a:cs typeface="Calibri"/>
              </a:rPr>
              <a:t>example</a:t>
            </a:r>
            <a:r>
              <a:rPr lang="it-IT" sz="1400" dirty="0">
                <a:latin typeface="Gill Sans MT"/>
                <a:ea typeface="Calibri"/>
                <a:cs typeface="Calibri"/>
              </a:rPr>
              <a:t>, the </a:t>
            </a:r>
            <a:r>
              <a:rPr lang="it-IT" sz="1400" dirty="0" err="1">
                <a:latin typeface="Gill Sans MT"/>
                <a:ea typeface="Calibri"/>
                <a:cs typeface="Calibri"/>
              </a:rPr>
              <a:t>SCIBert</a:t>
            </a:r>
            <a:r>
              <a:rPr lang="it-IT" sz="1400" dirty="0">
                <a:latin typeface="Gill Sans MT"/>
                <a:ea typeface="Calibri"/>
                <a:cs typeface="Calibri"/>
              </a:rPr>
              <a:t> v2.1-Large for the RE </a:t>
            </a:r>
            <a:r>
              <a:rPr lang="it-IT" sz="1400" dirty="0" err="1">
                <a:latin typeface="Gill Sans MT"/>
                <a:ea typeface="Calibri"/>
                <a:cs typeface="Calibri"/>
              </a:rPr>
              <a:t>Subtask</a:t>
            </a:r>
            <a:r>
              <a:rPr lang="it-IT" sz="1400" dirty="0">
                <a:latin typeface="Gill Sans MT"/>
                <a:ea typeface="Calibri"/>
                <a:cs typeface="Calibri"/>
              </a:rPr>
              <a:t> and compare the </a:t>
            </a:r>
            <a:r>
              <a:rPr lang="it-IT" sz="1400" dirty="0" err="1">
                <a:latin typeface="Gill Sans MT"/>
                <a:ea typeface="Calibri"/>
                <a:cs typeface="Calibri"/>
              </a:rPr>
              <a:t>results</a:t>
            </a:r>
            <a:r>
              <a:rPr lang="it-IT" sz="1400" dirty="0">
                <a:latin typeface="Gill Sans MT"/>
                <a:ea typeface="Calibri"/>
                <a:cs typeface="Calibri"/>
              </a:rPr>
              <a:t> with the </a:t>
            </a:r>
            <a:r>
              <a:rPr lang="it-IT" sz="1400" dirty="0" err="1">
                <a:latin typeface="Gill Sans MT"/>
                <a:ea typeface="Calibri"/>
                <a:cs typeface="Calibri"/>
              </a:rPr>
              <a:t>PubMedBERT</a:t>
            </a:r>
            <a:r>
              <a:rPr lang="it-IT" sz="1400" dirty="0">
                <a:latin typeface="Gill Sans MT"/>
                <a:ea typeface="Calibri"/>
                <a:cs typeface="Calibri"/>
              </a:rPr>
              <a:t> model.</a:t>
            </a:r>
          </a:p>
          <a:p>
            <a:pPr marL="285750" indent="-285750">
              <a:lnSpc>
                <a:spcPct val="90000"/>
              </a:lnSpc>
              <a:spcAft>
                <a:spcPts val="600"/>
              </a:spcAft>
              <a:buFont typeface="Arial"/>
              <a:buChar char="•"/>
            </a:pPr>
            <a:r>
              <a:rPr lang="it-IT" sz="1400" dirty="0">
                <a:latin typeface="Gill Sans MT"/>
                <a:ea typeface="Calibri"/>
                <a:cs typeface="Calibri"/>
              </a:rPr>
              <a:t>Test the </a:t>
            </a:r>
            <a:r>
              <a:rPr lang="it-IT" sz="1400" dirty="0" err="1">
                <a:latin typeface="Gill Sans MT"/>
                <a:ea typeface="Calibri"/>
                <a:cs typeface="Calibri"/>
              </a:rPr>
              <a:t>trained</a:t>
            </a:r>
            <a:r>
              <a:rPr lang="it-IT" sz="1400" dirty="0">
                <a:latin typeface="Gill Sans MT"/>
                <a:ea typeface="Calibri"/>
                <a:cs typeface="Calibri"/>
              </a:rPr>
              <a:t> model on the test data </a:t>
            </a:r>
            <a:r>
              <a:rPr lang="it-IT" sz="1400" dirty="0" err="1">
                <a:latin typeface="Gill Sans MT"/>
                <a:ea typeface="Calibri"/>
                <a:cs typeface="Calibri"/>
              </a:rPr>
              <a:t>upon</a:t>
            </a:r>
            <a:r>
              <a:rPr lang="it-IT" sz="1400" dirty="0">
                <a:latin typeface="Gill Sans MT"/>
                <a:ea typeface="Calibri"/>
                <a:cs typeface="Calibri"/>
              </a:rPr>
              <a:t> release.</a:t>
            </a:r>
            <a:endParaRPr lang="it-IT" sz="1400" dirty="0">
              <a:ea typeface="Calibri"/>
              <a:cs typeface="Calibri"/>
            </a:endParaRPr>
          </a:p>
          <a:p>
            <a:pPr marL="285750" indent="-285750">
              <a:lnSpc>
                <a:spcPct val="90000"/>
              </a:lnSpc>
              <a:spcAft>
                <a:spcPts val="600"/>
              </a:spcAft>
              <a:buFont typeface="Arial"/>
              <a:buChar char="•"/>
            </a:pPr>
            <a:endParaRPr lang="it-IT" sz="700" dirty="0">
              <a:latin typeface="Gill Sans MT"/>
              <a:ea typeface="Calibri"/>
              <a:cs typeface="Calibri"/>
            </a:endParaRPr>
          </a:p>
          <a:p>
            <a:pPr marL="285750" indent="-285750">
              <a:lnSpc>
                <a:spcPct val="90000"/>
              </a:lnSpc>
              <a:spcAft>
                <a:spcPts val="600"/>
              </a:spcAft>
              <a:buFont typeface="Arial"/>
              <a:buChar char="•"/>
            </a:pPr>
            <a:endParaRPr lang="it-IT" sz="700" dirty="0">
              <a:latin typeface="Gill Sans MT"/>
              <a:ea typeface="Calibri"/>
              <a:cs typeface="Calibri"/>
            </a:endParaRPr>
          </a:p>
          <a:p>
            <a:pPr>
              <a:lnSpc>
                <a:spcPct val="90000"/>
              </a:lnSpc>
              <a:spcAft>
                <a:spcPts val="600"/>
              </a:spcAft>
            </a:pPr>
            <a:endParaRPr lang="it-IT" sz="700" dirty="0">
              <a:ea typeface="Calibri"/>
              <a:cs typeface="Calibri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A138A11-39C2-5728-B3F9-88E34724678C}"/>
              </a:ext>
            </a:extLst>
          </p:cNvPr>
          <p:cNvSpPr txBox="1"/>
          <p:nvPr/>
        </p:nvSpPr>
        <p:spPr>
          <a:xfrm>
            <a:off x="7422076" y="4667641"/>
            <a:ext cx="14013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>
                <a:latin typeface="Gill Sans MT" panose="020B0502020104020203" pitchFamily="34" charset="0"/>
              </a:rPr>
              <a:t>Samuel Piron</a:t>
            </a:r>
            <a:endParaRPr lang="en-US" dirty="0">
              <a:latin typeface="Gill Sans MT" panose="020B05020201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9672592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C4DB9C-E320-0E2C-7A30-C3024294C2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BDC2747-5C50-2C3A-B684-0FB7E24401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725" y="263329"/>
            <a:ext cx="8374549" cy="384721"/>
          </a:xfrm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it-IT" b="1" dirty="0">
                <a:latin typeface="Gill Sans MT"/>
              </a:rPr>
              <a:t>Code, </a:t>
            </a:r>
            <a:r>
              <a:rPr lang="it-IT" b="1" dirty="0" err="1">
                <a:latin typeface="Gill Sans MT"/>
              </a:rPr>
              <a:t>Runs</a:t>
            </a:r>
            <a:r>
              <a:rPr lang="it-IT" b="1" dirty="0">
                <a:latin typeface="Gill Sans MT"/>
              </a:rPr>
              <a:t> &amp; Devices </a:t>
            </a:r>
            <a:r>
              <a:rPr lang="it-IT" b="1" dirty="0" err="1">
                <a:latin typeface="Gill Sans MT"/>
              </a:rPr>
              <a:t>used</a:t>
            </a:r>
            <a:r>
              <a:rPr lang="it-IT" b="1" dirty="0">
                <a:latin typeface="Gill Sans MT"/>
              </a:rPr>
              <a:t> for Training</a:t>
            </a:r>
            <a:endParaRPr lang="it-IT" dirty="0">
              <a:latin typeface="Gill Sans MT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026C830-E463-8911-647F-2A41D431E784}"/>
              </a:ext>
            </a:extLst>
          </p:cNvPr>
          <p:cNvSpPr txBox="1"/>
          <p:nvPr/>
        </p:nvSpPr>
        <p:spPr>
          <a:xfrm>
            <a:off x="7422076" y="4667641"/>
            <a:ext cx="14013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>
                <a:latin typeface="Gill Sans MT" panose="020B0502020104020203" pitchFamily="34" charset="0"/>
              </a:rPr>
              <a:t>Samuel Piron</a:t>
            </a:r>
            <a:endParaRPr lang="en-US" dirty="0">
              <a:latin typeface="Gill Sans MT" panose="020B05020201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D17B0AF-E7A5-0C94-E31E-6FE6F2D46936}"/>
              </a:ext>
            </a:extLst>
          </p:cNvPr>
          <p:cNvSpPr txBox="1"/>
          <p:nvPr/>
        </p:nvSpPr>
        <p:spPr>
          <a:xfrm>
            <a:off x="288758" y="1106905"/>
            <a:ext cx="6546985" cy="32624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2000" dirty="0">
                <a:latin typeface="Gill Sans MT" panose="020B0502020104020203" pitchFamily="34" charset="0"/>
              </a:rPr>
              <a:t>The code with the </a:t>
            </a:r>
            <a:r>
              <a:rPr lang="it-IT" sz="2000" dirty="0" err="1">
                <a:latin typeface="Gill Sans MT" panose="020B0502020104020203" pitchFamily="34" charset="0"/>
              </a:rPr>
              <a:t>implementation</a:t>
            </a:r>
            <a:r>
              <a:rPr lang="it-IT" sz="2000" dirty="0">
                <a:latin typeface="Gill Sans MT" panose="020B0502020104020203" pitchFamily="34" charset="0"/>
              </a:rPr>
              <a:t> can be </a:t>
            </a:r>
            <a:r>
              <a:rPr lang="it-IT" sz="2000" dirty="0" err="1">
                <a:latin typeface="Gill Sans MT" panose="020B0502020104020203" pitchFamily="34" charset="0"/>
              </a:rPr>
              <a:t>found</a:t>
            </a:r>
            <a:r>
              <a:rPr lang="it-IT" sz="2000" dirty="0">
                <a:latin typeface="Gill Sans MT" panose="020B0502020104020203" pitchFamily="34" charset="0"/>
              </a:rPr>
              <a:t> </a:t>
            </a:r>
            <a:r>
              <a:rPr lang="it-IT" sz="2000" dirty="0" err="1">
                <a:latin typeface="Gill Sans MT" panose="020B0502020104020203" pitchFamily="34" charset="0"/>
              </a:rPr>
              <a:t>here</a:t>
            </a:r>
            <a:r>
              <a:rPr lang="it-IT" sz="2000" dirty="0">
                <a:latin typeface="Gill Sans MT" panose="020B0502020104020203" pitchFamily="34" charset="0"/>
              </a:rPr>
              <a:t>:</a:t>
            </a:r>
          </a:p>
          <a:p>
            <a:endParaRPr lang="it-IT" sz="2000" dirty="0">
              <a:latin typeface="Gill Sans MT" panose="020B0502020104020203" pitchFamily="34" charset="0"/>
            </a:endParaRPr>
          </a:p>
          <a:p>
            <a:r>
              <a:rPr lang="it-IT" sz="2000" dirty="0">
                <a:latin typeface="Gill Sans MT" panose="020B0502020104020203" pitchFamily="34" charset="0"/>
                <a:hlinkClick r:id="rId2"/>
              </a:rPr>
              <a:t>https://github.com/Vezzero/ataupd2425-gainer</a:t>
            </a:r>
            <a:endParaRPr lang="it-IT" sz="2000" dirty="0">
              <a:latin typeface="Gill Sans MT" panose="020B0502020104020203" pitchFamily="34" charset="0"/>
            </a:endParaRPr>
          </a:p>
          <a:p>
            <a:endParaRPr lang="it-IT" sz="2000" dirty="0">
              <a:latin typeface="Gill Sans MT" panose="020B0502020104020203" pitchFamily="34" charset="0"/>
            </a:endParaRPr>
          </a:p>
          <a:p>
            <a:r>
              <a:rPr lang="it-IT" dirty="0">
                <a:latin typeface="Gill Sans MT" panose="020B0502020104020203" pitchFamily="34" charset="0"/>
              </a:rPr>
              <a:t>The training setups are:</a:t>
            </a:r>
          </a:p>
          <a:p>
            <a:endParaRPr lang="it-IT" dirty="0">
              <a:latin typeface="Gill Sans MT" panose="020B0502020104020203" pitchFamily="34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it-IT" dirty="0">
                <a:latin typeface="Gill Sans MT" panose="020B0502020104020203" pitchFamily="34" charset="0"/>
              </a:rPr>
              <a:t>Tesla T4 GPU Google </a:t>
            </a:r>
            <a:r>
              <a:rPr lang="it-IT" dirty="0" err="1">
                <a:latin typeface="Gill Sans MT" panose="020B0502020104020203" pitchFamily="34" charset="0"/>
              </a:rPr>
              <a:t>Colab</a:t>
            </a:r>
            <a:r>
              <a:rPr lang="it-IT" dirty="0">
                <a:latin typeface="Gill Sans MT" panose="020B0502020104020203" pitchFamily="34" charset="0"/>
              </a:rPr>
              <a:t> (</a:t>
            </a:r>
            <a:r>
              <a:rPr lang="it-IT" dirty="0">
                <a:latin typeface="Gill Sans MT" panose="020B0502020104020203" pitchFamily="34" charset="0"/>
                <a:hlinkClick r:id="rId3"/>
              </a:rPr>
              <a:t>https://colab.research.google.com/</a:t>
            </a:r>
            <a:r>
              <a:rPr lang="it-IT" dirty="0">
                <a:latin typeface="Gill Sans MT" panose="020B0502020104020203" pitchFamily="34" charset="0"/>
              </a:rPr>
              <a:t>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it-IT" dirty="0">
              <a:latin typeface="Gill Sans MT" panose="020B0502020104020203" pitchFamily="34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it-IT" dirty="0">
                <a:latin typeface="Gill Sans MT" panose="020B0502020104020203" pitchFamily="34" charset="0"/>
              </a:rPr>
              <a:t>NVIDIA T4 x 2 GPU </a:t>
            </a:r>
            <a:r>
              <a:rPr lang="it-IT" dirty="0" err="1">
                <a:latin typeface="Gill Sans MT" panose="020B0502020104020203" pitchFamily="34" charset="0"/>
              </a:rPr>
              <a:t>Kaggle</a:t>
            </a:r>
            <a:r>
              <a:rPr lang="it-IT" dirty="0">
                <a:latin typeface="Gill Sans MT" panose="020B0502020104020203" pitchFamily="34" charset="0"/>
              </a:rPr>
              <a:t> (</a:t>
            </a:r>
            <a:r>
              <a:rPr lang="it-IT" dirty="0">
                <a:latin typeface="Gill Sans MT" panose="020B0502020104020203" pitchFamily="34" charset="0"/>
                <a:hlinkClick r:id="rId4"/>
              </a:rPr>
              <a:t>https://www.kaggle.com/</a:t>
            </a:r>
            <a:r>
              <a:rPr lang="it-IT" dirty="0">
                <a:latin typeface="Gill Sans MT" panose="020B0502020104020203" pitchFamily="34" charset="0"/>
              </a:rPr>
              <a:t>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it-IT" dirty="0">
              <a:latin typeface="Gill Sans MT" panose="020B0502020104020203" pitchFamily="34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latin typeface="Gill Sans MT" panose="020B0502020104020203" pitchFamily="34" charset="0"/>
              </a:rPr>
              <a:t>8x NVIDIA A40 GPU DEI Machines (</a:t>
            </a:r>
            <a:r>
              <a:rPr lang="en-US" dirty="0">
                <a:latin typeface="Gill Sans MT" panose="020B0502020104020203" pitchFamily="34" charset="0"/>
                <a:hlinkClick r:id="rId5"/>
              </a:rPr>
              <a:t>https://docs.dei.unipd.it/</a:t>
            </a:r>
            <a:r>
              <a:rPr lang="en-US" dirty="0">
                <a:latin typeface="Gill Sans MT" panose="020B0502020104020203" pitchFamily="34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09598142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A0FEBD-1397-5B6A-69B3-29CDDC87B1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FCA0502-3059-A731-8C29-C5D24F6DA3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725" y="263329"/>
            <a:ext cx="8374549" cy="384721"/>
          </a:xfrm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it-IT" b="1" dirty="0" err="1">
                <a:latin typeface="Gill Sans MT"/>
              </a:rPr>
              <a:t>Bibliography</a:t>
            </a:r>
            <a:endParaRPr lang="it-IT" dirty="0">
              <a:latin typeface="Gill Sans MT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572013D-627F-A9F4-3A1D-D90FBA75FA7B}"/>
              </a:ext>
            </a:extLst>
          </p:cNvPr>
          <p:cNvSpPr txBox="1"/>
          <p:nvPr/>
        </p:nvSpPr>
        <p:spPr>
          <a:xfrm>
            <a:off x="7422076" y="4667641"/>
            <a:ext cx="14013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>
                <a:latin typeface="Gill Sans MT" panose="020B0502020104020203" pitchFamily="34" charset="0"/>
              </a:rPr>
              <a:t>Samuel Piron</a:t>
            </a:r>
            <a:endParaRPr lang="en-US" dirty="0">
              <a:latin typeface="Gill Sans MT" panose="020B05020201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88B3CC3-2A2B-1802-104A-CF30F93B26C9}"/>
              </a:ext>
            </a:extLst>
          </p:cNvPr>
          <p:cNvSpPr txBox="1"/>
          <p:nvPr/>
        </p:nvSpPr>
        <p:spPr>
          <a:xfrm>
            <a:off x="384725" y="949685"/>
            <a:ext cx="7955383" cy="34163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 err="1">
                <a:latin typeface="Gill Sans MT" panose="020B0502020104020203" pitchFamily="34" charset="0"/>
              </a:rPr>
              <a:t>PubMed</a:t>
            </a:r>
            <a:r>
              <a:rPr lang="it-IT" dirty="0">
                <a:latin typeface="Gill Sans MT" panose="020B0502020104020203" pitchFamily="34" charset="0"/>
              </a:rPr>
              <a:t>: </a:t>
            </a:r>
            <a:r>
              <a:rPr lang="it-IT" dirty="0">
                <a:latin typeface="Gill Sans MT" panose="020B0502020104020203" pitchFamily="34" charset="0"/>
                <a:hlinkClick r:id="rId2"/>
              </a:rPr>
              <a:t>https://pubmed.ncbi.nlm.nih.gov/</a:t>
            </a:r>
            <a:endParaRPr lang="it-IT" dirty="0">
              <a:latin typeface="Gill Sans MT" panose="020B0502020104020203" pitchFamily="34" charset="0"/>
            </a:endParaRPr>
          </a:p>
          <a:p>
            <a:endParaRPr lang="it-IT" dirty="0">
              <a:latin typeface="Gill Sans MT" panose="020B0502020104020203" pitchFamily="34" charset="0"/>
            </a:endParaRPr>
          </a:p>
          <a:p>
            <a:r>
              <a:rPr lang="it-IT" dirty="0">
                <a:latin typeface="Gill Sans MT" panose="020B0502020104020203" pitchFamily="34" charset="0"/>
              </a:rPr>
              <a:t>Clef2025: </a:t>
            </a:r>
            <a:r>
              <a:rPr lang="it-IT" dirty="0">
                <a:latin typeface="Gill Sans MT" panose="020B0502020104020203" pitchFamily="34" charset="0"/>
                <a:hlinkClick r:id="rId3"/>
              </a:rPr>
              <a:t>https://clef2025.clef-initiative.eu/index.php?page=Pages/Labs/BioASQ.html</a:t>
            </a:r>
            <a:endParaRPr lang="it-IT" dirty="0">
              <a:latin typeface="Gill Sans MT" panose="020B0502020104020203" pitchFamily="34" charset="0"/>
            </a:endParaRPr>
          </a:p>
          <a:p>
            <a:endParaRPr lang="it-IT" dirty="0">
              <a:latin typeface="Gill Sans MT" panose="020B0502020104020203" pitchFamily="34" charset="0"/>
            </a:endParaRPr>
          </a:p>
          <a:p>
            <a:r>
              <a:rPr lang="it-IT" dirty="0" err="1">
                <a:latin typeface="Gill Sans MT" panose="020B0502020104020203" pitchFamily="34" charset="0"/>
              </a:rPr>
              <a:t>Embedding</a:t>
            </a:r>
            <a:r>
              <a:rPr lang="it-IT" dirty="0">
                <a:latin typeface="Gill Sans MT" panose="020B0502020104020203" pitchFamily="34" charset="0"/>
              </a:rPr>
              <a:t> Model: </a:t>
            </a:r>
            <a:r>
              <a:rPr lang="it-IT" dirty="0">
                <a:latin typeface="Gill Sans MT" panose="020B0502020104020203" pitchFamily="34" charset="0"/>
                <a:hlinkClick r:id="rId4"/>
              </a:rPr>
              <a:t>https://huggingface.co/sentence-transformers/all-mpnet-base-v2</a:t>
            </a:r>
            <a:endParaRPr lang="it-IT" dirty="0">
              <a:latin typeface="Gill Sans MT" panose="020B0502020104020203" pitchFamily="34" charset="0"/>
            </a:endParaRPr>
          </a:p>
          <a:p>
            <a:endParaRPr lang="it-IT" dirty="0">
              <a:latin typeface="Gill Sans MT" panose="020B0502020104020203" pitchFamily="34" charset="0"/>
            </a:endParaRPr>
          </a:p>
          <a:p>
            <a:r>
              <a:rPr lang="it-IT" dirty="0" err="1">
                <a:latin typeface="Gill Sans MT" panose="020B0502020104020203" pitchFamily="34" charset="0"/>
              </a:rPr>
              <a:t>NuNer_Zero</a:t>
            </a:r>
            <a:r>
              <a:rPr lang="it-IT" dirty="0">
                <a:latin typeface="Gill Sans MT" panose="020B0502020104020203" pitchFamily="34" charset="0"/>
              </a:rPr>
              <a:t>: </a:t>
            </a:r>
            <a:r>
              <a:rPr lang="it-IT" dirty="0">
                <a:latin typeface="Gill Sans MT" panose="020B0502020104020203" pitchFamily="34" charset="0"/>
                <a:hlinkClick r:id="rId5"/>
              </a:rPr>
              <a:t>https://huggingface.co/numind/NuNER_Zero</a:t>
            </a:r>
            <a:endParaRPr lang="it-IT" dirty="0">
              <a:latin typeface="Gill Sans MT" panose="020B0502020104020203" pitchFamily="34" charset="0"/>
            </a:endParaRPr>
          </a:p>
          <a:p>
            <a:endParaRPr lang="it-IT" dirty="0">
              <a:latin typeface="Gill Sans MT" panose="020B0502020104020203" pitchFamily="34" charset="0"/>
            </a:endParaRPr>
          </a:p>
          <a:p>
            <a:r>
              <a:rPr lang="it-IT" dirty="0" err="1">
                <a:latin typeface="Gill Sans MT" panose="020B0502020104020203" pitchFamily="34" charset="0"/>
              </a:rPr>
              <a:t>MeSH</a:t>
            </a:r>
            <a:r>
              <a:rPr lang="it-IT" dirty="0">
                <a:latin typeface="Gill Sans MT" panose="020B0502020104020203" pitchFamily="34" charset="0"/>
              </a:rPr>
              <a:t>: </a:t>
            </a:r>
            <a:r>
              <a:rPr lang="it-IT" dirty="0">
                <a:latin typeface="Gill Sans MT" panose="020B0502020104020203" pitchFamily="34" charset="0"/>
                <a:hlinkClick r:id="rId6"/>
              </a:rPr>
              <a:t>https://www.nlm.nih.gov/mesh/meshhome.html</a:t>
            </a:r>
            <a:endParaRPr lang="it-IT" dirty="0">
              <a:latin typeface="Gill Sans MT" panose="020B0502020104020203" pitchFamily="34" charset="0"/>
            </a:endParaRPr>
          </a:p>
          <a:p>
            <a:endParaRPr lang="it-IT" dirty="0">
              <a:latin typeface="Gill Sans MT" panose="020B0502020104020203" pitchFamily="34" charset="0"/>
            </a:endParaRPr>
          </a:p>
          <a:p>
            <a:r>
              <a:rPr lang="it-IT" dirty="0" err="1">
                <a:latin typeface="Gill Sans MT" panose="020B0502020104020203" pitchFamily="34" charset="0"/>
              </a:rPr>
              <a:t>PubMedBERT</a:t>
            </a:r>
            <a:r>
              <a:rPr lang="it-IT" dirty="0">
                <a:latin typeface="Gill Sans MT" panose="020B0502020104020203" pitchFamily="34" charset="0"/>
              </a:rPr>
              <a:t>: </a:t>
            </a:r>
            <a:r>
              <a:rPr lang="it-IT" dirty="0">
                <a:latin typeface="Gill Sans MT" panose="020B0502020104020203" pitchFamily="34" charset="0"/>
                <a:hlinkClick r:id="rId7"/>
              </a:rPr>
              <a:t>https://huggingface.co/microsoft/BiomedNLP-BiomedBERT-base-</a:t>
            </a:r>
          </a:p>
          <a:p>
            <a:r>
              <a:rPr lang="it-IT" dirty="0" err="1">
                <a:latin typeface="Gill Sans MT" panose="020B0502020104020203" pitchFamily="34" charset="0"/>
                <a:hlinkClick r:id="rId7"/>
              </a:rPr>
              <a:t>uncased</a:t>
            </a:r>
            <a:r>
              <a:rPr lang="it-IT" dirty="0">
                <a:latin typeface="Gill Sans MT" panose="020B0502020104020203" pitchFamily="34" charset="0"/>
                <a:hlinkClick r:id="rId7"/>
              </a:rPr>
              <a:t>-abstract-</a:t>
            </a:r>
            <a:r>
              <a:rPr lang="it-IT" dirty="0" err="1">
                <a:latin typeface="Gill Sans MT" panose="020B0502020104020203" pitchFamily="34" charset="0"/>
                <a:hlinkClick r:id="rId7"/>
              </a:rPr>
              <a:t>fulltext</a:t>
            </a:r>
            <a:endParaRPr lang="it-IT" dirty="0">
              <a:latin typeface="Gill Sans MT" panose="020B05020201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1267034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73A25D70-4A55-4F72-B9C5-A69CDBF4DB4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3771" cy="51435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4957100-6D8B-4161-9F2F-C0A949EC84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28" y="0"/>
            <a:ext cx="9143772" cy="51435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CBCB02B1-1B82-403C-B7D2-E2CED1882F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22700" y="2988"/>
            <a:ext cx="7032474" cy="5143500"/>
          </a:xfrm>
          <a:custGeom>
            <a:avLst/>
            <a:gdLst>
              <a:gd name="connsiteX0" fmla="*/ 1691615 w 9376632"/>
              <a:gd name="connsiteY0" fmla="*/ 0 h 6858000"/>
              <a:gd name="connsiteX1" fmla="*/ 7685017 w 9376632"/>
              <a:gd name="connsiteY1" fmla="*/ 0 h 6858000"/>
              <a:gd name="connsiteX2" fmla="*/ 7840634 w 9376632"/>
              <a:gd name="connsiteY2" fmla="*/ 134799 h 6858000"/>
              <a:gd name="connsiteX3" fmla="*/ 9376632 w 9376632"/>
              <a:gd name="connsiteY3" fmla="*/ 3605175 h 6858000"/>
              <a:gd name="connsiteX4" fmla="*/ 8158692 w 9376632"/>
              <a:gd name="connsiteY4" fmla="*/ 6757493 h 6858000"/>
              <a:gd name="connsiteX5" fmla="*/ 8062868 w 9376632"/>
              <a:gd name="connsiteY5" fmla="*/ 6858000 h 6858000"/>
              <a:gd name="connsiteX6" fmla="*/ 1313765 w 9376632"/>
              <a:gd name="connsiteY6" fmla="*/ 6858000 h 6858000"/>
              <a:gd name="connsiteX7" fmla="*/ 1217940 w 9376632"/>
              <a:gd name="connsiteY7" fmla="*/ 6757493 h 6858000"/>
              <a:gd name="connsiteX8" fmla="*/ 0 w 9376632"/>
              <a:gd name="connsiteY8" fmla="*/ 3605175 h 6858000"/>
              <a:gd name="connsiteX9" fmla="*/ 1535999 w 9376632"/>
              <a:gd name="connsiteY9" fmla="*/ 134799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376632" h="6858000">
                <a:moveTo>
                  <a:pt x="1691615" y="0"/>
                </a:moveTo>
                <a:lnTo>
                  <a:pt x="7685017" y="0"/>
                </a:lnTo>
                <a:lnTo>
                  <a:pt x="7840634" y="134799"/>
                </a:lnTo>
                <a:cubicBezTo>
                  <a:pt x="8784230" y="992423"/>
                  <a:pt x="9376632" y="2229618"/>
                  <a:pt x="9376632" y="3605175"/>
                </a:cubicBezTo>
                <a:cubicBezTo>
                  <a:pt x="9376632" y="4818903"/>
                  <a:pt x="8915419" y="5924908"/>
                  <a:pt x="8158692" y="6757493"/>
                </a:cubicBezTo>
                <a:lnTo>
                  <a:pt x="8062868" y="6858000"/>
                </a:lnTo>
                <a:lnTo>
                  <a:pt x="1313765" y="6858000"/>
                </a:lnTo>
                <a:lnTo>
                  <a:pt x="1217940" y="6757493"/>
                </a:lnTo>
                <a:cubicBezTo>
                  <a:pt x="461213" y="5924908"/>
                  <a:pt x="0" y="4818903"/>
                  <a:pt x="0" y="3605175"/>
                </a:cubicBezTo>
                <a:cubicBezTo>
                  <a:pt x="0" y="2229618"/>
                  <a:pt x="592403" y="992423"/>
                  <a:pt x="1535999" y="134799"/>
                </a:cubicBezTo>
                <a:close/>
              </a:path>
            </a:pathLst>
          </a:custGeom>
          <a:gradFill flip="none" rotWithShape="1">
            <a:gsLst>
              <a:gs pos="16000">
                <a:schemeClr val="accent6">
                  <a:alpha val="20000"/>
                </a:schemeClr>
              </a:gs>
              <a:gs pos="85000">
                <a:schemeClr val="accent1">
                  <a:alpha val="40000"/>
                </a:schemeClr>
              </a:gs>
            </a:gsLst>
            <a:lin ang="12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CCDE13A7-6382-4A67-BEBE-4FF1F37C7F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977549" y="2988"/>
            <a:ext cx="7329572" cy="5143500"/>
            <a:chOff x="1303402" y="36937"/>
            <a:chExt cx="9772765" cy="6858000"/>
          </a:xfrm>
          <a:solidFill>
            <a:schemeClr val="bg1">
              <a:alpha val="30000"/>
            </a:schemeClr>
          </a:solidFill>
        </p:grpSpPr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E9978FC9-2E40-4257-8D97-FAB20CA4BF1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560551" y="36937"/>
              <a:ext cx="9313016" cy="6858000"/>
            </a:xfrm>
            <a:custGeom>
              <a:avLst/>
              <a:gdLst>
                <a:gd name="connsiteX0" fmla="*/ 6993556 w 9313016"/>
                <a:gd name="connsiteY0" fmla="*/ 0 h 6858000"/>
                <a:gd name="connsiteX1" fmla="*/ 7358516 w 9313016"/>
                <a:gd name="connsiteY1" fmla="*/ 0 h 6858000"/>
                <a:gd name="connsiteX2" fmla="*/ 7475006 w 9313016"/>
                <a:gd name="connsiteY2" fmla="*/ 82722 h 6858000"/>
                <a:gd name="connsiteX3" fmla="*/ 7816357 w 9313016"/>
                <a:gd name="connsiteY3" fmla="*/ 358482 h 6858000"/>
                <a:gd name="connsiteX4" fmla="*/ 8421752 w 9313016"/>
                <a:gd name="connsiteY4" fmla="*/ 995405 h 6858000"/>
                <a:gd name="connsiteX5" fmla="*/ 8897059 w 9313016"/>
                <a:gd name="connsiteY5" fmla="*/ 1737211 h 6858000"/>
                <a:gd name="connsiteX6" fmla="*/ 9206633 w 9313016"/>
                <a:gd name="connsiteY6" fmla="*/ 2564460 h 6858000"/>
                <a:gd name="connsiteX7" fmla="*/ 9286787 w 9313016"/>
                <a:gd name="connsiteY7" fmla="*/ 3000164 h 6858000"/>
                <a:gd name="connsiteX8" fmla="*/ 9312914 w 9313016"/>
                <a:gd name="connsiteY8" fmla="*/ 3442493 h 6858000"/>
                <a:gd name="connsiteX9" fmla="*/ 9190562 w 9313016"/>
                <a:gd name="connsiteY9" fmla="*/ 4316686 h 6858000"/>
                <a:gd name="connsiteX10" fmla="*/ 9043416 w 9313016"/>
                <a:gd name="connsiteY10" fmla="*/ 4734917 h 6858000"/>
                <a:gd name="connsiteX11" fmla="*/ 8809657 w 9313016"/>
                <a:gd name="connsiteY11" fmla="*/ 5128718 h 6858000"/>
                <a:gd name="connsiteX12" fmla="*/ 8645997 w 9313016"/>
                <a:gd name="connsiteY12" fmla="*/ 5297441 h 6858000"/>
                <a:gd name="connsiteX13" fmla="*/ 8457787 w 9313016"/>
                <a:gd name="connsiteY13" fmla="*/ 5433763 h 6858000"/>
                <a:gd name="connsiteX14" fmla="*/ 8260803 w 9313016"/>
                <a:gd name="connsiteY14" fmla="*/ 5541237 h 6858000"/>
                <a:gd name="connsiteX15" fmla="*/ 8066136 w 9313016"/>
                <a:gd name="connsiteY15" fmla="*/ 5635704 h 6858000"/>
                <a:gd name="connsiteX16" fmla="*/ 7698638 w 9313016"/>
                <a:gd name="connsiteY16" fmla="*/ 5837163 h 6858000"/>
                <a:gd name="connsiteX17" fmla="*/ 7370135 w 9313016"/>
                <a:gd name="connsiteY17" fmla="*/ 6090081 h 6858000"/>
                <a:gd name="connsiteX18" fmla="*/ 7218897 w 9313016"/>
                <a:gd name="connsiteY18" fmla="*/ 6235860 h 6858000"/>
                <a:gd name="connsiteX19" fmla="*/ 7070665 w 9313016"/>
                <a:gd name="connsiteY19" fmla="*/ 6387205 h 6858000"/>
                <a:gd name="connsiteX20" fmla="*/ 6779035 w 9313016"/>
                <a:gd name="connsiteY20" fmla="*/ 6697100 h 6858000"/>
                <a:gd name="connsiteX21" fmla="*/ 6631837 w 9313016"/>
                <a:gd name="connsiteY21" fmla="*/ 6852239 h 6858000"/>
                <a:gd name="connsiteX22" fmla="*/ 6626221 w 9313016"/>
                <a:gd name="connsiteY22" fmla="*/ 6858000 h 6858000"/>
                <a:gd name="connsiteX23" fmla="*/ 6424725 w 9313016"/>
                <a:gd name="connsiteY23" fmla="*/ 6858000 h 6858000"/>
                <a:gd name="connsiteX24" fmla="*/ 6527382 w 9313016"/>
                <a:gd name="connsiteY24" fmla="*/ 6756333 h 6858000"/>
                <a:gd name="connsiteX25" fmla="*/ 6674233 w 9313016"/>
                <a:gd name="connsiteY25" fmla="*/ 6603450 h 6858000"/>
                <a:gd name="connsiteX26" fmla="*/ 6965813 w 9313016"/>
                <a:gd name="connsiteY26" fmla="*/ 6292932 h 6858000"/>
                <a:gd name="connsiteX27" fmla="*/ 7112961 w 9313016"/>
                <a:gd name="connsiteY27" fmla="*/ 6137505 h 6858000"/>
                <a:gd name="connsiteX28" fmla="*/ 7264790 w 9313016"/>
                <a:gd name="connsiteY28" fmla="*/ 5983710 h 6858000"/>
                <a:gd name="connsiteX29" fmla="*/ 7974595 w 9313016"/>
                <a:gd name="connsiteY29" fmla="*/ 5470773 h 6858000"/>
                <a:gd name="connsiteX30" fmla="*/ 8331591 w 9313016"/>
                <a:gd name="connsiteY30" fmla="*/ 5254048 h 6858000"/>
                <a:gd name="connsiteX31" fmla="*/ 8599807 w 9313016"/>
                <a:gd name="connsiteY31" fmla="*/ 4980010 h 6858000"/>
                <a:gd name="connsiteX32" fmla="*/ 8766474 w 9313016"/>
                <a:gd name="connsiteY32" fmla="*/ 4631524 h 6858000"/>
                <a:gd name="connsiteX33" fmla="*/ 8865755 w 9313016"/>
                <a:gd name="connsiteY33" fmla="*/ 4244445 h 6858000"/>
                <a:gd name="connsiteX34" fmla="*/ 8882911 w 9313016"/>
                <a:gd name="connsiteY34" fmla="*/ 4145659 h 6858000"/>
                <a:gd name="connsiteX35" fmla="*/ 8897403 w 9313016"/>
                <a:gd name="connsiteY35" fmla="*/ 4046633 h 6858000"/>
                <a:gd name="connsiteX36" fmla="*/ 8908298 w 9313016"/>
                <a:gd name="connsiteY36" fmla="*/ 3947271 h 6858000"/>
                <a:gd name="connsiteX37" fmla="*/ 8916184 w 9313016"/>
                <a:gd name="connsiteY37" fmla="*/ 3847765 h 6858000"/>
                <a:gd name="connsiteX38" fmla="*/ 8920670 w 9313016"/>
                <a:gd name="connsiteY38" fmla="*/ 3449597 h 6858000"/>
                <a:gd name="connsiteX39" fmla="*/ 8914607 w 9313016"/>
                <a:gd name="connsiteY39" fmla="*/ 3350283 h 6858000"/>
                <a:gd name="connsiteX40" fmla="*/ 8905340 w 9313016"/>
                <a:gd name="connsiteY40" fmla="*/ 3251209 h 6858000"/>
                <a:gd name="connsiteX41" fmla="*/ 8893854 w 9313016"/>
                <a:gd name="connsiteY41" fmla="*/ 3152376 h 6858000"/>
                <a:gd name="connsiteX42" fmla="*/ 8879706 w 9313016"/>
                <a:gd name="connsiteY42" fmla="*/ 3053878 h 6858000"/>
                <a:gd name="connsiteX43" fmla="*/ 8797531 w 9313016"/>
                <a:gd name="connsiteY43" fmla="*/ 2663966 h 6858000"/>
                <a:gd name="connsiteX44" fmla="*/ 8520442 w 9313016"/>
                <a:gd name="connsiteY44" fmla="*/ 1911983 h 6858000"/>
                <a:gd name="connsiteX45" fmla="*/ 8332626 w 9313016"/>
                <a:gd name="connsiteY45" fmla="*/ 1553608 h 6858000"/>
                <a:gd name="connsiteX46" fmla="*/ 8116317 w 9313016"/>
                <a:gd name="connsiteY46" fmla="*/ 1208529 h 6858000"/>
                <a:gd name="connsiteX47" fmla="*/ 7873293 w 9313016"/>
                <a:gd name="connsiteY47" fmla="*/ 878284 h 6858000"/>
                <a:gd name="connsiteX48" fmla="*/ 7604337 w 9313016"/>
                <a:gd name="connsiteY48" fmla="*/ 565125 h 6858000"/>
                <a:gd name="connsiteX49" fmla="*/ 7311128 w 9313016"/>
                <a:gd name="connsiteY49" fmla="*/ 270591 h 6858000"/>
                <a:gd name="connsiteX50" fmla="*/ 1752019 w 9313016"/>
                <a:gd name="connsiteY50" fmla="*/ 0 h 6858000"/>
                <a:gd name="connsiteX51" fmla="*/ 2155804 w 9313016"/>
                <a:gd name="connsiteY51" fmla="*/ 0 h 6858000"/>
                <a:gd name="connsiteX52" fmla="*/ 2103975 w 9313016"/>
                <a:gd name="connsiteY52" fmla="*/ 40789 h 6858000"/>
                <a:gd name="connsiteX53" fmla="*/ 1656310 w 9313016"/>
                <a:gd name="connsiteY53" fmla="*/ 470035 h 6858000"/>
                <a:gd name="connsiteX54" fmla="*/ 806013 w 9313016"/>
                <a:gd name="connsiteY54" fmla="*/ 1841133 h 6858000"/>
                <a:gd name="connsiteX55" fmla="*/ 580685 w 9313016"/>
                <a:gd name="connsiteY55" fmla="*/ 2606364 h 6858000"/>
                <a:gd name="connsiteX56" fmla="*/ 503489 w 9313016"/>
                <a:gd name="connsiteY56" fmla="*/ 3397276 h 6858000"/>
                <a:gd name="connsiteX57" fmla="*/ 570135 w 9313016"/>
                <a:gd name="connsiteY57" fmla="*/ 4188235 h 6858000"/>
                <a:gd name="connsiteX58" fmla="*/ 783387 w 9313016"/>
                <a:gd name="connsiteY58" fmla="*/ 4953850 h 6858000"/>
                <a:gd name="connsiteX59" fmla="*/ 1628014 w 9313016"/>
                <a:gd name="connsiteY59" fmla="*/ 6308245 h 6858000"/>
                <a:gd name="connsiteX60" fmla="*/ 2235998 w 9313016"/>
                <a:gd name="connsiteY60" fmla="*/ 6844829 h 6858000"/>
                <a:gd name="connsiteX61" fmla="*/ 2255028 w 9313016"/>
                <a:gd name="connsiteY61" fmla="*/ 6858000 h 6858000"/>
                <a:gd name="connsiteX62" fmla="*/ 1578787 w 9313016"/>
                <a:gd name="connsiteY62" fmla="*/ 6858000 h 6858000"/>
                <a:gd name="connsiteX63" fmla="*/ 1465153 w 9313016"/>
                <a:gd name="connsiteY63" fmla="*/ 6759050 h 6858000"/>
                <a:gd name="connsiteX64" fmla="*/ 1303650 w 9313016"/>
                <a:gd name="connsiteY64" fmla="*/ 6604267 h 6858000"/>
                <a:gd name="connsiteX65" fmla="*/ 323708 w 9313016"/>
                <a:gd name="connsiteY65" fmla="*/ 5126365 h 6858000"/>
                <a:gd name="connsiteX66" fmla="*/ 872 w 9313016"/>
                <a:gd name="connsiteY66" fmla="*/ 3391228 h 6858000"/>
                <a:gd name="connsiteX67" fmla="*/ 105428 w 9313016"/>
                <a:gd name="connsiteY67" fmla="*/ 2511899 h 6858000"/>
                <a:gd name="connsiteX68" fmla="*/ 384933 w 9313016"/>
                <a:gd name="connsiteY68" fmla="*/ 1670971 h 6858000"/>
                <a:gd name="connsiteX69" fmla="*/ 1433593 w 9313016"/>
                <a:gd name="connsiteY69" fmla="*/ 256095 h 6858000"/>
                <a:gd name="connsiteX70" fmla="*/ 1602664 w 9313016"/>
                <a:gd name="connsiteY70" fmla="*/ 113704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</a:cxnLst>
              <a:rect l="l" t="t" r="r" b="b"/>
              <a:pathLst>
                <a:path w="9313016" h="6858000">
                  <a:moveTo>
                    <a:pt x="6993556" y="0"/>
                  </a:moveTo>
                  <a:lnTo>
                    <a:pt x="7358516" y="0"/>
                  </a:lnTo>
                  <a:lnTo>
                    <a:pt x="7475006" y="82722"/>
                  </a:lnTo>
                  <a:cubicBezTo>
                    <a:pt x="7592423" y="169778"/>
                    <a:pt x="7706366" y="261748"/>
                    <a:pt x="7816357" y="358482"/>
                  </a:cubicBezTo>
                  <a:cubicBezTo>
                    <a:pt x="8036559" y="551589"/>
                    <a:pt x="8239655" y="764905"/>
                    <a:pt x="8421752" y="995405"/>
                  </a:cubicBezTo>
                  <a:cubicBezTo>
                    <a:pt x="8604736" y="1225282"/>
                    <a:pt x="8763567" y="1474646"/>
                    <a:pt x="8897059" y="1737211"/>
                  </a:cubicBezTo>
                  <a:cubicBezTo>
                    <a:pt x="9029909" y="2000162"/>
                    <a:pt x="9134317" y="2277990"/>
                    <a:pt x="9206633" y="2564460"/>
                  </a:cubicBezTo>
                  <a:cubicBezTo>
                    <a:pt x="9242322" y="2707791"/>
                    <a:pt x="9269041" y="2853474"/>
                    <a:pt x="9286787" y="3000164"/>
                  </a:cubicBezTo>
                  <a:cubicBezTo>
                    <a:pt x="9304977" y="3146856"/>
                    <a:pt x="9314097" y="3294698"/>
                    <a:pt x="9312914" y="3442493"/>
                  </a:cubicBezTo>
                  <a:cubicBezTo>
                    <a:pt x="9309906" y="3737987"/>
                    <a:pt x="9270717" y="4033288"/>
                    <a:pt x="9190562" y="4316686"/>
                  </a:cubicBezTo>
                  <a:cubicBezTo>
                    <a:pt x="9150486" y="4458240"/>
                    <a:pt x="9103951" y="4597587"/>
                    <a:pt x="9043416" y="4734917"/>
                  </a:cubicBezTo>
                  <a:cubicBezTo>
                    <a:pt x="8982980" y="4871817"/>
                    <a:pt x="8908740" y="5007131"/>
                    <a:pt x="8809657" y="5128718"/>
                  </a:cubicBezTo>
                  <a:cubicBezTo>
                    <a:pt x="8760312" y="5189247"/>
                    <a:pt x="8706137" y="5246945"/>
                    <a:pt x="8645997" y="5297441"/>
                  </a:cubicBezTo>
                  <a:cubicBezTo>
                    <a:pt x="8586252" y="5348274"/>
                    <a:pt x="8522809" y="5393730"/>
                    <a:pt x="8457787" y="5433763"/>
                  </a:cubicBezTo>
                  <a:cubicBezTo>
                    <a:pt x="8392816" y="5474132"/>
                    <a:pt x="8326219" y="5508213"/>
                    <a:pt x="8260803" y="5541237"/>
                  </a:cubicBezTo>
                  <a:cubicBezTo>
                    <a:pt x="8195289" y="5574071"/>
                    <a:pt x="8130023" y="5604838"/>
                    <a:pt x="8066136" y="5635704"/>
                  </a:cubicBezTo>
                  <a:cubicBezTo>
                    <a:pt x="7938313" y="5697433"/>
                    <a:pt x="7815222" y="5762186"/>
                    <a:pt x="7698638" y="5837163"/>
                  </a:cubicBezTo>
                  <a:cubicBezTo>
                    <a:pt x="7582449" y="5912381"/>
                    <a:pt x="7471881" y="5996094"/>
                    <a:pt x="7370135" y="6090081"/>
                  </a:cubicBezTo>
                  <a:cubicBezTo>
                    <a:pt x="7319460" y="6136593"/>
                    <a:pt x="7268881" y="6186082"/>
                    <a:pt x="7218897" y="6235860"/>
                  </a:cubicBezTo>
                  <a:cubicBezTo>
                    <a:pt x="7168763" y="6285493"/>
                    <a:pt x="7119665" y="6336229"/>
                    <a:pt x="7070665" y="6387205"/>
                  </a:cubicBezTo>
                  <a:cubicBezTo>
                    <a:pt x="6972715" y="6489208"/>
                    <a:pt x="6876195" y="6593131"/>
                    <a:pt x="6779035" y="6697100"/>
                  </a:cubicBezTo>
                  <a:cubicBezTo>
                    <a:pt x="6730379" y="6748989"/>
                    <a:pt x="6681528" y="6800878"/>
                    <a:pt x="6631837" y="6852239"/>
                  </a:cubicBezTo>
                  <a:lnTo>
                    <a:pt x="6626221" y="6858000"/>
                  </a:lnTo>
                  <a:lnTo>
                    <a:pt x="6424725" y="6858000"/>
                  </a:lnTo>
                  <a:lnTo>
                    <a:pt x="6527382" y="6756333"/>
                  </a:lnTo>
                  <a:cubicBezTo>
                    <a:pt x="6576726" y="6705932"/>
                    <a:pt x="6625480" y="6654811"/>
                    <a:pt x="6674233" y="6603450"/>
                  </a:cubicBezTo>
                  <a:cubicBezTo>
                    <a:pt x="6771788" y="6500920"/>
                    <a:pt x="6868309" y="6396757"/>
                    <a:pt x="6965813" y="6292932"/>
                  </a:cubicBezTo>
                  <a:lnTo>
                    <a:pt x="7112961" y="6137505"/>
                  </a:lnTo>
                  <a:cubicBezTo>
                    <a:pt x="7162354" y="6085808"/>
                    <a:pt x="7211945" y="6034640"/>
                    <a:pt x="7264790" y="5983710"/>
                  </a:cubicBezTo>
                  <a:cubicBezTo>
                    <a:pt x="7472373" y="5779130"/>
                    <a:pt x="7721610" y="5610648"/>
                    <a:pt x="7974595" y="5470773"/>
                  </a:cubicBezTo>
                  <a:cubicBezTo>
                    <a:pt x="8099903" y="5399395"/>
                    <a:pt x="8224127" y="5332529"/>
                    <a:pt x="8331591" y="5254048"/>
                  </a:cubicBezTo>
                  <a:cubicBezTo>
                    <a:pt x="8439351" y="5176047"/>
                    <a:pt x="8529660" y="5085949"/>
                    <a:pt x="8599807" y="4980010"/>
                  </a:cubicBezTo>
                  <a:cubicBezTo>
                    <a:pt x="8671187" y="4875128"/>
                    <a:pt x="8723982" y="4756086"/>
                    <a:pt x="8766474" y="4631524"/>
                  </a:cubicBezTo>
                  <a:cubicBezTo>
                    <a:pt x="8808968" y="4507010"/>
                    <a:pt x="8840615" y="4375872"/>
                    <a:pt x="8865755" y="4244445"/>
                  </a:cubicBezTo>
                  <a:cubicBezTo>
                    <a:pt x="8871375" y="4211468"/>
                    <a:pt x="8878129" y="4178731"/>
                    <a:pt x="8882911" y="4145659"/>
                  </a:cubicBezTo>
                  <a:lnTo>
                    <a:pt x="8897403" y="4046633"/>
                  </a:lnTo>
                  <a:lnTo>
                    <a:pt x="8908298" y="3947271"/>
                  </a:lnTo>
                  <a:cubicBezTo>
                    <a:pt x="8912389" y="3914247"/>
                    <a:pt x="8913425" y="3880886"/>
                    <a:pt x="8916184" y="3847765"/>
                  </a:cubicBezTo>
                  <a:cubicBezTo>
                    <a:pt x="8925797" y="3715091"/>
                    <a:pt x="8925945" y="3582127"/>
                    <a:pt x="8920670" y="3449597"/>
                  </a:cubicBezTo>
                  <a:lnTo>
                    <a:pt x="8914607" y="3350283"/>
                  </a:lnTo>
                  <a:cubicBezTo>
                    <a:pt x="8911995" y="3317211"/>
                    <a:pt x="8908348" y="3284233"/>
                    <a:pt x="8905340" y="3251209"/>
                  </a:cubicBezTo>
                  <a:cubicBezTo>
                    <a:pt x="8902628" y="3218185"/>
                    <a:pt x="8897551" y="3185305"/>
                    <a:pt x="8893854" y="3152376"/>
                  </a:cubicBezTo>
                  <a:cubicBezTo>
                    <a:pt x="8890305" y="3119399"/>
                    <a:pt x="8884932" y="3086662"/>
                    <a:pt x="8879706" y="3053878"/>
                  </a:cubicBezTo>
                  <a:cubicBezTo>
                    <a:pt x="8858707" y="2922835"/>
                    <a:pt x="8831249" y="2792705"/>
                    <a:pt x="8797531" y="2663966"/>
                  </a:cubicBezTo>
                  <a:cubicBezTo>
                    <a:pt x="8728616" y="2406777"/>
                    <a:pt x="8635497" y="2155109"/>
                    <a:pt x="8520442" y="1911983"/>
                  </a:cubicBezTo>
                  <a:cubicBezTo>
                    <a:pt x="8462667" y="1790541"/>
                    <a:pt x="8400112" y="1670923"/>
                    <a:pt x="8332626" y="1553608"/>
                  </a:cubicBezTo>
                  <a:cubicBezTo>
                    <a:pt x="8265683" y="1436006"/>
                    <a:pt x="8192973" y="1321188"/>
                    <a:pt x="8116317" y="1208529"/>
                  </a:cubicBezTo>
                  <a:cubicBezTo>
                    <a:pt x="8039811" y="1095776"/>
                    <a:pt x="7958079" y="986094"/>
                    <a:pt x="7873293" y="878284"/>
                  </a:cubicBezTo>
                  <a:cubicBezTo>
                    <a:pt x="7787814" y="771002"/>
                    <a:pt x="7697999" y="666551"/>
                    <a:pt x="7604337" y="565125"/>
                  </a:cubicBezTo>
                  <a:cubicBezTo>
                    <a:pt x="7510479" y="463891"/>
                    <a:pt x="7413367" y="364818"/>
                    <a:pt x="7311128" y="270591"/>
                  </a:cubicBezTo>
                  <a:close/>
                  <a:moveTo>
                    <a:pt x="1752019" y="0"/>
                  </a:moveTo>
                  <a:lnTo>
                    <a:pt x="2155804" y="0"/>
                  </a:lnTo>
                  <a:lnTo>
                    <a:pt x="2103975" y="40789"/>
                  </a:lnTo>
                  <a:cubicBezTo>
                    <a:pt x="1943592" y="173585"/>
                    <a:pt x="1793955" y="317500"/>
                    <a:pt x="1656310" y="470035"/>
                  </a:cubicBezTo>
                  <a:cubicBezTo>
                    <a:pt x="1288172" y="876939"/>
                    <a:pt x="1002998" y="1344708"/>
                    <a:pt x="806013" y="1841133"/>
                  </a:cubicBezTo>
                  <a:cubicBezTo>
                    <a:pt x="707818" y="2089538"/>
                    <a:pt x="630868" y="2345480"/>
                    <a:pt x="580685" y="2606364"/>
                  </a:cubicBezTo>
                  <a:cubicBezTo>
                    <a:pt x="530749" y="2867250"/>
                    <a:pt x="504868" y="3132119"/>
                    <a:pt x="503489" y="3397276"/>
                  </a:cubicBezTo>
                  <a:cubicBezTo>
                    <a:pt x="501467" y="3662434"/>
                    <a:pt x="524093" y="3927351"/>
                    <a:pt x="570135" y="4188235"/>
                  </a:cubicBezTo>
                  <a:cubicBezTo>
                    <a:pt x="615734" y="4449264"/>
                    <a:pt x="688642" y="4705493"/>
                    <a:pt x="783387" y="4953850"/>
                  </a:cubicBezTo>
                  <a:cubicBezTo>
                    <a:pt x="974357" y="5449796"/>
                    <a:pt x="1259630" y="5913773"/>
                    <a:pt x="1628014" y="6308245"/>
                  </a:cubicBezTo>
                  <a:cubicBezTo>
                    <a:pt x="1812182" y="6505481"/>
                    <a:pt x="2016215" y="6685052"/>
                    <a:pt x="2235998" y="6844829"/>
                  </a:cubicBezTo>
                  <a:lnTo>
                    <a:pt x="2255028" y="6858000"/>
                  </a:lnTo>
                  <a:lnTo>
                    <a:pt x="1578787" y="6858000"/>
                  </a:lnTo>
                  <a:lnTo>
                    <a:pt x="1465153" y="6759050"/>
                  </a:lnTo>
                  <a:cubicBezTo>
                    <a:pt x="1410086" y="6708726"/>
                    <a:pt x="1356236" y="6657104"/>
                    <a:pt x="1303650" y="6604267"/>
                  </a:cubicBezTo>
                  <a:cubicBezTo>
                    <a:pt x="883506" y="6181043"/>
                    <a:pt x="548150" y="5676072"/>
                    <a:pt x="323708" y="5126365"/>
                  </a:cubicBezTo>
                  <a:cubicBezTo>
                    <a:pt x="97737" y="4577139"/>
                    <a:pt x="-10958" y="3981927"/>
                    <a:pt x="872" y="3391228"/>
                  </a:cubicBezTo>
                  <a:cubicBezTo>
                    <a:pt x="5951" y="3095783"/>
                    <a:pt x="40506" y="2800528"/>
                    <a:pt x="105428" y="2511899"/>
                  </a:cubicBezTo>
                  <a:cubicBezTo>
                    <a:pt x="170104" y="2223317"/>
                    <a:pt x="262089" y="1940399"/>
                    <a:pt x="384933" y="1670971"/>
                  </a:cubicBezTo>
                  <a:cubicBezTo>
                    <a:pt x="629092" y="1131344"/>
                    <a:pt x="991955" y="646919"/>
                    <a:pt x="1433593" y="256095"/>
                  </a:cubicBezTo>
                  <a:cubicBezTo>
                    <a:pt x="1488791" y="207206"/>
                    <a:pt x="1545179" y="159733"/>
                    <a:pt x="1602664" y="113704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740ABB98-77BA-4C40-8121-34D196E5873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59468" y="36937"/>
              <a:ext cx="9065550" cy="6858000"/>
            </a:xfrm>
            <a:custGeom>
              <a:avLst/>
              <a:gdLst>
                <a:gd name="connsiteX0" fmla="*/ 1839951 w 9065550"/>
                <a:gd name="connsiteY0" fmla="*/ 0 h 6858000"/>
                <a:gd name="connsiteX1" fmla="*/ 6979427 w 9065550"/>
                <a:gd name="connsiteY1" fmla="*/ 0 h 6858000"/>
                <a:gd name="connsiteX2" fmla="*/ 6989586 w 9065550"/>
                <a:gd name="connsiteY2" fmla="*/ 6825 h 6858000"/>
                <a:gd name="connsiteX3" fmla="*/ 8932062 w 9065550"/>
                <a:gd name="connsiteY3" fmla="*/ 4580835 h 6858000"/>
                <a:gd name="connsiteX4" fmla="*/ 7166294 w 9065550"/>
                <a:gd name="connsiteY4" fmla="*/ 6259703 h 6858000"/>
                <a:gd name="connsiteX5" fmla="*/ 6868878 w 9065550"/>
                <a:gd name="connsiteY5" fmla="*/ 6564765 h 6858000"/>
                <a:gd name="connsiteX6" fmla="*/ 6591881 w 9065550"/>
                <a:gd name="connsiteY6" fmla="*/ 6858000 h 6858000"/>
                <a:gd name="connsiteX7" fmla="*/ 5184648 w 9065550"/>
                <a:gd name="connsiteY7" fmla="*/ 6858000 h 6858000"/>
                <a:gd name="connsiteX8" fmla="*/ 5244877 w 9065550"/>
                <a:gd name="connsiteY8" fmla="*/ 6817615 h 6858000"/>
                <a:gd name="connsiteX9" fmla="*/ 6033853 w 9065550"/>
                <a:gd name="connsiteY9" fmla="*/ 6069135 h 6858000"/>
                <a:gd name="connsiteX10" fmla="*/ 6480248 w 9065550"/>
                <a:gd name="connsiteY10" fmla="*/ 5607082 h 6858000"/>
                <a:gd name="connsiteX11" fmla="*/ 7551502 w 9065550"/>
                <a:gd name="connsiteY11" fmla="*/ 4859004 h 6858000"/>
                <a:gd name="connsiteX12" fmla="*/ 7844227 w 9065550"/>
                <a:gd name="connsiteY12" fmla="*/ 4683074 h 6858000"/>
                <a:gd name="connsiteX13" fmla="*/ 8005810 w 9065550"/>
                <a:gd name="connsiteY13" fmla="*/ 4330239 h 6858000"/>
                <a:gd name="connsiteX14" fmla="*/ 8016191 w 9065550"/>
                <a:gd name="connsiteY14" fmla="*/ 2956574 h 6858000"/>
                <a:gd name="connsiteX15" fmla="*/ 7346424 w 9065550"/>
                <a:gd name="connsiteY15" fmla="*/ 1636739 h 6858000"/>
                <a:gd name="connsiteX16" fmla="*/ 5995751 w 9065550"/>
                <a:gd name="connsiteY16" fmla="*/ 493319 h 6858000"/>
                <a:gd name="connsiteX17" fmla="*/ 4494836 w 9065550"/>
                <a:gd name="connsiteY17" fmla="*/ 75383 h 6858000"/>
                <a:gd name="connsiteX18" fmla="*/ 2002499 w 9065550"/>
                <a:gd name="connsiteY18" fmla="*/ 1094261 h 6858000"/>
                <a:gd name="connsiteX19" fmla="*/ 1241306 w 9065550"/>
                <a:gd name="connsiteY19" fmla="*/ 2206935 h 6858000"/>
                <a:gd name="connsiteX20" fmla="*/ 961736 w 9065550"/>
                <a:gd name="connsiteY20" fmla="*/ 3573719 h 6858000"/>
                <a:gd name="connsiteX21" fmla="*/ 1193878 w 9065550"/>
                <a:gd name="connsiteY21" fmla="*/ 4824208 h 6858000"/>
                <a:gd name="connsiteX22" fmla="*/ 1832096 w 9065550"/>
                <a:gd name="connsiteY22" fmla="*/ 5873050 h 6858000"/>
                <a:gd name="connsiteX23" fmla="*/ 3010752 w 9065550"/>
                <a:gd name="connsiteY23" fmla="*/ 6749475 h 6858000"/>
                <a:gd name="connsiteX24" fmla="*/ 3187037 w 9065550"/>
                <a:gd name="connsiteY24" fmla="*/ 6824756 h 6858000"/>
                <a:gd name="connsiteX25" fmla="*/ 3278211 w 9065550"/>
                <a:gd name="connsiteY25" fmla="*/ 6858000 h 6858000"/>
                <a:gd name="connsiteX26" fmla="*/ 1480830 w 9065550"/>
                <a:gd name="connsiteY26" fmla="*/ 6858000 h 6858000"/>
                <a:gd name="connsiteX27" fmla="*/ 1427607 w 9065550"/>
                <a:gd name="connsiteY27" fmla="*/ 6811515 h 6858000"/>
                <a:gd name="connsiteX28" fmla="*/ 1100739 w 9065550"/>
                <a:gd name="connsiteY28" fmla="*/ 6477651 h 6858000"/>
                <a:gd name="connsiteX29" fmla="*/ 0 w 9065550"/>
                <a:gd name="connsiteY29" fmla="*/ 3573620 h 6858000"/>
                <a:gd name="connsiteX30" fmla="*/ 1805513 w 9065550"/>
                <a:gd name="connsiteY30" fmla="*/ 24133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9065550" h="6858000">
                  <a:moveTo>
                    <a:pt x="1839951" y="0"/>
                  </a:moveTo>
                  <a:lnTo>
                    <a:pt x="6979427" y="0"/>
                  </a:lnTo>
                  <a:lnTo>
                    <a:pt x="6989586" y="6825"/>
                  </a:lnTo>
                  <a:cubicBezTo>
                    <a:pt x="8438828" y="1031353"/>
                    <a:pt x="9439169" y="2823601"/>
                    <a:pt x="8932062" y="4580835"/>
                  </a:cubicBezTo>
                  <a:cubicBezTo>
                    <a:pt x="8592517" y="5757293"/>
                    <a:pt x="7979652" y="5458140"/>
                    <a:pt x="7166294" y="6259703"/>
                  </a:cubicBezTo>
                  <a:cubicBezTo>
                    <a:pt x="7064618" y="6359905"/>
                    <a:pt x="6966014" y="6462297"/>
                    <a:pt x="6868878" y="6564765"/>
                  </a:cubicBezTo>
                  <a:lnTo>
                    <a:pt x="6591881" y="6858000"/>
                  </a:lnTo>
                  <a:lnTo>
                    <a:pt x="5184648" y="6858000"/>
                  </a:lnTo>
                  <a:lnTo>
                    <a:pt x="5244877" y="6817615"/>
                  </a:lnTo>
                  <a:cubicBezTo>
                    <a:pt x="5481027" y="6649287"/>
                    <a:pt x="5723665" y="6398593"/>
                    <a:pt x="6033853" y="6069135"/>
                  </a:cubicBezTo>
                  <a:cubicBezTo>
                    <a:pt x="6175680" y="5918484"/>
                    <a:pt x="6322395" y="5762660"/>
                    <a:pt x="6480248" y="5607082"/>
                  </a:cubicBezTo>
                  <a:cubicBezTo>
                    <a:pt x="6893276" y="5200077"/>
                    <a:pt x="7273697" y="5002920"/>
                    <a:pt x="7551502" y="4859004"/>
                  </a:cubicBezTo>
                  <a:cubicBezTo>
                    <a:pt x="7687884" y="4788339"/>
                    <a:pt x="7795540" y="4732559"/>
                    <a:pt x="7844227" y="4683074"/>
                  </a:cubicBezTo>
                  <a:cubicBezTo>
                    <a:pt x="7898759" y="4627636"/>
                    <a:pt x="7956165" y="4502313"/>
                    <a:pt x="8005810" y="4330239"/>
                  </a:cubicBezTo>
                  <a:cubicBezTo>
                    <a:pt x="8132968" y="3889611"/>
                    <a:pt x="8136446" y="3427460"/>
                    <a:pt x="8016191" y="2956574"/>
                  </a:cubicBezTo>
                  <a:cubicBezTo>
                    <a:pt x="7900876" y="2505064"/>
                    <a:pt x="7669287" y="2048671"/>
                    <a:pt x="7346424" y="1636739"/>
                  </a:cubicBezTo>
                  <a:cubicBezTo>
                    <a:pt x="6979764" y="1168830"/>
                    <a:pt x="6512706" y="773489"/>
                    <a:pt x="5995751" y="493319"/>
                  </a:cubicBezTo>
                  <a:cubicBezTo>
                    <a:pt x="5491195" y="219884"/>
                    <a:pt x="4972174" y="75383"/>
                    <a:pt x="4494836" y="75383"/>
                  </a:cubicBezTo>
                  <a:cubicBezTo>
                    <a:pt x="3554318" y="75383"/>
                    <a:pt x="2669191" y="437197"/>
                    <a:pt x="2002499" y="1094261"/>
                  </a:cubicBezTo>
                  <a:cubicBezTo>
                    <a:pt x="1676360" y="1415667"/>
                    <a:pt x="1420225" y="1790023"/>
                    <a:pt x="1241306" y="2206935"/>
                  </a:cubicBezTo>
                  <a:cubicBezTo>
                    <a:pt x="1055782" y="2639169"/>
                    <a:pt x="961736" y="3099027"/>
                    <a:pt x="961736" y="3573719"/>
                  </a:cubicBezTo>
                  <a:cubicBezTo>
                    <a:pt x="961736" y="4005124"/>
                    <a:pt x="1039805" y="4425841"/>
                    <a:pt x="1193878" y="4824208"/>
                  </a:cubicBezTo>
                  <a:cubicBezTo>
                    <a:pt x="1342457" y="5208423"/>
                    <a:pt x="1557214" y="5561306"/>
                    <a:pt x="1832096" y="5873050"/>
                  </a:cubicBezTo>
                  <a:cubicBezTo>
                    <a:pt x="2157126" y="6241599"/>
                    <a:pt x="2564661" y="6544656"/>
                    <a:pt x="3010752" y="6749475"/>
                  </a:cubicBezTo>
                  <a:cubicBezTo>
                    <a:pt x="3069003" y="6776219"/>
                    <a:pt x="3127773" y="6801314"/>
                    <a:pt x="3187037" y="6824756"/>
                  </a:cubicBezTo>
                  <a:lnTo>
                    <a:pt x="3278211" y="6858000"/>
                  </a:lnTo>
                  <a:lnTo>
                    <a:pt x="1480830" y="6858000"/>
                  </a:lnTo>
                  <a:lnTo>
                    <a:pt x="1427607" y="6811515"/>
                  </a:lnTo>
                  <a:cubicBezTo>
                    <a:pt x="1312870" y="6705919"/>
                    <a:pt x="1203751" y="6594470"/>
                    <a:pt x="1100739" y="6477651"/>
                  </a:cubicBezTo>
                  <a:cubicBezTo>
                    <a:pt x="415045" y="5700097"/>
                    <a:pt x="0" y="4684635"/>
                    <a:pt x="0" y="3573620"/>
                  </a:cubicBezTo>
                  <a:cubicBezTo>
                    <a:pt x="0" y="2121118"/>
                    <a:pt x="709459" y="831902"/>
                    <a:pt x="1805513" y="24133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41AA752E-66C1-4835-8A3C-556475159D6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48217" y="36937"/>
              <a:ext cx="9088051" cy="6858000"/>
            </a:xfrm>
            <a:custGeom>
              <a:avLst/>
              <a:gdLst>
                <a:gd name="connsiteX0" fmla="*/ 5158786 w 9088051"/>
                <a:gd name="connsiteY0" fmla="*/ 0 h 6858000"/>
                <a:gd name="connsiteX1" fmla="*/ 6996771 w 9088051"/>
                <a:gd name="connsiteY1" fmla="*/ 0 h 6858000"/>
                <a:gd name="connsiteX2" fmla="*/ 7006955 w 9088051"/>
                <a:gd name="connsiteY2" fmla="*/ 6825 h 6858000"/>
                <a:gd name="connsiteX3" fmla="*/ 8954230 w 9088051"/>
                <a:gd name="connsiteY3" fmla="*/ 4580835 h 6858000"/>
                <a:gd name="connsiteX4" fmla="*/ 7184080 w 9088051"/>
                <a:gd name="connsiteY4" fmla="*/ 6259703 h 6858000"/>
                <a:gd name="connsiteX5" fmla="*/ 6885926 w 9088051"/>
                <a:gd name="connsiteY5" fmla="*/ 6564765 h 6858000"/>
                <a:gd name="connsiteX6" fmla="*/ 6608241 w 9088051"/>
                <a:gd name="connsiteY6" fmla="*/ 6858000 h 6858000"/>
                <a:gd name="connsiteX7" fmla="*/ 5462870 w 9088051"/>
                <a:gd name="connsiteY7" fmla="*/ 6858000 h 6858000"/>
                <a:gd name="connsiteX8" fmla="*/ 5529056 w 9088051"/>
                <a:gd name="connsiteY8" fmla="*/ 6804645 h 6858000"/>
                <a:gd name="connsiteX9" fmla="*/ 6167613 w 9088051"/>
                <a:gd name="connsiteY9" fmla="*/ 6173667 h 6858000"/>
                <a:gd name="connsiteX10" fmla="*/ 6610973 w 9088051"/>
                <a:gd name="connsiteY10" fmla="*/ 5715860 h 6858000"/>
                <a:gd name="connsiteX11" fmla="*/ 7646083 w 9088051"/>
                <a:gd name="connsiteY11" fmla="*/ 4995842 h 6858000"/>
                <a:gd name="connsiteX12" fmla="*/ 7980054 w 9088051"/>
                <a:gd name="connsiteY12" fmla="*/ 4790095 h 6858000"/>
                <a:gd name="connsiteX13" fmla="*/ 8180437 w 9088051"/>
                <a:gd name="connsiteY13" fmla="*/ 4371964 h 6858000"/>
                <a:gd name="connsiteX14" fmla="*/ 8192058 w 9088051"/>
                <a:gd name="connsiteY14" fmla="*/ 2919242 h 6858000"/>
                <a:gd name="connsiteX15" fmla="*/ 7492638 w 9088051"/>
                <a:gd name="connsiteY15" fmla="*/ 1542845 h 6858000"/>
                <a:gd name="connsiteX16" fmla="*/ 6089097 w 9088051"/>
                <a:gd name="connsiteY16" fmla="*/ 357847 h 6858000"/>
                <a:gd name="connsiteX17" fmla="*/ 5288639 w 9088051"/>
                <a:gd name="connsiteY17" fmla="*/ 31627 h 6858000"/>
                <a:gd name="connsiteX18" fmla="*/ 1844517 w 9088051"/>
                <a:gd name="connsiteY18" fmla="*/ 0 h 6858000"/>
                <a:gd name="connsiteX19" fmla="*/ 3734467 w 9088051"/>
                <a:gd name="connsiteY19" fmla="*/ 0 h 6858000"/>
                <a:gd name="connsiteX20" fmla="*/ 3603618 w 9088051"/>
                <a:gd name="connsiteY20" fmla="*/ 28853 h 6858000"/>
                <a:gd name="connsiteX21" fmla="*/ 1892878 w 9088051"/>
                <a:gd name="connsiteY21" fmla="*/ 985434 h 6858000"/>
                <a:gd name="connsiteX22" fmla="*/ 1096045 w 9088051"/>
                <a:gd name="connsiteY22" fmla="*/ 2147349 h 6858000"/>
                <a:gd name="connsiteX23" fmla="*/ 803453 w 9088051"/>
                <a:gd name="connsiteY23" fmla="*/ 3573669 h 6858000"/>
                <a:gd name="connsiteX24" fmla="*/ 1046377 w 9088051"/>
                <a:gd name="connsiteY24" fmla="*/ 4878573 h 6858000"/>
                <a:gd name="connsiteX25" fmla="*/ 1714473 w 9088051"/>
                <a:gd name="connsiteY25" fmla="*/ 5973776 h 6858000"/>
                <a:gd name="connsiteX26" fmla="*/ 2776083 w 9088051"/>
                <a:gd name="connsiteY26" fmla="*/ 6804641 h 6858000"/>
                <a:gd name="connsiteX27" fmla="*/ 2884836 w 9088051"/>
                <a:gd name="connsiteY27" fmla="*/ 6858000 h 6858000"/>
                <a:gd name="connsiteX28" fmla="*/ 1484505 w 9088051"/>
                <a:gd name="connsiteY28" fmla="*/ 6858000 h 6858000"/>
                <a:gd name="connsiteX29" fmla="*/ 1431151 w 9088051"/>
                <a:gd name="connsiteY29" fmla="*/ 6811515 h 6858000"/>
                <a:gd name="connsiteX30" fmla="*/ 1103471 w 9088051"/>
                <a:gd name="connsiteY30" fmla="*/ 6477651 h 6858000"/>
                <a:gd name="connsiteX31" fmla="*/ 0 w 9088051"/>
                <a:gd name="connsiteY31" fmla="*/ 3573620 h 6858000"/>
                <a:gd name="connsiteX32" fmla="*/ 1809994 w 9088051"/>
                <a:gd name="connsiteY32" fmla="*/ 24133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9088051" h="6858000">
                  <a:moveTo>
                    <a:pt x="5158786" y="0"/>
                  </a:moveTo>
                  <a:lnTo>
                    <a:pt x="6996771" y="0"/>
                  </a:lnTo>
                  <a:lnTo>
                    <a:pt x="7006955" y="6825"/>
                  </a:lnTo>
                  <a:cubicBezTo>
                    <a:pt x="8459794" y="1031353"/>
                    <a:pt x="9462596" y="2823601"/>
                    <a:pt x="8954230" y="4580835"/>
                  </a:cubicBezTo>
                  <a:cubicBezTo>
                    <a:pt x="8613842" y="5757293"/>
                    <a:pt x="7999457" y="5458140"/>
                    <a:pt x="7184080" y="6259703"/>
                  </a:cubicBezTo>
                  <a:cubicBezTo>
                    <a:pt x="7082152" y="6359905"/>
                    <a:pt x="6983303" y="6462297"/>
                    <a:pt x="6885926" y="6564765"/>
                  </a:cubicBezTo>
                  <a:lnTo>
                    <a:pt x="6608241" y="6858000"/>
                  </a:lnTo>
                  <a:lnTo>
                    <a:pt x="5462870" y="6858000"/>
                  </a:lnTo>
                  <a:lnTo>
                    <a:pt x="5529056" y="6804645"/>
                  </a:lnTo>
                  <a:cubicBezTo>
                    <a:pt x="5740217" y="6626505"/>
                    <a:pt x="5949382" y="6404876"/>
                    <a:pt x="6167613" y="6173667"/>
                  </a:cubicBezTo>
                  <a:cubicBezTo>
                    <a:pt x="6308782" y="6024091"/>
                    <a:pt x="6454799" y="5869390"/>
                    <a:pt x="6610973" y="5715860"/>
                  </a:cubicBezTo>
                  <a:cubicBezTo>
                    <a:pt x="7007847" y="5325741"/>
                    <a:pt x="7376733" y="5135074"/>
                    <a:pt x="7646083" y="4995842"/>
                  </a:cubicBezTo>
                  <a:cubicBezTo>
                    <a:pt x="7816858" y="4907561"/>
                    <a:pt x="7916545" y="4854514"/>
                    <a:pt x="7980054" y="4790095"/>
                  </a:cubicBezTo>
                  <a:cubicBezTo>
                    <a:pt x="8054629" y="4714405"/>
                    <a:pt x="8122031" y="4573758"/>
                    <a:pt x="8180437" y="4371964"/>
                  </a:cubicBezTo>
                  <a:cubicBezTo>
                    <a:pt x="8315441" y="3905228"/>
                    <a:pt x="8319381" y="3416431"/>
                    <a:pt x="8192058" y="2919242"/>
                  </a:cubicBezTo>
                  <a:cubicBezTo>
                    <a:pt x="8071251" y="2447381"/>
                    <a:pt x="7829388" y="1971467"/>
                    <a:pt x="7492638" y="1542845"/>
                  </a:cubicBezTo>
                  <a:cubicBezTo>
                    <a:pt x="7111829" y="1058099"/>
                    <a:pt x="6626484" y="648361"/>
                    <a:pt x="6089097" y="357847"/>
                  </a:cubicBezTo>
                  <a:cubicBezTo>
                    <a:pt x="5824244" y="214687"/>
                    <a:pt x="5554957" y="105262"/>
                    <a:pt x="5288639" y="31627"/>
                  </a:cubicBezTo>
                  <a:close/>
                  <a:moveTo>
                    <a:pt x="1844517" y="0"/>
                  </a:moveTo>
                  <a:lnTo>
                    <a:pt x="3734467" y="0"/>
                  </a:lnTo>
                  <a:lnTo>
                    <a:pt x="3603618" y="28853"/>
                  </a:lnTo>
                  <a:cubicBezTo>
                    <a:pt x="2962049" y="186733"/>
                    <a:pt x="2373277" y="513136"/>
                    <a:pt x="1892878" y="985434"/>
                  </a:cubicBezTo>
                  <a:cubicBezTo>
                    <a:pt x="1551428" y="1321091"/>
                    <a:pt x="1283341" y="1711990"/>
                    <a:pt x="1096045" y="2147349"/>
                  </a:cubicBezTo>
                  <a:cubicBezTo>
                    <a:pt x="901876" y="2598519"/>
                    <a:pt x="803453" y="3078432"/>
                    <a:pt x="803453" y="3573669"/>
                  </a:cubicBezTo>
                  <a:cubicBezTo>
                    <a:pt x="803453" y="4023717"/>
                    <a:pt x="885151" y="4462735"/>
                    <a:pt x="1046377" y="4878573"/>
                  </a:cubicBezTo>
                  <a:cubicBezTo>
                    <a:pt x="1201945" y="5279770"/>
                    <a:pt x="1426681" y="5648221"/>
                    <a:pt x="1714473" y="5973776"/>
                  </a:cubicBezTo>
                  <a:cubicBezTo>
                    <a:pt x="2012357" y="6310732"/>
                    <a:pt x="2376505" y="6595304"/>
                    <a:pt x="2776083" y="6804641"/>
                  </a:cubicBezTo>
                  <a:lnTo>
                    <a:pt x="2884836" y="6858000"/>
                  </a:lnTo>
                  <a:lnTo>
                    <a:pt x="1484505" y="6858000"/>
                  </a:lnTo>
                  <a:lnTo>
                    <a:pt x="1431151" y="6811515"/>
                  </a:lnTo>
                  <a:cubicBezTo>
                    <a:pt x="1316128" y="6705919"/>
                    <a:pt x="1206738" y="6594470"/>
                    <a:pt x="1103471" y="6477651"/>
                  </a:cubicBezTo>
                  <a:cubicBezTo>
                    <a:pt x="416075" y="5700097"/>
                    <a:pt x="0" y="4684635"/>
                    <a:pt x="0" y="3573620"/>
                  </a:cubicBezTo>
                  <a:cubicBezTo>
                    <a:pt x="0" y="2121118"/>
                    <a:pt x="711220" y="831902"/>
                    <a:pt x="1809994" y="24133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EE9555AB-2295-4939-AEC9-B2CBFCB4CC7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29061" y="36937"/>
              <a:ext cx="9107210" cy="6858000"/>
            </a:xfrm>
            <a:custGeom>
              <a:avLst/>
              <a:gdLst>
                <a:gd name="connsiteX0" fmla="*/ 6184722 w 9107210"/>
                <a:gd name="connsiteY0" fmla="*/ 0 h 6858000"/>
                <a:gd name="connsiteX1" fmla="*/ 6985680 w 9107210"/>
                <a:gd name="connsiteY1" fmla="*/ 0 h 6858000"/>
                <a:gd name="connsiteX2" fmla="*/ 7324323 w 9107210"/>
                <a:gd name="connsiteY2" fmla="*/ 247136 h 6858000"/>
                <a:gd name="connsiteX3" fmla="*/ 7652712 w 9107210"/>
                <a:gd name="connsiteY3" fmla="*/ 528495 h 6858000"/>
                <a:gd name="connsiteX4" fmla="*/ 8236677 w 9107210"/>
                <a:gd name="connsiteY4" fmla="*/ 1166289 h 6858000"/>
                <a:gd name="connsiteX5" fmla="*/ 8704298 w 9107210"/>
                <a:gd name="connsiteY5" fmla="*/ 1897038 h 6858000"/>
                <a:gd name="connsiteX6" fmla="*/ 8885160 w 9107210"/>
                <a:gd name="connsiteY6" fmla="*/ 2294087 h 6858000"/>
                <a:gd name="connsiteX7" fmla="*/ 8924247 w 9107210"/>
                <a:gd name="connsiteY7" fmla="*/ 2396286 h 6858000"/>
                <a:gd name="connsiteX8" fmla="*/ 8960022 w 9107210"/>
                <a:gd name="connsiteY8" fmla="*/ 2499767 h 6858000"/>
                <a:gd name="connsiteX9" fmla="*/ 8991720 w 9107210"/>
                <a:gd name="connsiteY9" fmla="*/ 2604671 h 6858000"/>
                <a:gd name="connsiteX10" fmla="*/ 9019646 w 9107210"/>
                <a:gd name="connsiteY10" fmla="*/ 2710708 h 6858000"/>
                <a:gd name="connsiteX11" fmla="*/ 9105822 w 9107210"/>
                <a:gd name="connsiteY11" fmla="*/ 3582266 h 6858000"/>
                <a:gd name="connsiteX12" fmla="*/ 9057716 w 9107210"/>
                <a:gd name="connsiteY12" fmla="*/ 4017873 h 6858000"/>
                <a:gd name="connsiteX13" fmla="*/ 8945600 w 9107210"/>
                <a:gd name="connsiteY13" fmla="*/ 4439659 h 6858000"/>
                <a:gd name="connsiteX14" fmla="*/ 8796080 w 9107210"/>
                <a:gd name="connsiteY14" fmla="*/ 4847428 h 6858000"/>
                <a:gd name="connsiteX15" fmla="*/ 8702056 w 9107210"/>
                <a:gd name="connsiteY15" fmla="*/ 5050108 h 6858000"/>
                <a:gd name="connsiteX16" fmla="*/ 8581125 w 9107210"/>
                <a:gd name="connsiteY16" fmla="*/ 5247525 h 6858000"/>
                <a:gd name="connsiteX17" fmla="*/ 8426254 w 9107210"/>
                <a:gd name="connsiteY17" fmla="*/ 5429647 h 6858000"/>
                <a:gd name="connsiteX18" fmla="*/ 8337174 w 9107210"/>
                <a:gd name="connsiteY18" fmla="*/ 5510552 h 6858000"/>
                <a:gd name="connsiteX19" fmla="*/ 8243200 w 9107210"/>
                <a:gd name="connsiteY19" fmla="*/ 5582948 h 6858000"/>
                <a:gd name="connsiteX20" fmla="*/ 7868330 w 9107210"/>
                <a:gd name="connsiteY20" fmla="*/ 5811104 h 6858000"/>
                <a:gd name="connsiteX21" fmla="*/ 7538916 w 9107210"/>
                <a:gd name="connsiteY21" fmla="*/ 6018899 h 6858000"/>
                <a:gd name="connsiteX22" fmla="*/ 7391280 w 9107210"/>
                <a:gd name="connsiteY22" fmla="*/ 6134132 h 6858000"/>
                <a:gd name="connsiteX23" fmla="*/ 7252511 w 9107210"/>
                <a:gd name="connsiteY23" fmla="*/ 6259105 h 6858000"/>
                <a:gd name="connsiteX24" fmla="*/ 7185601 w 9107210"/>
                <a:gd name="connsiteY24" fmla="*/ 6325894 h 6858000"/>
                <a:gd name="connsiteX25" fmla="*/ 7116651 w 9107210"/>
                <a:gd name="connsiteY25" fmla="*/ 6397010 h 6858000"/>
                <a:gd name="connsiteX26" fmla="*/ 6978545 w 9107210"/>
                <a:gd name="connsiteY26" fmla="*/ 6541607 h 6858000"/>
                <a:gd name="connsiteX27" fmla="*/ 6693009 w 9107210"/>
                <a:gd name="connsiteY27" fmla="*/ 6832716 h 6858000"/>
                <a:gd name="connsiteX28" fmla="*/ 6667488 w 9107210"/>
                <a:gd name="connsiteY28" fmla="*/ 6858000 h 6858000"/>
                <a:gd name="connsiteX29" fmla="*/ 6056793 w 9107210"/>
                <a:gd name="connsiteY29" fmla="*/ 6858000 h 6858000"/>
                <a:gd name="connsiteX30" fmla="*/ 6077345 w 9107210"/>
                <a:gd name="connsiteY30" fmla="*/ 6835420 h 6858000"/>
                <a:gd name="connsiteX31" fmla="*/ 6208519 w 9107210"/>
                <a:gd name="connsiteY31" fmla="*/ 6683989 h 6858000"/>
                <a:gd name="connsiteX32" fmla="*/ 6340001 w 9107210"/>
                <a:gd name="connsiteY32" fmla="*/ 6529852 h 6858000"/>
                <a:gd name="connsiteX33" fmla="*/ 6611419 w 9107210"/>
                <a:gd name="connsiteY33" fmla="*/ 6219317 h 6858000"/>
                <a:gd name="connsiteX34" fmla="*/ 6757678 w 9107210"/>
                <a:gd name="connsiteY34" fmla="*/ 6068228 h 6858000"/>
                <a:gd name="connsiteX35" fmla="*/ 6833713 w 9107210"/>
                <a:gd name="connsiteY35" fmla="*/ 5994061 h 6858000"/>
                <a:gd name="connsiteX36" fmla="*/ 6915148 w 9107210"/>
                <a:gd name="connsiteY36" fmla="*/ 5918812 h 6858000"/>
                <a:gd name="connsiteX37" fmla="*/ 7276311 w 9107210"/>
                <a:gd name="connsiteY37" fmla="*/ 5650229 h 6858000"/>
                <a:gd name="connsiteX38" fmla="*/ 7664942 w 9107210"/>
                <a:gd name="connsiteY38" fmla="*/ 5445681 h 6858000"/>
                <a:gd name="connsiteX39" fmla="*/ 7848505 w 9107210"/>
                <a:gd name="connsiteY39" fmla="*/ 5358333 h 6858000"/>
                <a:gd name="connsiteX40" fmla="*/ 8011785 w 9107210"/>
                <a:gd name="connsiteY40" fmla="*/ 5267788 h 6858000"/>
                <a:gd name="connsiteX41" fmla="*/ 8260273 w 9107210"/>
                <a:gd name="connsiteY41" fmla="*/ 5034370 h 6858000"/>
                <a:gd name="connsiteX42" fmla="*/ 8417589 w 9107210"/>
                <a:gd name="connsiteY42" fmla="*/ 4714488 h 6858000"/>
                <a:gd name="connsiteX43" fmla="*/ 8495000 w 9107210"/>
                <a:gd name="connsiteY43" fmla="*/ 4346409 h 6858000"/>
                <a:gd name="connsiteX44" fmla="*/ 8508556 w 9107210"/>
                <a:gd name="connsiteY44" fmla="*/ 3971101 h 6858000"/>
                <a:gd name="connsiteX45" fmla="*/ 8483330 w 9107210"/>
                <a:gd name="connsiteY45" fmla="*/ 3600710 h 6858000"/>
                <a:gd name="connsiteX46" fmla="*/ 8425336 w 9107210"/>
                <a:gd name="connsiteY46" fmla="*/ 3236121 h 6858000"/>
                <a:gd name="connsiteX47" fmla="*/ 8334575 w 9107210"/>
                <a:gd name="connsiteY47" fmla="*/ 2877977 h 6858000"/>
                <a:gd name="connsiteX48" fmla="*/ 8087513 w 9107210"/>
                <a:gd name="connsiteY48" fmla="*/ 2174622 h 6858000"/>
                <a:gd name="connsiteX49" fmla="*/ 7723650 w 9107210"/>
                <a:gd name="connsiteY49" fmla="*/ 1507613 h 6858000"/>
                <a:gd name="connsiteX50" fmla="*/ 7501815 w 9107210"/>
                <a:gd name="connsiteY50" fmla="*/ 1192947 h 6858000"/>
                <a:gd name="connsiteX51" fmla="*/ 7254399 w 9107210"/>
                <a:gd name="connsiteY51" fmla="*/ 894361 h 6858000"/>
                <a:gd name="connsiteX52" fmla="*/ 6689339 w 9107210"/>
                <a:gd name="connsiteY52" fmla="*/ 354046 h 6858000"/>
                <a:gd name="connsiteX53" fmla="*/ 6206651 w 9107210"/>
                <a:gd name="connsiteY53" fmla="*/ 12626 h 6858000"/>
                <a:gd name="connsiteX54" fmla="*/ 1827105 w 9107210"/>
                <a:gd name="connsiteY54" fmla="*/ 0 h 6858000"/>
                <a:gd name="connsiteX55" fmla="*/ 2807607 w 9107210"/>
                <a:gd name="connsiteY55" fmla="*/ 0 h 6858000"/>
                <a:gd name="connsiteX56" fmla="*/ 2667958 w 9107210"/>
                <a:gd name="connsiteY56" fmla="*/ 88235 h 6858000"/>
                <a:gd name="connsiteX57" fmla="*/ 2354723 w 9107210"/>
                <a:gd name="connsiteY57" fmla="*/ 314947 h 6858000"/>
                <a:gd name="connsiteX58" fmla="*/ 2059963 w 9107210"/>
                <a:gd name="connsiteY58" fmla="*/ 561545 h 6858000"/>
                <a:gd name="connsiteX59" fmla="*/ 1780798 w 9107210"/>
                <a:gd name="connsiteY59" fmla="*/ 824425 h 6858000"/>
                <a:gd name="connsiteX60" fmla="*/ 954714 w 9107210"/>
                <a:gd name="connsiteY60" fmla="*/ 2094309 h 6858000"/>
                <a:gd name="connsiteX61" fmla="*/ 732676 w 9107210"/>
                <a:gd name="connsiteY61" fmla="*/ 2813646 h 6858000"/>
                <a:gd name="connsiteX62" fmla="*/ 673867 w 9107210"/>
                <a:gd name="connsiteY62" fmla="*/ 3183989 h 6858000"/>
                <a:gd name="connsiteX63" fmla="*/ 647621 w 9107210"/>
                <a:gd name="connsiteY63" fmla="*/ 3557281 h 6858000"/>
                <a:gd name="connsiteX64" fmla="*/ 653381 w 9107210"/>
                <a:gd name="connsiteY64" fmla="*/ 3931214 h 6858000"/>
                <a:gd name="connsiteX65" fmla="*/ 690428 w 9107210"/>
                <a:gd name="connsiteY65" fmla="*/ 4303719 h 6858000"/>
                <a:gd name="connsiteX66" fmla="*/ 871801 w 9107210"/>
                <a:gd name="connsiteY66" fmla="*/ 5033041 h 6858000"/>
                <a:gd name="connsiteX67" fmla="*/ 1197749 w 9107210"/>
                <a:gd name="connsiteY67" fmla="*/ 5718494 h 6858000"/>
                <a:gd name="connsiteX68" fmla="*/ 1411480 w 9107210"/>
                <a:gd name="connsiteY68" fmla="*/ 6036703 h 6858000"/>
                <a:gd name="connsiteX69" fmla="*/ 1530170 w 9107210"/>
                <a:gd name="connsiteY69" fmla="*/ 6188430 h 6858000"/>
                <a:gd name="connsiteX70" fmla="*/ 1657165 w 9107210"/>
                <a:gd name="connsiteY70" fmla="*/ 6335385 h 6858000"/>
                <a:gd name="connsiteX71" fmla="*/ 1931343 w 9107210"/>
                <a:gd name="connsiteY71" fmla="*/ 6612896 h 6858000"/>
                <a:gd name="connsiteX72" fmla="*/ 2220133 w 9107210"/>
                <a:gd name="connsiteY72" fmla="*/ 6858000 h 6858000"/>
                <a:gd name="connsiteX73" fmla="*/ 1539862 w 9107210"/>
                <a:gd name="connsiteY73" fmla="*/ 6858000 h 6858000"/>
                <a:gd name="connsiteX74" fmla="*/ 1307111 w 9107210"/>
                <a:gd name="connsiteY74" fmla="*/ 6648873 h 6858000"/>
                <a:gd name="connsiteX75" fmla="*/ 750258 w 9107210"/>
                <a:gd name="connsiteY75" fmla="*/ 5987570 h 6858000"/>
                <a:gd name="connsiteX76" fmla="*/ 335382 w 9107210"/>
                <a:gd name="connsiteY76" fmla="*/ 5229279 h 6858000"/>
                <a:gd name="connsiteX77" fmla="*/ 79351 w 9107210"/>
                <a:gd name="connsiteY77" fmla="*/ 4403854 h 6858000"/>
                <a:gd name="connsiteX78" fmla="*/ 16007 w 9107210"/>
                <a:gd name="connsiteY78" fmla="*/ 3975723 h 6858000"/>
                <a:gd name="connsiteX79" fmla="*/ 871 w 9107210"/>
                <a:gd name="connsiteY79" fmla="*/ 3543362 h 6858000"/>
                <a:gd name="connsiteX80" fmla="*/ 32519 w 9107210"/>
                <a:gd name="connsiteY80" fmla="*/ 3112085 h 6858000"/>
                <a:gd name="connsiteX81" fmla="*/ 108502 w 9107210"/>
                <a:gd name="connsiteY81" fmla="*/ 2686511 h 6858000"/>
                <a:gd name="connsiteX82" fmla="*/ 378239 w 9107210"/>
                <a:gd name="connsiteY82" fmla="*/ 1865955 h 6858000"/>
                <a:gd name="connsiteX83" fmla="*/ 1343701 w 9107210"/>
                <a:gd name="connsiteY83" fmla="*/ 431508 h 6858000"/>
                <a:gd name="connsiteX84" fmla="*/ 1661853 w 9107210"/>
                <a:gd name="connsiteY84" fmla="*/ 130268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</a:cxnLst>
              <a:rect l="l" t="t" r="r" b="b"/>
              <a:pathLst>
                <a:path w="9107210" h="6858000">
                  <a:moveTo>
                    <a:pt x="6184722" y="0"/>
                  </a:moveTo>
                  <a:lnTo>
                    <a:pt x="6985680" y="0"/>
                  </a:lnTo>
                  <a:lnTo>
                    <a:pt x="7324323" y="247136"/>
                  </a:lnTo>
                  <a:cubicBezTo>
                    <a:pt x="7437502" y="336500"/>
                    <a:pt x="7547171" y="430254"/>
                    <a:pt x="7652712" y="528495"/>
                  </a:cubicBezTo>
                  <a:cubicBezTo>
                    <a:pt x="7863743" y="724929"/>
                    <a:pt x="8060097" y="937593"/>
                    <a:pt x="8236677" y="1166289"/>
                  </a:cubicBezTo>
                  <a:cubicBezTo>
                    <a:pt x="8413818" y="1394594"/>
                    <a:pt x="8570168" y="1639471"/>
                    <a:pt x="8704298" y="1897038"/>
                  </a:cubicBezTo>
                  <a:cubicBezTo>
                    <a:pt x="8770803" y="2026141"/>
                    <a:pt x="8830836" y="2158786"/>
                    <a:pt x="8885160" y="2294087"/>
                  </a:cubicBezTo>
                  <a:cubicBezTo>
                    <a:pt x="8898360" y="2328071"/>
                    <a:pt x="8912169" y="2361810"/>
                    <a:pt x="8924247" y="2396286"/>
                  </a:cubicBezTo>
                  <a:lnTo>
                    <a:pt x="8960022" y="2499767"/>
                  </a:lnTo>
                  <a:lnTo>
                    <a:pt x="8991720" y="2604671"/>
                  </a:lnTo>
                  <a:cubicBezTo>
                    <a:pt x="9002116" y="2639690"/>
                    <a:pt x="9010474" y="2675346"/>
                    <a:pt x="9019646" y="2710708"/>
                  </a:cubicBezTo>
                  <a:cubicBezTo>
                    <a:pt x="9089055" y="2995079"/>
                    <a:pt x="9113620" y="3289927"/>
                    <a:pt x="9105822" y="3582266"/>
                  </a:cubicBezTo>
                  <a:cubicBezTo>
                    <a:pt x="9101796" y="3728484"/>
                    <a:pt x="9085744" y="3874458"/>
                    <a:pt x="9057716" y="4017873"/>
                  </a:cubicBezTo>
                  <a:cubicBezTo>
                    <a:pt x="9029534" y="4161336"/>
                    <a:pt x="8990497" y="4302046"/>
                    <a:pt x="8945600" y="4439659"/>
                  </a:cubicBezTo>
                  <a:cubicBezTo>
                    <a:pt x="8900857" y="4577566"/>
                    <a:pt x="8852901" y="4711784"/>
                    <a:pt x="8796080" y="4847428"/>
                  </a:cubicBezTo>
                  <a:cubicBezTo>
                    <a:pt x="8767695" y="4915152"/>
                    <a:pt x="8737016" y="4982926"/>
                    <a:pt x="8702056" y="5050108"/>
                  </a:cubicBezTo>
                  <a:cubicBezTo>
                    <a:pt x="8666485" y="5116997"/>
                    <a:pt x="8627347" y="5183687"/>
                    <a:pt x="8581125" y="5247525"/>
                  </a:cubicBezTo>
                  <a:cubicBezTo>
                    <a:pt x="8535565" y="5311660"/>
                    <a:pt x="8483534" y="5373185"/>
                    <a:pt x="8426254" y="5429647"/>
                  </a:cubicBezTo>
                  <a:cubicBezTo>
                    <a:pt x="8397512" y="5457779"/>
                    <a:pt x="8367801" y="5484879"/>
                    <a:pt x="8337174" y="5510552"/>
                  </a:cubicBezTo>
                  <a:cubicBezTo>
                    <a:pt x="8306444" y="5536077"/>
                    <a:pt x="8274899" y="5560029"/>
                    <a:pt x="8243200" y="5582948"/>
                  </a:cubicBezTo>
                  <a:cubicBezTo>
                    <a:pt x="8115543" y="5674574"/>
                    <a:pt x="7986203" y="5743233"/>
                    <a:pt x="7868330" y="5811104"/>
                  </a:cubicBezTo>
                  <a:cubicBezTo>
                    <a:pt x="7749844" y="5878385"/>
                    <a:pt x="7640685" y="5945126"/>
                    <a:pt x="7538916" y="6018899"/>
                  </a:cubicBezTo>
                  <a:cubicBezTo>
                    <a:pt x="7487749" y="6055392"/>
                    <a:pt x="7438777" y="6093950"/>
                    <a:pt x="7391280" y="6134132"/>
                  </a:cubicBezTo>
                  <a:cubicBezTo>
                    <a:pt x="7343427" y="6173921"/>
                    <a:pt x="7297511" y="6215922"/>
                    <a:pt x="7252511" y="6259105"/>
                  </a:cubicBezTo>
                  <a:cubicBezTo>
                    <a:pt x="7229784" y="6280990"/>
                    <a:pt x="7208635" y="6302433"/>
                    <a:pt x="7185601" y="6325894"/>
                  </a:cubicBezTo>
                  <a:lnTo>
                    <a:pt x="7116651" y="6397010"/>
                  </a:lnTo>
                  <a:lnTo>
                    <a:pt x="6978545" y="6541607"/>
                  </a:lnTo>
                  <a:cubicBezTo>
                    <a:pt x="6885693" y="6638397"/>
                    <a:pt x="6789885" y="6734943"/>
                    <a:pt x="6693009" y="6832716"/>
                  </a:cubicBezTo>
                  <a:lnTo>
                    <a:pt x="6667488" y="6858000"/>
                  </a:lnTo>
                  <a:lnTo>
                    <a:pt x="6056793" y="6858000"/>
                  </a:lnTo>
                  <a:lnTo>
                    <a:pt x="6077345" y="6835420"/>
                  </a:lnTo>
                  <a:cubicBezTo>
                    <a:pt x="6121427" y="6785747"/>
                    <a:pt x="6164948" y="6735090"/>
                    <a:pt x="6208519" y="6683989"/>
                  </a:cubicBezTo>
                  <a:lnTo>
                    <a:pt x="6340001" y="6529852"/>
                  </a:lnTo>
                  <a:cubicBezTo>
                    <a:pt x="6428315" y="6426667"/>
                    <a:pt x="6516733" y="6321417"/>
                    <a:pt x="6611419" y="6219317"/>
                  </a:cubicBezTo>
                  <a:cubicBezTo>
                    <a:pt x="6658864" y="6168363"/>
                    <a:pt x="6707584" y="6117950"/>
                    <a:pt x="6757678" y="6068228"/>
                  </a:cubicBezTo>
                  <a:lnTo>
                    <a:pt x="6833713" y="5994061"/>
                  </a:lnTo>
                  <a:cubicBezTo>
                    <a:pt x="6859346" y="5969422"/>
                    <a:pt x="6887579" y="5943404"/>
                    <a:pt x="6915148" y="5918812"/>
                  </a:cubicBezTo>
                  <a:cubicBezTo>
                    <a:pt x="7026295" y="5819219"/>
                    <a:pt x="7148602" y="5729117"/>
                    <a:pt x="7276311" y="5650229"/>
                  </a:cubicBezTo>
                  <a:cubicBezTo>
                    <a:pt x="7403918" y="5571046"/>
                    <a:pt x="7537794" y="5505190"/>
                    <a:pt x="7664942" y="5445681"/>
                  </a:cubicBezTo>
                  <a:cubicBezTo>
                    <a:pt x="7728491" y="5416024"/>
                    <a:pt x="7790410" y="5387449"/>
                    <a:pt x="7848505" y="5358333"/>
                  </a:cubicBezTo>
                  <a:cubicBezTo>
                    <a:pt x="7906805" y="5329315"/>
                    <a:pt x="7961843" y="5300101"/>
                    <a:pt x="8011785" y="5267788"/>
                  </a:cubicBezTo>
                  <a:cubicBezTo>
                    <a:pt x="8112281" y="5203950"/>
                    <a:pt x="8193615" y="5128111"/>
                    <a:pt x="8260273" y="5034370"/>
                  </a:cubicBezTo>
                  <a:cubicBezTo>
                    <a:pt x="8326370" y="4940776"/>
                    <a:pt x="8378657" y="4831640"/>
                    <a:pt x="8417589" y="4714488"/>
                  </a:cubicBezTo>
                  <a:cubicBezTo>
                    <a:pt x="8456372" y="4597485"/>
                    <a:pt x="8481140" y="4471332"/>
                    <a:pt x="8495000" y="4346409"/>
                  </a:cubicBezTo>
                  <a:cubicBezTo>
                    <a:pt x="8508404" y="4221044"/>
                    <a:pt x="8511359" y="4095482"/>
                    <a:pt x="8508556" y="3971101"/>
                  </a:cubicBezTo>
                  <a:cubicBezTo>
                    <a:pt x="8504530" y="3846571"/>
                    <a:pt x="8495663" y="3723222"/>
                    <a:pt x="8483330" y="3600710"/>
                  </a:cubicBezTo>
                  <a:cubicBezTo>
                    <a:pt x="8470793" y="3478148"/>
                    <a:pt x="8451888" y="3356421"/>
                    <a:pt x="8425336" y="3236121"/>
                  </a:cubicBezTo>
                  <a:cubicBezTo>
                    <a:pt x="8399091" y="3115774"/>
                    <a:pt x="8367801" y="2996655"/>
                    <a:pt x="8334575" y="2877977"/>
                  </a:cubicBezTo>
                  <a:cubicBezTo>
                    <a:pt x="8268222" y="2640772"/>
                    <a:pt x="8190100" y="2404057"/>
                    <a:pt x="8087513" y="2174622"/>
                  </a:cubicBezTo>
                  <a:cubicBezTo>
                    <a:pt x="7985081" y="1945237"/>
                    <a:pt x="7863233" y="1721900"/>
                    <a:pt x="7723650" y="1507613"/>
                  </a:cubicBezTo>
                  <a:cubicBezTo>
                    <a:pt x="7653527" y="1400692"/>
                    <a:pt x="7579684" y="1295589"/>
                    <a:pt x="7501815" y="1192947"/>
                  </a:cubicBezTo>
                  <a:cubicBezTo>
                    <a:pt x="7423844" y="1090353"/>
                    <a:pt x="7340778" y="991103"/>
                    <a:pt x="7254399" y="894361"/>
                  </a:cubicBezTo>
                  <a:cubicBezTo>
                    <a:pt x="7082047" y="700485"/>
                    <a:pt x="6893083" y="519052"/>
                    <a:pt x="6689339" y="354046"/>
                  </a:cubicBezTo>
                  <a:cubicBezTo>
                    <a:pt x="6536914" y="229775"/>
                    <a:pt x="6375602" y="115325"/>
                    <a:pt x="6206651" y="12626"/>
                  </a:cubicBezTo>
                  <a:close/>
                  <a:moveTo>
                    <a:pt x="1827105" y="0"/>
                  </a:moveTo>
                  <a:lnTo>
                    <a:pt x="2807607" y="0"/>
                  </a:lnTo>
                  <a:lnTo>
                    <a:pt x="2667958" y="88235"/>
                  </a:lnTo>
                  <a:cubicBezTo>
                    <a:pt x="2560098" y="159777"/>
                    <a:pt x="2455754" y="235690"/>
                    <a:pt x="2354723" y="314947"/>
                  </a:cubicBezTo>
                  <a:cubicBezTo>
                    <a:pt x="2253464" y="394030"/>
                    <a:pt x="2156943" y="478181"/>
                    <a:pt x="2059963" y="561545"/>
                  </a:cubicBezTo>
                  <a:cubicBezTo>
                    <a:pt x="1962831" y="644811"/>
                    <a:pt x="1868297" y="731322"/>
                    <a:pt x="1780798" y="824425"/>
                  </a:cubicBezTo>
                  <a:cubicBezTo>
                    <a:pt x="1429010" y="1195013"/>
                    <a:pt x="1148011" y="1628455"/>
                    <a:pt x="954714" y="2094309"/>
                  </a:cubicBezTo>
                  <a:cubicBezTo>
                    <a:pt x="857938" y="2327186"/>
                    <a:pt x="783229" y="2568326"/>
                    <a:pt x="732676" y="2813646"/>
                  </a:cubicBezTo>
                  <a:cubicBezTo>
                    <a:pt x="707552" y="2936307"/>
                    <a:pt x="688085" y="3059952"/>
                    <a:pt x="673867" y="3183989"/>
                  </a:cubicBezTo>
                  <a:cubicBezTo>
                    <a:pt x="660056" y="3308075"/>
                    <a:pt x="651341" y="3432605"/>
                    <a:pt x="647621" y="3557281"/>
                  </a:cubicBezTo>
                  <a:cubicBezTo>
                    <a:pt x="644411" y="3681958"/>
                    <a:pt x="645329" y="3806733"/>
                    <a:pt x="653381" y="3931214"/>
                  </a:cubicBezTo>
                  <a:cubicBezTo>
                    <a:pt x="659852" y="4055792"/>
                    <a:pt x="672949" y="4179977"/>
                    <a:pt x="690428" y="4303719"/>
                  </a:cubicBezTo>
                  <a:cubicBezTo>
                    <a:pt x="726408" y="4551057"/>
                    <a:pt x="786440" y="4795835"/>
                    <a:pt x="871801" y="5033041"/>
                  </a:cubicBezTo>
                  <a:cubicBezTo>
                    <a:pt x="957007" y="5270247"/>
                    <a:pt x="1065962" y="5500322"/>
                    <a:pt x="1197749" y="5718494"/>
                  </a:cubicBezTo>
                  <a:cubicBezTo>
                    <a:pt x="1263846" y="5827433"/>
                    <a:pt x="1334937" y="5933813"/>
                    <a:pt x="1411480" y="6036703"/>
                  </a:cubicBezTo>
                  <a:cubicBezTo>
                    <a:pt x="1449548" y="6088295"/>
                    <a:pt x="1489451" y="6138609"/>
                    <a:pt x="1530170" y="6188430"/>
                  </a:cubicBezTo>
                  <a:cubicBezTo>
                    <a:pt x="1571447" y="6238055"/>
                    <a:pt x="1613644" y="6287336"/>
                    <a:pt x="1657165" y="6335385"/>
                  </a:cubicBezTo>
                  <a:cubicBezTo>
                    <a:pt x="1744079" y="6431708"/>
                    <a:pt x="1835644" y="6524282"/>
                    <a:pt x="1931343" y="6612896"/>
                  </a:cubicBezTo>
                  <a:lnTo>
                    <a:pt x="2220133" y="6858000"/>
                  </a:lnTo>
                  <a:lnTo>
                    <a:pt x="1539862" y="6858000"/>
                  </a:lnTo>
                  <a:lnTo>
                    <a:pt x="1307111" y="6648873"/>
                  </a:lnTo>
                  <a:cubicBezTo>
                    <a:pt x="1101839" y="6448063"/>
                    <a:pt x="913180" y="6225465"/>
                    <a:pt x="750258" y="5987570"/>
                  </a:cubicBezTo>
                  <a:cubicBezTo>
                    <a:pt x="587232" y="5749281"/>
                    <a:pt x="448261" y="5494813"/>
                    <a:pt x="335382" y="5229279"/>
                  </a:cubicBezTo>
                  <a:cubicBezTo>
                    <a:pt x="222298" y="4963793"/>
                    <a:pt x="137040" y="4686652"/>
                    <a:pt x="79351" y="4403854"/>
                  </a:cubicBezTo>
                  <a:cubicBezTo>
                    <a:pt x="50150" y="4262456"/>
                    <a:pt x="29767" y="4119385"/>
                    <a:pt x="16007" y="3975723"/>
                  </a:cubicBezTo>
                  <a:cubicBezTo>
                    <a:pt x="3930" y="3831964"/>
                    <a:pt x="-2441" y="3687614"/>
                    <a:pt x="871" y="3543362"/>
                  </a:cubicBezTo>
                  <a:cubicBezTo>
                    <a:pt x="3522" y="3399160"/>
                    <a:pt x="14172" y="3255105"/>
                    <a:pt x="32519" y="3112085"/>
                  </a:cubicBezTo>
                  <a:cubicBezTo>
                    <a:pt x="50508" y="2969014"/>
                    <a:pt x="76090" y="2826925"/>
                    <a:pt x="108502" y="2686511"/>
                  </a:cubicBezTo>
                  <a:cubicBezTo>
                    <a:pt x="173019" y="2405533"/>
                    <a:pt x="263474" y="2130703"/>
                    <a:pt x="378239" y="1865955"/>
                  </a:cubicBezTo>
                  <a:cubicBezTo>
                    <a:pt x="607922" y="1336607"/>
                    <a:pt x="935706" y="848228"/>
                    <a:pt x="1343701" y="431508"/>
                  </a:cubicBezTo>
                  <a:cubicBezTo>
                    <a:pt x="1446133" y="327783"/>
                    <a:pt x="1550910" y="225926"/>
                    <a:pt x="1661853" y="130268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97499201-5A2C-48B3-9B02-5519B882945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18434" y="36937"/>
              <a:ext cx="9747620" cy="6858000"/>
            </a:xfrm>
            <a:custGeom>
              <a:avLst/>
              <a:gdLst>
                <a:gd name="connsiteX0" fmla="*/ 7235453 w 9747620"/>
                <a:gd name="connsiteY0" fmla="*/ 0 h 6858000"/>
                <a:gd name="connsiteX1" fmla="*/ 7548130 w 9747620"/>
                <a:gd name="connsiteY1" fmla="*/ 0 h 6858000"/>
                <a:gd name="connsiteX2" fmla="*/ 7710334 w 9747620"/>
                <a:gd name="connsiteY2" fmla="*/ 111973 h 6858000"/>
                <a:gd name="connsiteX3" fmla="*/ 7889188 w 9747620"/>
                <a:gd name="connsiteY3" fmla="*/ 251542 h 6858000"/>
                <a:gd name="connsiteX4" fmla="*/ 8061828 w 9747620"/>
                <a:gd name="connsiteY4" fmla="*/ 398586 h 6858000"/>
                <a:gd name="connsiteX5" fmla="*/ 8145637 w 9747620"/>
                <a:gd name="connsiteY5" fmla="*/ 474218 h 6858000"/>
                <a:gd name="connsiteX6" fmla="*/ 8187242 w 9747620"/>
                <a:gd name="connsiteY6" fmla="*/ 512753 h 6858000"/>
                <a:gd name="connsiteX7" fmla="*/ 8228402 w 9747620"/>
                <a:gd name="connsiteY7" fmla="*/ 551575 h 6858000"/>
                <a:gd name="connsiteX8" fmla="*/ 8389211 w 9747620"/>
                <a:gd name="connsiteY8" fmla="*/ 710937 h 6858000"/>
                <a:gd name="connsiteX9" fmla="*/ 8467206 w 9747620"/>
                <a:gd name="connsiteY9" fmla="*/ 793088 h 6858000"/>
                <a:gd name="connsiteX10" fmla="*/ 8486791 w 9747620"/>
                <a:gd name="connsiteY10" fmla="*/ 814223 h 6858000"/>
                <a:gd name="connsiteX11" fmla="*/ 8505979 w 9747620"/>
                <a:gd name="connsiteY11" fmla="*/ 835409 h 6858000"/>
                <a:gd name="connsiteX12" fmla="*/ 8543509 w 9747620"/>
                <a:gd name="connsiteY12" fmla="*/ 877346 h 6858000"/>
                <a:gd name="connsiteX13" fmla="*/ 8690549 w 9747620"/>
                <a:gd name="connsiteY13" fmla="*/ 1048978 h 6858000"/>
                <a:gd name="connsiteX14" fmla="*/ 8761732 w 9747620"/>
                <a:gd name="connsiteY14" fmla="*/ 1137502 h 6858000"/>
                <a:gd name="connsiteX15" fmla="*/ 8796379 w 9747620"/>
                <a:gd name="connsiteY15" fmla="*/ 1182077 h 6858000"/>
                <a:gd name="connsiteX16" fmla="*/ 8830678 w 9747620"/>
                <a:gd name="connsiteY16" fmla="*/ 1226986 h 6858000"/>
                <a:gd name="connsiteX17" fmla="*/ 8963353 w 9747620"/>
                <a:gd name="connsiteY17" fmla="*/ 1410936 h 6858000"/>
                <a:gd name="connsiteX18" fmla="*/ 9026483 w 9747620"/>
                <a:gd name="connsiteY18" fmla="*/ 1505499 h 6858000"/>
                <a:gd name="connsiteX19" fmla="*/ 9057004 w 9747620"/>
                <a:gd name="connsiteY19" fmla="*/ 1552613 h 6858000"/>
                <a:gd name="connsiteX20" fmla="*/ 9087278 w 9747620"/>
                <a:gd name="connsiteY20" fmla="*/ 1600542 h 6858000"/>
                <a:gd name="connsiteX21" fmla="*/ 9202851 w 9747620"/>
                <a:gd name="connsiteY21" fmla="*/ 1795515 h 6858000"/>
                <a:gd name="connsiteX22" fmla="*/ 9257332 w 9747620"/>
                <a:gd name="connsiteY22" fmla="*/ 1894920 h 6858000"/>
                <a:gd name="connsiteX23" fmla="*/ 9283778 w 9747620"/>
                <a:gd name="connsiteY23" fmla="*/ 1945436 h 6858000"/>
                <a:gd name="connsiteX24" fmla="*/ 9309428 w 9747620"/>
                <a:gd name="connsiteY24" fmla="*/ 1996193 h 6858000"/>
                <a:gd name="connsiteX25" fmla="*/ 9405714 w 9747620"/>
                <a:gd name="connsiteY25" fmla="*/ 2202191 h 6858000"/>
                <a:gd name="connsiteX26" fmla="*/ 9566524 w 9747620"/>
                <a:gd name="connsiteY26" fmla="*/ 2627653 h 6858000"/>
                <a:gd name="connsiteX27" fmla="*/ 9583573 w 9747620"/>
                <a:gd name="connsiteY27" fmla="*/ 2682195 h 6858000"/>
                <a:gd name="connsiteX28" fmla="*/ 9591974 w 9747620"/>
                <a:gd name="connsiteY28" fmla="*/ 2709707 h 6858000"/>
                <a:gd name="connsiteX29" fmla="*/ 9600027 w 9747620"/>
                <a:gd name="connsiteY29" fmla="*/ 2737650 h 6858000"/>
                <a:gd name="connsiteX30" fmla="*/ 9629803 w 9747620"/>
                <a:gd name="connsiteY30" fmla="*/ 2847694 h 6858000"/>
                <a:gd name="connsiteX31" fmla="*/ 9679909 w 9747620"/>
                <a:gd name="connsiteY31" fmla="*/ 3070131 h 6858000"/>
                <a:gd name="connsiteX32" fmla="*/ 9690498 w 9747620"/>
                <a:gd name="connsiteY32" fmla="*/ 3126159 h 6858000"/>
                <a:gd name="connsiteX33" fmla="*/ 9700390 w 9747620"/>
                <a:gd name="connsiteY33" fmla="*/ 3181805 h 6858000"/>
                <a:gd name="connsiteX34" fmla="*/ 9709685 w 9747620"/>
                <a:gd name="connsiteY34" fmla="*/ 3243392 h 6858000"/>
                <a:gd name="connsiteX35" fmla="*/ 9713016 w 9747620"/>
                <a:gd name="connsiteY35" fmla="*/ 3267597 h 6858000"/>
                <a:gd name="connsiteX36" fmla="*/ 9716844 w 9747620"/>
                <a:gd name="connsiteY36" fmla="*/ 3294437 h 6858000"/>
                <a:gd name="connsiteX37" fmla="*/ 9720820 w 9747620"/>
                <a:gd name="connsiteY37" fmla="*/ 3324488 h 6858000"/>
                <a:gd name="connsiteX38" fmla="*/ 9722709 w 9747620"/>
                <a:gd name="connsiteY38" fmla="*/ 3340737 h 6858000"/>
                <a:gd name="connsiteX39" fmla="*/ 9724301 w 9747620"/>
                <a:gd name="connsiteY39" fmla="*/ 3356361 h 6858000"/>
                <a:gd name="connsiteX40" fmla="*/ 9730166 w 9747620"/>
                <a:gd name="connsiteY40" fmla="*/ 3412197 h 6858000"/>
                <a:gd name="connsiteX41" fmla="*/ 9735783 w 9747620"/>
                <a:gd name="connsiteY41" fmla="*/ 3468083 h 6858000"/>
                <a:gd name="connsiteX42" fmla="*/ 9739760 w 9747620"/>
                <a:gd name="connsiteY42" fmla="*/ 3524399 h 6858000"/>
                <a:gd name="connsiteX43" fmla="*/ 9741748 w 9747620"/>
                <a:gd name="connsiteY43" fmla="*/ 3552580 h 6858000"/>
                <a:gd name="connsiteX44" fmla="*/ 9742742 w 9747620"/>
                <a:gd name="connsiteY44" fmla="*/ 3566672 h 6858000"/>
                <a:gd name="connsiteX45" fmla="*/ 9743488 w 9747620"/>
                <a:gd name="connsiteY45" fmla="*/ 3581865 h 6858000"/>
                <a:gd name="connsiteX46" fmla="*/ 9744731 w 9747620"/>
                <a:gd name="connsiteY46" fmla="*/ 3611341 h 6858000"/>
                <a:gd name="connsiteX47" fmla="*/ 9745725 w 9747620"/>
                <a:gd name="connsiteY47" fmla="*/ 3639715 h 6858000"/>
                <a:gd name="connsiteX48" fmla="*/ 9747613 w 9747620"/>
                <a:gd name="connsiteY48" fmla="*/ 3753786 h 6858000"/>
                <a:gd name="connsiteX49" fmla="*/ 9740405 w 9747620"/>
                <a:gd name="connsiteY49" fmla="*/ 3984609 h 6858000"/>
                <a:gd name="connsiteX50" fmla="*/ 9736329 w 9747620"/>
                <a:gd name="connsiteY50" fmla="*/ 4038434 h 6858000"/>
                <a:gd name="connsiteX51" fmla="*/ 9731408 w 9747620"/>
                <a:gd name="connsiteY51" fmla="*/ 4099446 h 6858000"/>
                <a:gd name="connsiteX52" fmla="*/ 9717987 w 9747620"/>
                <a:gd name="connsiteY52" fmla="*/ 4213325 h 6858000"/>
                <a:gd name="connsiteX53" fmla="*/ 9716297 w 9747620"/>
                <a:gd name="connsiteY53" fmla="*/ 4227129 h 6858000"/>
                <a:gd name="connsiteX54" fmla="*/ 9714110 w 9747620"/>
                <a:gd name="connsiteY54" fmla="*/ 4240981 h 6858000"/>
                <a:gd name="connsiteX55" fmla="*/ 9709785 w 9747620"/>
                <a:gd name="connsiteY55" fmla="*/ 4268731 h 6858000"/>
                <a:gd name="connsiteX56" fmla="*/ 9701086 w 9747620"/>
                <a:gd name="connsiteY56" fmla="*/ 4324185 h 6858000"/>
                <a:gd name="connsiteX57" fmla="*/ 9698699 w 9747620"/>
                <a:gd name="connsiteY57" fmla="*/ 4338994 h 6858000"/>
                <a:gd name="connsiteX58" fmla="*/ 9695966 w 9747620"/>
                <a:gd name="connsiteY58" fmla="*/ 4355050 h 6858000"/>
                <a:gd name="connsiteX59" fmla="*/ 9690299 w 9747620"/>
                <a:gd name="connsiteY59" fmla="*/ 4385054 h 6858000"/>
                <a:gd name="connsiteX60" fmla="*/ 9679909 w 9747620"/>
                <a:gd name="connsiteY60" fmla="*/ 4437919 h 6858000"/>
                <a:gd name="connsiteX61" fmla="*/ 9673647 w 9747620"/>
                <a:gd name="connsiteY61" fmla="*/ 4468162 h 6858000"/>
                <a:gd name="connsiteX62" fmla="*/ 9667532 w 9747620"/>
                <a:gd name="connsiteY62" fmla="*/ 4496296 h 6858000"/>
                <a:gd name="connsiteX63" fmla="*/ 9654658 w 9747620"/>
                <a:gd name="connsiteY63" fmla="*/ 4552277 h 6858000"/>
                <a:gd name="connsiteX64" fmla="*/ 9625876 w 9747620"/>
                <a:gd name="connsiteY64" fmla="*/ 4664478 h 6858000"/>
                <a:gd name="connsiteX65" fmla="*/ 9552803 w 9747620"/>
                <a:gd name="connsiteY65" fmla="*/ 4888737 h 6858000"/>
                <a:gd name="connsiteX66" fmla="*/ 9452639 w 9747620"/>
                <a:gd name="connsiteY66" fmla="*/ 5110934 h 6858000"/>
                <a:gd name="connsiteX67" fmla="*/ 9388017 w 9747620"/>
                <a:gd name="connsiteY67" fmla="*/ 5220020 h 6858000"/>
                <a:gd name="connsiteX68" fmla="*/ 9370073 w 9747620"/>
                <a:gd name="connsiteY68" fmla="*/ 5246811 h 6858000"/>
                <a:gd name="connsiteX69" fmla="*/ 9360926 w 9747620"/>
                <a:gd name="connsiteY69" fmla="*/ 5260040 h 6858000"/>
                <a:gd name="connsiteX70" fmla="*/ 9351829 w 9747620"/>
                <a:gd name="connsiteY70" fmla="*/ 5272646 h 6858000"/>
                <a:gd name="connsiteX71" fmla="*/ 9313305 w 9747620"/>
                <a:gd name="connsiteY71" fmla="*/ 5323881 h 6858000"/>
                <a:gd name="connsiteX72" fmla="*/ 9130375 w 9747620"/>
                <a:gd name="connsiteY72" fmla="*/ 5510802 h 6858000"/>
                <a:gd name="connsiteX73" fmla="*/ 9028422 w 9747620"/>
                <a:gd name="connsiteY73" fmla="*/ 5588878 h 6858000"/>
                <a:gd name="connsiteX74" fmla="*/ 9002424 w 9747620"/>
                <a:gd name="connsiteY74" fmla="*/ 5606707 h 6858000"/>
                <a:gd name="connsiteX75" fmla="*/ 8976525 w 9747620"/>
                <a:gd name="connsiteY75" fmla="*/ 5623866 h 6858000"/>
                <a:gd name="connsiteX76" fmla="*/ 8924181 w 9747620"/>
                <a:gd name="connsiteY76" fmla="*/ 5656793 h 6858000"/>
                <a:gd name="connsiteX77" fmla="*/ 8717291 w 9747620"/>
                <a:gd name="connsiteY77" fmla="*/ 5771582 h 6858000"/>
                <a:gd name="connsiteX78" fmla="*/ 8617129 w 9747620"/>
                <a:gd name="connsiteY78" fmla="*/ 5823105 h 6858000"/>
                <a:gd name="connsiteX79" fmla="*/ 8518207 w 9747620"/>
                <a:gd name="connsiteY79" fmla="*/ 5873671 h 6858000"/>
                <a:gd name="connsiteX80" fmla="*/ 8150558 w 9747620"/>
                <a:gd name="connsiteY80" fmla="*/ 6086761 h 6858000"/>
                <a:gd name="connsiteX81" fmla="*/ 7979410 w 9747620"/>
                <a:gd name="connsiteY81" fmla="*/ 6207158 h 6858000"/>
                <a:gd name="connsiteX82" fmla="*/ 7938300 w 9747620"/>
                <a:gd name="connsiteY82" fmla="*/ 6238887 h 6858000"/>
                <a:gd name="connsiteX83" fmla="*/ 7897936 w 9747620"/>
                <a:gd name="connsiteY83" fmla="*/ 6271286 h 6858000"/>
                <a:gd name="connsiteX84" fmla="*/ 7858367 w 9747620"/>
                <a:gd name="connsiteY84" fmla="*/ 6304357 h 6858000"/>
                <a:gd name="connsiteX85" fmla="*/ 7819048 w 9747620"/>
                <a:gd name="connsiteY85" fmla="*/ 6338770 h 6858000"/>
                <a:gd name="connsiteX86" fmla="*/ 7778882 w 9747620"/>
                <a:gd name="connsiteY86" fmla="*/ 6374477 h 6858000"/>
                <a:gd name="connsiteX87" fmla="*/ 7739563 w 9747620"/>
                <a:gd name="connsiteY87" fmla="*/ 6410328 h 6858000"/>
                <a:gd name="connsiteX88" fmla="*/ 7660824 w 9747620"/>
                <a:gd name="connsiteY88" fmla="*/ 6484138 h 6858000"/>
                <a:gd name="connsiteX89" fmla="*/ 7502302 w 9747620"/>
                <a:gd name="connsiteY89" fmla="*/ 6636360 h 6858000"/>
                <a:gd name="connsiteX90" fmla="*/ 7273394 w 9747620"/>
                <a:gd name="connsiteY90" fmla="*/ 6858000 h 6858000"/>
                <a:gd name="connsiteX91" fmla="*/ 6780690 w 9747620"/>
                <a:gd name="connsiteY91" fmla="*/ 6858000 h 6858000"/>
                <a:gd name="connsiteX92" fmla="*/ 6854939 w 9747620"/>
                <a:gd name="connsiteY92" fmla="*/ 6783597 h 6858000"/>
                <a:gd name="connsiteX93" fmla="*/ 6932087 w 9747620"/>
                <a:gd name="connsiteY93" fmla="*/ 6705809 h 6858000"/>
                <a:gd name="connsiteX94" fmla="*/ 7241130 w 9747620"/>
                <a:gd name="connsiteY94" fmla="*/ 6390965 h 6858000"/>
                <a:gd name="connsiteX95" fmla="*/ 7397564 w 9747620"/>
                <a:gd name="connsiteY95" fmla="*/ 6233087 h 6858000"/>
                <a:gd name="connsiteX96" fmla="*/ 7478142 w 9747620"/>
                <a:gd name="connsiteY96" fmla="*/ 6153670 h 6858000"/>
                <a:gd name="connsiteX97" fmla="*/ 7519600 w 9747620"/>
                <a:gd name="connsiteY97" fmla="*/ 6113937 h 6858000"/>
                <a:gd name="connsiteX98" fmla="*/ 7561207 w 9747620"/>
                <a:gd name="connsiteY98" fmla="*/ 6075067 h 6858000"/>
                <a:gd name="connsiteX99" fmla="*/ 7604204 w 9747620"/>
                <a:gd name="connsiteY99" fmla="*/ 6035526 h 6858000"/>
                <a:gd name="connsiteX100" fmla="*/ 7648644 w 9747620"/>
                <a:gd name="connsiteY100" fmla="*/ 5996416 h 6858000"/>
                <a:gd name="connsiteX101" fmla="*/ 7693830 w 9747620"/>
                <a:gd name="connsiteY101" fmla="*/ 5958264 h 6858000"/>
                <a:gd name="connsiteX102" fmla="*/ 7739662 w 9747620"/>
                <a:gd name="connsiteY102" fmla="*/ 5921073 h 6858000"/>
                <a:gd name="connsiteX103" fmla="*/ 7928458 w 9747620"/>
                <a:gd name="connsiteY103" fmla="*/ 5781025 h 6858000"/>
                <a:gd name="connsiteX104" fmla="*/ 8325882 w 9747620"/>
                <a:gd name="connsiteY104" fmla="*/ 5537450 h 6858000"/>
                <a:gd name="connsiteX105" fmla="*/ 8424555 w 9747620"/>
                <a:gd name="connsiteY105" fmla="*/ 5484106 h 6858000"/>
                <a:gd name="connsiteX106" fmla="*/ 8521737 w 9747620"/>
                <a:gd name="connsiteY106" fmla="*/ 5431289 h 6858000"/>
                <a:gd name="connsiteX107" fmla="*/ 8702677 w 9747620"/>
                <a:gd name="connsiteY107" fmla="*/ 5325942 h 6858000"/>
                <a:gd name="connsiteX108" fmla="*/ 8743986 w 9747620"/>
                <a:gd name="connsiteY108" fmla="*/ 5298717 h 6858000"/>
                <a:gd name="connsiteX109" fmla="*/ 8764167 w 9747620"/>
                <a:gd name="connsiteY109" fmla="*/ 5284723 h 6858000"/>
                <a:gd name="connsiteX110" fmla="*/ 8783704 w 9747620"/>
                <a:gd name="connsiteY110" fmla="*/ 5270679 h 6858000"/>
                <a:gd name="connsiteX111" fmla="*/ 8856776 w 9747620"/>
                <a:gd name="connsiteY111" fmla="*/ 5212399 h 6858000"/>
                <a:gd name="connsiteX112" fmla="*/ 8979856 w 9747620"/>
                <a:gd name="connsiteY112" fmla="*/ 5082081 h 6858000"/>
                <a:gd name="connsiteX113" fmla="*/ 9006699 w 9747620"/>
                <a:gd name="connsiteY113" fmla="*/ 5044984 h 6858000"/>
                <a:gd name="connsiteX114" fmla="*/ 9013509 w 9747620"/>
                <a:gd name="connsiteY114" fmla="*/ 5035254 h 6858000"/>
                <a:gd name="connsiteX115" fmla="*/ 9019773 w 9747620"/>
                <a:gd name="connsiteY115" fmla="*/ 5025812 h 6858000"/>
                <a:gd name="connsiteX116" fmla="*/ 9032050 w 9747620"/>
                <a:gd name="connsiteY116" fmla="*/ 5006833 h 6858000"/>
                <a:gd name="connsiteX117" fmla="*/ 9077733 w 9747620"/>
                <a:gd name="connsiteY117" fmla="*/ 4926839 h 6858000"/>
                <a:gd name="connsiteX118" fmla="*/ 9154285 w 9747620"/>
                <a:gd name="connsiteY118" fmla="*/ 4750223 h 6858000"/>
                <a:gd name="connsiteX119" fmla="*/ 9213936 w 9747620"/>
                <a:gd name="connsiteY119" fmla="*/ 4559945 h 6858000"/>
                <a:gd name="connsiteX120" fmla="*/ 9238592 w 9747620"/>
                <a:gd name="connsiteY120" fmla="*/ 4461357 h 6858000"/>
                <a:gd name="connsiteX121" fmla="*/ 9249776 w 9747620"/>
                <a:gd name="connsiteY121" fmla="*/ 4411319 h 6858000"/>
                <a:gd name="connsiteX122" fmla="*/ 9255046 w 9747620"/>
                <a:gd name="connsiteY122" fmla="*/ 4386299 h 6858000"/>
                <a:gd name="connsiteX123" fmla="*/ 9259718 w 9747620"/>
                <a:gd name="connsiteY123" fmla="*/ 4363342 h 6858000"/>
                <a:gd name="connsiteX124" fmla="*/ 9269959 w 9747620"/>
                <a:gd name="connsiteY124" fmla="*/ 4309566 h 6858000"/>
                <a:gd name="connsiteX125" fmla="*/ 9274233 w 9747620"/>
                <a:gd name="connsiteY125" fmla="*/ 4286176 h 6858000"/>
                <a:gd name="connsiteX126" fmla="*/ 9276022 w 9747620"/>
                <a:gd name="connsiteY126" fmla="*/ 4275489 h 6858000"/>
                <a:gd name="connsiteX127" fmla="*/ 9277861 w 9747620"/>
                <a:gd name="connsiteY127" fmla="*/ 4263506 h 6858000"/>
                <a:gd name="connsiteX128" fmla="*/ 9286014 w 9747620"/>
                <a:gd name="connsiteY128" fmla="*/ 4211696 h 6858000"/>
                <a:gd name="connsiteX129" fmla="*/ 9290092 w 9747620"/>
                <a:gd name="connsiteY129" fmla="*/ 4185767 h 6858000"/>
                <a:gd name="connsiteX130" fmla="*/ 9292128 w 9747620"/>
                <a:gd name="connsiteY130" fmla="*/ 4172826 h 6858000"/>
                <a:gd name="connsiteX131" fmla="*/ 9293720 w 9747620"/>
                <a:gd name="connsiteY131" fmla="*/ 4159693 h 6858000"/>
                <a:gd name="connsiteX132" fmla="*/ 9305650 w 9747620"/>
                <a:gd name="connsiteY132" fmla="*/ 4057941 h 6858000"/>
                <a:gd name="connsiteX133" fmla="*/ 9309378 w 9747620"/>
                <a:gd name="connsiteY133" fmla="*/ 4010779 h 6858000"/>
                <a:gd name="connsiteX134" fmla="*/ 9313454 w 9747620"/>
                <a:gd name="connsiteY134" fmla="*/ 3956428 h 6858000"/>
                <a:gd name="connsiteX135" fmla="*/ 9320811 w 9747620"/>
                <a:gd name="connsiteY135" fmla="*/ 3753546 h 6858000"/>
                <a:gd name="connsiteX136" fmla="*/ 9319617 w 9747620"/>
                <a:gd name="connsiteY136" fmla="*/ 3650643 h 6858000"/>
                <a:gd name="connsiteX137" fmla="*/ 9318176 w 9747620"/>
                <a:gd name="connsiteY137" fmla="*/ 3600030 h 6858000"/>
                <a:gd name="connsiteX138" fmla="*/ 9317778 w 9747620"/>
                <a:gd name="connsiteY138" fmla="*/ 3588096 h 6858000"/>
                <a:gd name="connsiteX139" fmla="*/ 9316983 w 9747620"/>
                <a:gd name="connsiteY139" fmla="*/ 3575107 h 6858000"/>
                <a:gd name="connsiteX140" fmla="*/ 9315443 w 9747620"/>
                <a:gd name="connsiteY140" fmla="*/ 3549130 h 6858000"/>
                <a:gd name="connsiteX141" fmla="*/ 9312311 w 9747620"/>
                <a:gd name="connsiteY141" fmla="*/ 3497176 h 6858000"/>
                <a:gd name="connsiteX142" fmla="*/ 9307587 w 9747620"/>
                <a:gd name="connsiteY142" fmla="*/ 3445029 h 6858000"/>
                <a:gd name="connsiteX143" fmla="*/ 9302618 w 9747620"/>
                <a:gd name="connsiteY143" fmla="*/ 3392835 h 6858000"/>
                <a:gd name="connsiteX144" fmla="*/ 9301574 w 9747620"/>
                <a:gd name="connsiteY144" fmla="*/ 3381476 h 6858000"/>
                <a:gd name="connsiteX145" fmla="*/ 9300430 w 9747620"/>
                <a:gd name="connsiteY145" fmla="*/ 3370740 h 6858000"/>
                <a:gd name="connsiteX146" fmla="*/ 9297547 w 9747620"/>
                <a:gd name="connsiteY146" fmla="*/ 3346966 h 6858000"/>
                <a:gd name="connsiteX147" fmla="*/ 9294017 w 9747620"/>
                <a:gd name="connsiteY147" fmla="*/ 3320030 h 6858000"/>
                <a:gd name="connsiteX148" fmla="*/ 9290439 w 9747620"/>
                <a:gd name="connsiteY148" fmla="*/ 3290410 h 6858000"/>
                <a:gd name="connsiteX149" fmla="*/ 9284275 w 9747620"/>
                <a:gd name="connsiteY149" fmla="*/ 3244544 h 6858000"/>
                <a:gd name="connsiteX150" fmla="*/ 9275974 w 9747620"/>
                <a:gd name="connsiteY150" fmla="*/ 3193116 h 6858000"/>
                <a:gd name="connsiteX151" fmla="*/ 9267224 w 9747620"/>
                <a:gd name="connsiteY151" fmla="*/ 3142264 h 6858000"/>
                <a:gd name="connsiteX152" fmla="*/ 9225320 w 9747620"/>
                <a:gd name="connsiteY152" fmla="*/ 2939909 h 6858000"/>
                <a:gd name="connsiteX153" fmla="*/ 9200466 w 9747620"/>
                <a:gd name="connsiteY153" fmla="*/ 2839449 h 6858000"/>
                <a:gd name="connsiteX154" fmla="*/ 9193953 w 9747620"/>
                <a:gd name="connsiteY154" fmla="*/ 2814958 h 6858000"/>
                <a:gd name="connsiteX155" fmla="*/ 9186993 w 9747620"/>
                <a:gd name="connsiteY155" fmla="*/ 2790276 h 6858000"/>
                <a:gd name="connsiteX156" fmla="*/ 9172628 w 9747620"/>
                <a:gd name="connsiteY156" fmla="*/ 2740621 h 6858000"/>
                <a:gd name="connsiteX157" fmla="*/ 9035082 w 9747620"/>
                <a:gd name="connsiteY157" fmla="*/ 2347463 h 6858000"/>
                <a:gd name="connsiteX158" fmla="*/ 8952118 w 9747620"/>
                <a:gd name="connsiteY158" fmla="*/ 2155413 h 6858000"/>
                <a:gd name="connsiteX159" fmla="*/ 8929948 w 9747620"/>
                <a:gd name="connsiteY159" fmla="*/ 2107915 h 6858000"/>
                <a:gd name="connsiteX160" fmla="*/ 8907429 w 9747620"/>
                <a:gd name="connsiteY160" fmla="*/ 2060753 h 6858000"/>
                <a:gd name="connsiteX161" fmla="*/ 8860404 w 9747620"/>
                <a:gd name="connsiteY161" fmla="*/ 1966478 h 6858000"/>
                <a:gd name="connsiteX162" fmla="*/ 8760788 w 9747620"/>
                <a:gd name="connsiteY162" fmla="*/ 1780274 h 6858000"/>
                <a:gd name="connsiteX163" fmla="*/ 8734740 w 9747620"/>
                <a:gd name="connsiteY163" fmla="*/ 1734311 h 6858000"/>
                <a:gd name="connsiteX164" fmla="*/ 8708046 w 9747620"/>
                <a:gd name="connsiteY164" fmla="*/ 1687963 h 6858000"/>
                <a:gd name="connsiteX165" fmla="*/ 8654062 w 9747620"/>
                <a:gd name="connsiteY165" fmla="*/ 1597234 h 6858000"/>
                <a:gd name="connsiteX166" fmla="*/ 8540278 w 9747620"/>
                <a:gd name="connsiteY166" fmla="*/ 1418077 h 6858000"/>
                <a:gd name="connsiteX167" fmla="*/ 8510701 w 9747620"/>
                <a:gd name="connsiteY167" fmla="*/ 1373695 h 6858000"/>
                <a:gd name="connsiteX168" fmla="*/ 8480676 w 9747620"/>
                <a:gd name="connsiteY168" fmla="*/ 1329457 h 6858000"/>
                <a:gd name="connsiteX169" fmla="*/ 8419782 w 9747620"/>
                <a:gd name="connsiteY169" fmla="*/ 1242275 h 6858000"/>
                <a:gd name="connsiteX170" fmla="*/ 8292478 w 9747620"/>
                <a:gd name="connsiteY170" fmla="*/ 1069875 h 6858000"/>
                <a:gd name="connsiteX171" fmla="*/ 8259620 w 9747620"/>
                <a:gd name="connsiteY171" fmla="*/ 1027123 h 6858000"/>
                <a:gd name="connsiteX172" fmla="*/ 8243416 w 9747620"/>
                <a:gd name="connsiteY172" fmla="*/ 1006130 h 6858000"/>
                <a:gd name="connsiteX173" fmla="*/ 8227110 w 9747620"/>
                <a:gd name="connsiteY173" fmla="*/ 985473 h 6858000"/>
                <a:gd name="connsiteX174" fmla="*/ 8159604 w 9747620"/>
                <a:gd name="connsiteY174" fmla="*/ 902029 h 6858000"/>
                <a:gd name="connsiteX175" fmla="*/ 8020022 w 9747620"/>
                <a:gd name="connsiteY175" fmla="*/ 738209 h 6858000"/>
                <a:gd name="connsiteX176" fmla="*/ 7984182 w 9747620"/>
                <a:gd name="connsiteY176" fmla="*/ 697901 h 6858000"/>
                <a:gd name="connsiteX177" fmla="*/ 7948043 w 9747620"/>
                <a:gd name="connsiteY177" fmla="*/ 657976 h 6858000"/>
                <a:gd name="connsiteX178" fmla="*/ 7874324 w 9747620"/>
                <a:gd name="connsiteY178" fmla="*/ 578607 h 6858000"/>
                <a:gd name="connsiteX179" fmla="*/ 7723308 w 9747620"/>
                <a:gd name="connsiteY179" fmla="*/ 424085 h 6858000"/>
                <a:gd name="connsiteX180" fmla="*/ 7565532 w 9747620"/>
                <a:gd name="connsiteY180" fmla="*/ 275602 h 6858000"/>
                <a:gd name="connsiteX181" fmla="*/ 1832515 w 9747620"/>
                <a:gd name="connsiteY181" fmla="*/ 0 h 6858000"/>
                <a:gd name="connsiteX182" fmla="*/ 2158449 w 9747620"/>
                <a:gd name="connsiteY182" fmla="*/ 0 h 6858000"/>
                <a:gd name="connsiteX183" fmla="*/ 2108797 w 9747620"/>
                <a:gd name="connsiteY183" fmla="*/ 37845 h 6858000"/>
                <a:gd name="connsiteX184" fmla="*/ 1942830 w 9747620"/>
                <a:gd name="connsiteY184" fmla="*/ 177587 h 6858000"/>
                <a:gd name="connsiteX185" fmla="*/ 1633191 w 9747620"/>
                <a:gd name="connsiteY185" fmla="*/ 477909 h 6858000"/>
                <a:gd name="connsiteX186" fmla="*/ 702686 w 9747620"/>
                <a:gd name="connsiteY186" fmla="*/ 1889935 h 6858000"/>
                <a:gd name="connsiteX187" fmla="*/ 551769 w 9747620"/>
                <a:gd name="connsiteY187" fmla="*/ 2281416 h 6858000"/>
                <a:gd name="connsiteX188" fmla="*/ 438383 w 9747620"/>
                <a:gd name="connsiteY188" fmla="*/ 2682772 h 6858000"/>
                <a:gd name="connsiteX189" fmla="*/ 397124 w 9747620"/>
                <a:gd name="connsiteY189" fmla="*/ 2887044 h 6858000"/>
                <a:gd name="connsiteX190" fmla="*/ 365658 w 9747620"/>
                <a:gd name="connsiteY190" fmla="*/ 3093424 h 6858000"/>
                <a:gd name="connsiteX191" fmla="*/ 332105 w 9747620"/>
                <a:gd name="connsiteY191" fmla="*/ 3509828 h 6858000"/>
                <a:gd name="connsiteX192" fmla="*/ 383653 w 9747620"/>
                <a:gd name="connsiteY192" fmla="*/ 4346327 h 6858000"/>
                <a:gd name="connsiteX193" fmla="*/ 422327 w 9747620"/>
                <a:gd name="connsiteY193" fmla="*/ 4552900 h 6858000"/>
                <a:gd name="connsiteX194" fmla="*/ 472184 w 9747620"/>
                <a:gd name="connsiteY194" fmla="*/ 4757939 h 6858000"/>
                <a:gd name="connsiteX195" fmla="*/ 533078 w 9747620"/>
                <a:gd name="connsiteY195" fmla="*/ 4960916 h 6858000"/>
                <a:gd name="connsiteX196" fmla="*/ 604710 w 9747620"/>
                <a:gd name="connsiteY196" fmla="*/ 5160875 h 6858000"/>
                <a:gd name="connsiteX197" fmla="*/ 996766 w 9747620"/>
                <a:gd name="connsiteY197" fmla="*/ 5920640 h 6858000"/>
                <a:gd name="connsiteX198" fmla="*/ 1549183 w 9747620"/>
                <a:gd name="connsiteY198" fmla="*/ 6586417 h 6858000"/>
                <a:gd name="connsiteX199" fmla="*/ 1709890 w 9747620"/>
                <a:gd name="connsiteY199" fmla="*/ 6734063 h 6858000"/>
                <a:gd name="connsiteX200" fmla="*/ 1859761 w 9747620"/>
                <a:gd name="connsiteY200" fmla="*/ 6858000 h 6858000"/>
                <a:gd name="connsiteX201" fmla="*/ 1671798 w 9747620"/>
                <a:gd name="connsiteY201" fmla="*/ 6858000 h 6858000"/>
                <a:gd name="connsiteX202" fmla="*/ 1628044 w 9747620"/>
                <a:gd name="connsiteY202" fmla="*/ 6822717 h 6858000"/>
                <a:gd name="connsiteX203" fmla="*/ 1459756 w 9747620"/>
                <a:gd name="connsiteY203" fmla="*/ 6674223 h 6858000"/>
                <a:gd name="connsiteX204" fmla="*/ 402543 w 9747620"/>
                <a:gd name="connsiteY204" fmla="*/ 5241588 h 6858000"/>
                <a:gd name="connsiteX205" fmla="*/ 311923 w 9747620"/>
                <a:gd name="connsiteY205" fmla="*/ 5036741 h 6858000"/>
                <a:gd name="connsiteX206" fmla="*/ 232140 w 9747620"/>
                <a:gd name="connsiteY206" fmla="*/ 4827483 h 6858000"/>
                <a:gd name="connsiteX207" fmla="*/ 163392 w 9747620"/>
                <a:gd name="connsiteY207" fmla="*/ 4613913 h 6858000"/>
                <a:gd name="connsiteX208" fmla="*/ 106823 w 9747620"/>
                <a:gd name="connsiteY208" fmla="*/ 4396365 h 6858000"/>
                <a:gd name="connsiteX209" fmla="*/ 29326 w 9747620"/>
                <a:gd name="connsiteY209" fmla="*/ 3954702 h 6858000"/>
                <a:gd name="connsiteX210" fmla="*/ 8647 w 9747620"/>
                <a:gd name="connsiteY210" fmla="*/ 3730971 h 6858000"/>
                <a:gd name="connsiteX211" fmla="*/ 2880 w 9747620"/>
                <a:gd name="connsiteY211" fmla="*/ 3618674 h 6858000"/>
                <a:gd name="connsiteX212" fmla="*/ 296 w 9747620"/>
                <a:gd name="connsiteY212" fmla="*/ 3506425 h 6858000"/>
                <a:gd name="connsiteX213" fmla="*/ 20030 w 9747620"/>
                <a:gd name="connsiteY213" fmla="*/ 3056711 h 6858000"/>
                <a:gd name="connsiteX214" fmla="*/ 48664 w 9747620"/>
                <a:gd name="connsiteY214" fmla="*/ 2832980 h 6858000"/>
                <a:gd name="connsiteX215" fmla="*/ 89922 w 9747620"/>
                <a:gd name="connsiteY215" fmla="*/ 2610639 h 6858000"/>
                <a:gd name="connsiteX216" fmla="*/ 211163 w 9747620"/>
                <a:gd name="connsiteY216" fmla="*/ 2174343 h 6858000"/>
                <a:gd name="connsiteX217" fmla="*/ 379129 w 9747620"/>
                <a:gd name="connsiteY217" fmla="*/ 1754393 h 6858000"/>
                <a:gd name="connsiteX218" fmla="*/ 841424 w 9747620"/>
                <a:gd name="connsiteY218" fmla="*/ 976270 h 6858000"/>
                <a:gd name="connsiteX219" fmla="*/ 1130234 w 9747620"/>
                <a:gd name="connsiteY219" fmla="*/ 625768 h 6858000"/>
                <a:gd name="connsiteX220" fmla="*/ 1452897 w 9747620"/>
                <a:gd name="connsiteY220" fmla="*/ 305748 h 6858000"/>
                <a:gd name="connsiteX221" fmla="*/ 1805682 w 9747620"/>
                <a:gd name="connsiteY221" fmla="*/ 18752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</a:cxnLst>
              <a:rect l="l" t="t" r="r" b="b"/>
              <a:pathLst>
                <a:path w="9747620" h="6858000">
                  <a:moveTo>
                    <a:pt x="7235453" y="0"/>
                  </a:moveTo>
                  <a:lnTo>
                    <a:pt x="7548130" y="0"/>
                  </a:lnTo>
                  <a:lnTo>
                    <a:pt x="7710334" y="111973"/>
                  </a:lnTo>
                  <a:cubicBezTo>
                    <a:pt x="7770781" y="157314"/>
                    <a:pt x="7830282" y="203517"/>
                    <a:pt x="7889188" y="251542"/>
                  </a:cubicBezTo>
                  <a:cubicBezTo>
                    <a:pt x="7947894" y="299470"/>
                    <a:pt x="8005557" y="348453"/>
                    <a:pt x="8061828" y="398586"/>
                  </a:cubicBezTo>
                  <a:cubicBezTo>
                    <a:pt x="8090013" y="423605"/>
                    <a:pt x="8117948" y="448816"/>
                    <a:pt x="8145637" y="474218"/>
                  </a:cubicBezTo>
                  <a:cubicBezTo>
                    <a:pt x="8159506" y="486918"/>
                    <a:pt x="8173375" y="499764"/>
                    <a:pt x="8187242" y="512753"/>
                  </a:cubicBezTo>
                  <a:lnTo>
                    <a:pt x="8228402" y="551575"/>
                  </a:lnTo>
                  <a:cubicBezTo>
                    <a:pt x="8283082" y="603577"/>
                    <a:pt x="8336569" y="656778"/>
                    <a:pt x="8389211" y="710937"/>
                  </a:cubicBezTo>
                  <a:cubicBezTo>
                    <a:pt x="8415458" y="738065"/>
                    <a:pt x="8441455" y="765432"/>
                    <a:pt x="8467206" y="793088"/>
                  </a:cubicBezTo>
                  <a:lnTo>
                    <a:pt x="8486791" y="814223"/>
                  </a:lnTo>
                  <a:lnTo>
                    <a:pt x="8505979" y="835409"/>
                  </a:lnTo>
                  <a:lnTo>
                    <a:pt x="8543509" y="877346"/>
                  </a:lnTo>
                  <a:cubicBezTo>
                    <a:pt x="8593418" y="933423"/>
                    <a:pt x="8642579" y="990601"/>
                    <a:pt x="8690549" y="1048978"/>
                  </a:cubicBezTo>
                  <a:cubicBezTo>
                    <a:pt x="8714558" y="1078168"/>
                    <a:pt x="8738368" y="1107644"/>
                    <a:pt x="8761732" y="1137502"/>
                  </a:cubicBezTo>
                  <a:lnTo>
                    <a:pt x="8796379" y="1182077"/>
                  </a:lnTo>
                  <a:lnTo>
                    <a:pt x="8830678" y="1226986"/>
                  </a:lnTo>
                  <a:cubicBezTo>
                    <a:pt x="8876112" y="1287185"/>
                    <a:pt x="8920304" y="1348532"/>
                    <a:pt x="8963353" y="1410936"/>
                  </a:cubicBezTo>
                  <a:cubicBezTo>
                    <a:pt x="8984727" y="1442137"/>
                    <a:pt x="9005954" y="1473915"/>
                    <a:pt x="9026483" y="1505499"/>
                  </a:cubicBezTo>
                  <a:lnTo>
                    <a:pt x="9057004" y="1552613"/>
                  </a:lnTo>
                  <a:cubicBezTo>
                    <a:pt x="9067245" y="1568525"/>
                    <a:pt x="9077336" y="1584534"/>
                    <a:pt x="9087278" y="1600542"/>
                  </a:cubicBezTo>
                  <a:cubicBezTo>
                    <a:pt x="9127145" y="1664766"/>
                    <a:pt x="9165966" y="1729613"/>
                    <a:pt x="9202851" y="1795515"/>
                  </a:cubicBezTo>
                  <a:cubicBezTo>
                    <a:pt x="9221342" y="1828491"/>
                    <a:pt x="9239437" y="1861417"/>
                    <a:pt x="9257332" y="1894920"/>
                  </a:cubicBezTo>
                  <a:lnTo>
                    <a:pt x="9283778" y="1945436"/>
                  </a:lnTo>
                  <a:lnTo>
                    <a:pt x="9309428" y="1996193"/>
                  </a:lnTo>
                  <a:cubicBezTo>
                    <a:pt x="9343280" y="2064013"/>
                    <a:pt x="9375491" y="2132695"/>
                    <a:pt x="9405714" y="2202191"/>
                  </a:cubicBezTo>
                  <a:cubicBezTo>
                    <a:pt x="9466260" y="2341183"/>
                    <a:pt x="9520493" y="2483053"/>
                    <a:pt x="9566524" y="2627653"/>
                  </a:cubicBezTo>
                  <a:cubicBezTo>
                    <a:pt x="9572289" y="2645675"/>
                    <a:pt x="9578056" y="2663792"/>
                    <a:pt x="9583573" y="2682195"/>
                  </a:cubicBezTo>
                  <a:lnTo>
                    <a:pt x="9591974" y="2709707"/>
                  </a:lnTo>
                  <a:lnTo>
                    <a:pt x="9600027" y="2737650"/>
                  </a:lnTo>
                  <a:cubicBezTo>
                    <a:pt x="9610416" y="2774171"/>
                    <a:pt x="9620358" y="2810884"/>
                    <a:pt x="9629803" y="2847694"/>
                  </a:cubicBezTo>
                  <a:cubicBezTo>
                    <a:pt x="9648692" y="2921312"/>
                    <a:pt x="9665196" y="2995506"/>
                    <a:pt x="9679909" y="3070131"/>
                  </a:cubicBezTo>
                  <a:cubicBezTo>
                    <a:pt x="9683587" y="3088775"/>
                    <a:pt x="9687118" y="3107418"/>
                    <a:pt x="9690498" y="3126159"/>
                  </a:cubicBezTo>
                  <a:lnTo>
                    <a:pt x="9700390" y="3181805"/>
                  </a:lnTo>
                  <a:cubicBezTo>
                    <a:pt x="9703670" y="3201120"/>
                    <a:pt x="9706952" y="3222112"/>
                    <a:pt x="9709685" y="3243392"/>
                  </a:cubicBezTo>
                  <a:lnTo>
                    <a:pt x="9713016" y="3267597"/>
                  </a:lnTo>
                  <a:lnTo>
                    <a:pt x="9716844" y="3294437"/>
                  </a:lnTo>
                  <a:cubicBezTo>
                    <a:pt x="9718186" y="3303926"/>
                    <a:pt x="9719527" y="3313895"/>
                    <a:pt x="9720820" y="3324488"/>
                  </a:cubicBezTo>
                  <a:lnTo>
                    <a:pt x="9722709" y="3340737"/>
                  </a:lnTo>
                  <a:lnTo>
                    <a:pt x="9724301" y="3356361"/>
                  </a:lnTo>
                  <a:lnTo>
                    <a:pt x="9730166" y="3412197"/>
                  </a:lnTo>
                  <a:cubicBezTo>
                    <a:pt x="9732005" y="3430842"/>
                    <a:pt x="9734291" y="3449342"/>
                    <a:pt x="9735783" y="3468083"/>
                  </a:cubicBezTo>
                  <a:lnTo>
                    <a:pt x="9739760" y="3524399"/>
                  </a:lnTo>
                  <a:lnTo>
                    <a:pt x="9741748" y="3552580"/>
                  </a:lnTo>
                  <a:lnTo>
                    <a:pt x="9742742" y="3566672"/>
                  </a:lnTo>
                  <a:lnTo>
                    <a:pt x="9743488" y="3581865"/>
                  </a:lnTo>
                  <a:lnTo>
                    <a:pt x="9744731" y="3611341"/>
                  </a:lnTo>
                  <a:lnTo>
                    <a:pt x="9745725" y="3639715"/>
                  </a:lnTo>
                  <a:cubicBezTo>
                    <a:pt x="9746868" y="3677579"/>
                    <a:pt x="9747514" y="3715587"/>
                    <a:pt x="9747613" y="3753786"/>
                  </a:cubicBezTo>
                  <a:cubicBezTo>
                    <a:pt x="9747763" y="3830232"/>
                    <a:pt x="9745675" y="3906870"/>
                    <a:pt x="9740405" y="3984609"/>
                  </a:cubicBezTo>
                  <a:lnTo>
                    <a:pt x="9736329" y="4038434"/>
                  </a:lnTo>
                  <a:cubicBezTo>
                    <a:pt x="9735087" y="4055976"/>
                    <a:pt x="9733794" y="4076346"/>
                    <a:pt x="9731408" y="4099446"/>
                  </a:cubicBezTo>
                  <a:lnTo>
                    <a:pt x="9717987" y="4213325"/>
                  </a:lnTo>
                  <a:cubicBezTo>
                    <a:pt x="9717441" y="4217926"/>
                    <a:pt x="9716943" y="4222527"/>
                    <a:pt x="9716297" y="4227129"/>
                  </a:cubicBezTo>
                  <a:lnTo>
                    <a:pt x="9714110" y="4240981"/>
                  </a:lnTo>
                  <a:lnTo>
                    <a:pt x="9709785" y="4268731"/>
                  </a:lnTo>
                  <a:lnTo>
                    <a:pt x="9701086" y="4324185"/>
                  </a:lnTo>
                  <a:lnTo>
                    <a:pt x="9698699" y="4338994"/>
                  </a:lnTo>
                  <a:lnTo>
                    <a:pt x="9695966" y="4355050"/>
                  </a:lnTo>
                  <a:cubicBezTo>
                    <a:pt x="9694077" y="4365547"/>
                    <a:pt x="9692188" y="4375516"/>
                    <a:pt x="9690299" y="4385054"/>
                  </a:cubicBezTo>
                  <a:lnTo>
                    <a:pt x="9679909" y="4437919"/>
                  </a:lnTo>
                  <a:cubicBezTo>
                    <a:pt x="9677871" y="4448320"/>
                    <a:pt x="9675735" y="4458097"/>
                    <a:pt x="9673647" y="4468162"/>
                  </a:cubicBezTo>
                  <a:lnTo>
                    <a:pt x="9667532" y="4496296"/>
                  </a:lnTo>
                  <a:cubicBezTo>
                    <a:pt x="9663406" y="4514941"/>
                    <a:pt x="9659081" y="4533585"/>
                    <a:pt x="9654658" y="4552277"/>
                  </a:cubicBezTo>
                  <a:cubicBezTo>
                    <a:pt x="9645760" y="4589613"/>
                    <a:pt x="9636265" y="4627045"/>
                    <a:pt x="9625876" y="4664478"/>
                  </a:cubicBezTo>
                  <a:cubicBezTo>
                    <a:pt x="9605048" y="4739247"/>
                    <a:pt x="9581088" y="4814303"/>
                    <a:pt x="9552803" y="4888737"/>
                  </a:cubicBezTo>
                  <a:cubicBezTo>
                    <a:pt x="9524668" y="4962930"/>
                    <a:pt x="9492109" y="5037459"/>
                    <a:pt x="9452639" y="5110934"/>
                  </a:cubicBezTo>
                  <a:cubicBezTo>
                    <a:pt x="9432905" y="5147695"/>
                    <a:pt x="9411431" y="5184169"/>
                    <a:pt x="9388017" y="5220020"/>
                  </a:cubicBezTo>
                  <a:cubicBezTo>
                    <a:pt x="9382201" y="5228982"/>
                    <a:pt x="9376236" y="5237945"/>
                    <a:pt x="9370073" y="5246811"/>
                  </a:cubicBezTo>
                  <a:lnTo>
                    <a:pt x="9360926" y="5260040"/>
                  </a:lnTo>
                  <a:lnTo>
                    <a:pt x="9351829" y="5272646"/>
                  </a:lnTo>
                  <a:cubicBezTo>
                    <a:pt x="9339700" y="5289468"/>
                    <a:pt x="9327174" y="5306387"/>
                    <a:pt x="9313305" y="5323881"/>
                  </a:cubicBezTo>
                  <a:cubicBezTo>
                    <a:pt x="9258625" y="5393042"/>
                    <a:pt x="9196489" y="5455445"/>
                    <a:pt x="9130375" y="5510802"/>
                  </a:cubicBezTo>
                  <a:cubicBezTo>
                    <a:pt x="9097319" y="5538505"/>
                    <a:pt x="9063268" y="5564530"/>
                    <a:pt x="9028422" y="5588878"/>
                  </a:cubicBezTo>
                  <a:cubicBezTo>
                    <a:pt x="9019723" y="5595109"/>
                    <a:pt x="9011074" y="5600909"/>
                    <a:pt x="9002424" y="5606707"/>
                  </a:cubicBezTo>
                  <a:cubicBezTo>
                    <a:pt x="8993774" y="5612603"/>
                    <a:pt x="8985124" y="5618211"/>
                    <a:pt x="8976525" y="5623866"/>
                  </a:cubicBezTo>
                  <a:cubicBezTo>
                    <a:pt x="8959277" y="5635130"/>
                    <a:pt x="8941629" y="5646201"/>
                    <a:pt x="8924181" y="5656793"/>
                  </a:cubicBezTo>
                  <a:cubicBezTo>
                    <a:pt x="8854291" y="5699259"/>
                    <a:pt x="8784946" y="5736451"/>
                    <a:pt x="8717291" y="5771582"/>
                  </a:cubicBezTo>
                  <a:lnTo>
                    <a:pt x="8617129" y="5823105"/>
                  </a:lnTo>
                  <a:lnTo>
                    <a:pt x="8518207" y="5873671"/>
                  </a:lnTo>
                  <a:cubicBezTo>
                    <a:pt x="8391200" y="5939188"/>
                    <a:pt x="8267922" y="6009788"/>
                    <a:pt x="8150558" y="6086761"/>
                  </a:cubicBezTo>
                  <a:cubicBezTo>
                    <a:pt x="8091901" y="6125248"/>
                    <a:pt x="8034736" y="6165317"/>
                    <a:pt x="7979410" y="6207158"/>
                  </a:cubicBezTo>
                  <a:cubicBezTo>
                    <a:pt x="7965739" y="6217750"/>
                    <a:pt x="7951771" y="6228103"/>
                    <a:pt x="7938300" y="6238887"/>
                  </a:cubicBezTo>
                  <a:lnTo>
                    <a:pt x="7897936" y="6271286"/>
                  </a:lnTo>
                  <a:lnTo>
                    <a:pt x="7858367" y="6304357"/>
                  </a:lnTo>
                  <a:lnTo>
                    <a:pt x="7819048" y="6338770"/>
                  </a:lnTo>
                  <a:cubicBezTo>
                    <a:pt x="7804882" y="6351232"/>
                    <a:pt x="7792105" y="6362591"/>
                    <a:pt x="7778882" y="6374477"/>
                  </a:cubicBezTo>
                  <a:lnTo>
                    <a:pt x="7739563" y="6410328"/>
                  </a:lnTo>
                  <a:cubicBezTo>
                    <a:pt x="7713366" y="6434485"/>
                    <a:pt x="7687168" y="6459120"/>
                    <a:pt x="7660824" y="6484138"/>
                  </a:cubicBezTo>
                  <a:lnTo>
                    <a:pt x="7502302" y="6636360"/>
                  </a:lnTo>
                  <a:lnTo>
                    <a:pt x="7273394" y="6858000"/>
                  </a:lnTo>
                  <a:lnTo>
                    <a:pt x="6780690" y="6858000"/>
                  </a:lnTo>
                  <a:lnTo>
                    <a:pt x="6854939" y="6783597"/>
                  </a:lnTo>
                  <a:cubicBezTo>
                    <a:pt x="6880688" y="6757810"/>
                    <a:pt x="6906338" y="6732265"/>
                    <a:pt x="6932087" y="6705809"/>
                  </a:cubicBezTo>
                  <a:lnTo>
                    <a:pt x="7241130" y="6390965"/>
                  </a:lnTo>
                  <a:lnTo>
                    <a:pt x="7397564" y="6233087"/>
                  </a:lnTo>
                  <a:cubicBezTo>
                    <a:pt x="7424009" y="6206679"/>
                    <a:pt x="7450802" y="6180175"/>
                    <a:pt x="7478142" y="6153670"/>
                  </a:cubicBezTo>
                  <a:lnTo>
                    <a:pt x="7519600" y="6113937"/>
                  </a:lnTo>
                  <a:cubicBezTo>
                    <a:pt x="7533469" y="6100805"/>
                    <a:pt x="7547934" y="6087288"/>
                    <a:pt x="7561207" y="6075067"/>
                  </a:cubicBezTo>
                  <a:lnTo>
                    <a:pt x="7604204" y="6035526"/>
                  </a:lnTo>
                  <a:lnTo>
                    <a:pt x="7648644" y="5996416"/>
                  </a:lnTo>
                  <a:cubicBezTo>
                    <a:pt x="7663608" y="5983570"/>
                    <a:pt x="7678768" y="5971013"/>
                    <a:pt x="7693830" y="5958264"/>
                  </a:cubicBezTo>
                  <a:cubicBezTo>
                    <a:pt x="7708942" y="5945611"/>
                    <a:pt x="7724352" y="5933485"/>
                    <a:pt x="7739662" y="5921073"/>
                  </a:cubicBezTo>
                  <a:cubicBezTo>
                    <a:pt x="7801154" y="5872088"/>
                    <a:pt x="7864234" y="5825502"/>
                    <a:pt x="7928458" y="5781025"/>
                  </a:cubicBezTo>
                  <a:cubicBezTo>
                    <a:pt x="8057005" y="5692164"/>
                    <a:pt x="8190077" y="5611500"/>
                    <a:pt x="8325882" y="5537450"/>
                  </a:cubicBezTo>
                  <a:lnTo>
                    <a:pt x="8424555" y="5484106"/>
                  </a:lnTo>
                  <a:lnTo>
                    <a:pt x="8521737" y="5431289"/>
                  </a:lnTo>
                  <a:cubicBezTo>
                    <a:pt x="8585315" y="5396349"/>
                    <a:pt x="8646456" y="5361840"/>
                    <a:pt x="8702677" y="5325942"/>
                  </a:cubicBezTo>
                  <a:cubicBezTo>
                    <a:pt x="8716795" y="5316931"/>
                    <a:pt x="8730365" y="5308017"/>
                    <a:pt x="8743986" y="5298717"/>
                  </a:cubicBezTo>
                  <a:cubicBezTo>
                    <a:pt x="8750747" y="5294069"/>
                    <a:pt x="8757606" y="5289420"/>
                    <a:pt x="8764167" y="5284723"/>
                  </a:cubicBezTo>
                  <a:cubicBezTo>
                    <a:pt x="8770778" y="5280074"/>
                    <a:pt x="8777440" y="5275377"/>
                    <a:pt x="8783704" y="5270679"/>
                  </a:cubicBezTo>
                  <a:cubicBezTo>
                    <a:pt x="8809155" y="5251987"/>
                    <a:pt x="8833611" y="5232577"/>
                    <a:pt x="8856776" y="5212399"/>
                  </a:cubicBezTo>
                  <a:cubicBezTo>
                    <a:pt x="8903104" y="5172043"/>
                    <a:pt x="8944463" y="5128668"/>
                    <a:pt x="8979856" y="5082081"/>
                  </a:cubicBezTo>
                  <a:cubicBezTo>
                    <a:pt x="8988555" y="5070722"/>
                    <a:pt x="8997602" y="5057973"/>
                    <a:pt x="9006699" y="5044984"/>
                  </a:cubicBezTo>
                  <a:lnTo>
                    <a:pt x="9013509" y="5035254"/>
                  </a:lnTo>
                  <a:lnTo>
                    <a:pt x="9019773" y="5025812"/>
                  </a:lnTo>
                  <a:cubicBezTo>
                    <a:pt x="9023997" y="5019629"/>
                    <a:pt x="9028073" y="5013254"/>
                    <a:pt x="9032050" y="5006833"/>
                  </a:cubicBezTo>
                  <a:cubicBezTo>
                    <a:pt x="9048206" y="4981238"/>
                    <a:pt x="9063417" y="4954542"/>
                    <a:pt x="9077733" y="4926839"/>
                  </a:cubicBezTo>
                  <a:cubicBezTo>
                    <a:pt x="9106415" y="4871434"/>
                    <a:pt x="9131469" y="4812050"/>
                    <a:pt x="9154285" y="4750223"/>
                  </a:cubicBezTo>
                  <a:cubicBezTo>
                    <a:pt x="9176904" y="4688586"/>
                    <a:pt x="9196537" y="4625032"/>
                    <a:pt x="9213936" y="4559945"/>
                  </a:cubicBezTo>
                  <a:cubicBezTo>
                    <a:pt x="9222635" y="4527402"/>
                    <a:pt x="9230887" y="4494523"/>
                    <a:pt x="9238592" y="4461357"/>
                  </a:cubicBezTo>
                  <a:cubicBezTo>
                    <a:pt x="9242419" y="4444773"/>
                    <a:pt x="9246147" y="4428094"/>
                    <a:pt x="9249776" y="4411319"/>
                  </a:cubicBezTo>
                  <a:lnTo>
                    <a:pt x="9255046" y="4386299"/>
                  </a:lnTo>
                  <a:lnTo>
                    <a:pt x="9259718" y="4363342"/>
                  </a:lnTo>
                  <a:lnTo>
                    <a:pt x="9269959" y="4309566"/>
                  </a:lnTo>
                  <a:lnTo>
                    <a:pt x="9274233" y="4286176"/>
                  </a:lnTo>
                  <a:lnTo>
                    <a:pt x="9276022" y="4275489"/>
                  </a:lnTo>
                  <a:lnTo>
                    <a:pt x="9277861" y="4263506"/>
                  </a:lnTo>
                  <a:lnTo>
                    <a:pt x="9286014" y="4211696"/>
                  </a:lnTo>
                  <a:lnTo>
                    <a:pt x="9290092" y="4185767"/>
                  </a:lnTo>
                  <a:lnTo>
                    <a:pt x="9292128" y="4172826"/>
                  </a:lnTo>
                  <a:cubicBezTo>
                    <a:pt x="9292774" y="4168464"/>
                    <a:pt x="9293173" y="4164055"/>
                    <a:pt x="9293720" y="4159693"/>
                  </a:cubicBezTo>
                  <a:lnTo>
                    <a:pt x="9305650" y="4057941"/>
                  </a:lnTo>
                  <a:cubicBezTo>
                    <a:pt x="9306991" y="4045048"/>
                    <a:pt x="9308085" y="4029328"/>
                    <a:pt x="9309378" y="4010779"/>
                  </a:cubicBezTo>
                  <a:lnTo>
                    <a:pt x="9313454" y="3956428"/>
                  </a:lnTo>
                  <a:cubicBezTo>
                    <a:pt x="9318326" y="3889806"/>
                    <a:pt x="9320611" y="3821796"/>
                    <a:pt x="9320811" y="3753546"/>
                  </a:cubicBezTo>
                  <a:cubicBezTo>
                    <a:pt x="9320910" y="3719373"/>
                    <a:pt x="9320513" y="3685056"/>
                    <a:pt x="9319617" y="3650643"/>
                  </a:cubicBezTo>
                  <a:lnTo>
                    <a:pt x="9318176" y="3600030"/>
                  </a:lnTo>
                  <a:lnTo>
                    <a:pt x="9317778" y="3588096"/>
                  </a:lnTo>
                  <a:lnTo>
                    <a:pt x="9316983" y="3575107"/>
                  </a:lnTo>
                  <a:lnTo>
                    <a:pt x="9315443" y="3549130"/>
                  </a:lnTo>
                  <a:lnTo>
                    <a:pt x="9312311" y="3497176"/>
                  </a:lnTo>
                  <a:cubicBezTo>
                    <a:pt x="9311118" y="3479825"/>
                    <a:pt x="9309129" y="3462427"/>
                    <a:pt x="9307587" y="3445029"/>
                  </a:cubicBezTo>
                  <a:lnTo>
                    <a:pt x="9302618" y="3392835"/>
                  </a:lnTo>
                  <a:lnTo>
                    <a:pt x="9301574" y="3381476"/>
                  </a:lnTo>
                  <a:lnTo>
                    <a:pt x="9300430" y="3370740"/>
                  </a:lnTo>
                  <a:lnTo>
                    <a:pt x="9297547" y="3346966"/>
                  </a:lnTo>
                  <a:lnTo>
                    <a:pt x="9294017" y="3320030"/>
                  </a:lnTo>
                  <a:lnTo>
                    <a:pt x="9290439" y="3290410"/>
                  </a:lnTo>
                  <a:cubicBezTo>
                    <a:pt x="9288849" y="3275745"/>
                    <a:pt x="9286761" y="3260934"/>
                    <a:pt x="9284275" y="3244544"/>
                  </a:cubicBezTo>
                  <a:lnTo>
                    <a:pt x="9275974" y="3193116"/>
                  </a:lnTo>
                  <a:cubicBezTo>
                    <a:pt x="9273189" y="3176197"/>
                    <a:pt x="9270256" y="3159230"/>
                    <a:pt x="9267224" y="3142264"/>
                  </a:cubicBezTo>
                  <a:cubicBezTo>
                    <a:pt x="9255146" y="3074493"/>
                    <a:pt x="9240929" y="3007057"/>
                    <a:pt x="9225320" y="2939909"/>
                  </a:cubicBezTo>
                  <a:cubicBezTo>
                    <a:pt x="9217465" y="2906311"/>
                    <a:pt x="9209214" y="2872809"/>
                    <a:pt x="9200466" y="2839449"/>
                  </a:cubicBezTo>
                  <a:lnTo>
                    <a:pt x="9193953" y="2814958"/>
                  </a:lnTo>
                  <a:lnTo>
                    <a:pt x="9186993" y="2790276"/>
                  </a:lnTo>
                  <a:cubicBezTo>
                    <a:pt x="9182471" y="2773836"/>
                    <a:pt x="9177599" y="2757252"/>
                    <a:pt x="9172628" y="2740621"/>
                  </a:cubicBezTo>
                  <a:cubicBezTo>
                    <a:pt x="9133110" y="2607859"/>
                    <a:pt x="9087527" y="2476533"/>
                    <a:pt x="9035082" y="2347463"/>
                  </a:cubicBezTo>
                  <a:cubicBezTo>
                    <a:pt x="9008836" y="2282951"/>
                    <a:pt x="8981298" y="2218870"/>
                    <a:pt x="8952118" y="2155413"/>
                  </a:cubicBezTo>
                  <a:lnTo>
                    <a:pt x="8929948" y="2107915"/>
                  </a:lnTo>
                  <a:lnTo>
                    <a:pt x="8907429" y="2060753"/>
                  </a:lnTo>
                  <a:cubicBezTo>
                    <a:pt x="8892170" y="2029408"/>
                    <a:pt x="8876411" y="1997726"/>
                    <a:pt x="8860404" y="1966478"/>
                  </a:cubicBezTo>
                  <a:cubicBezTo>
                    <a:pt x="8828243" y="1903931"/>
                    <a:pt x="8795336" y="1841670"/>
                    <a:pt x="8760788" y="1780274"/>
                  </a:cubicBezTo>
                  <a:lnTo>
                    <a:pt x="8734740" y="1734311"/>
                  </a:lnTo>
                  <a:lnTo>
                    <a:pt x="8708046" y="1687963"/>
                  </a:lnTo>
                  <a:cubicBezTo>
                    <a:pt x="8690300" y="1657337"/>
                    <a:pt x="8672455" y="1627334"/>
                    <a:pt x="8654062" y="1597234"/>
                  </a:cubicBezTo>
                  <a:cubicBezTo>
                    <a:pt x="8617575" y="1536988"/>
                    <a:pt x="8579398" y="1477365"/>
                    <a:pt x="8540278" y="1418077"/>
                  </a:cubicBezTo>
                  <a:lnTo>
                    <a:pt x="8510701" y="1373695"/>
                  </a:lnTo>
                  <a:lnTo>
                    <a:pt x="8480676" y="1329457"/>
                  </a:lnTo>
                  <a:cubicBezTo>
                    <a:pt x="8460643" y="1300269"/>
                    <a:pt x="8440411" y="1271224"/>
                    <a:pt x="8419782" y="1242275"/>
                  </a:cubicBezTo>
                  <a:cubicBezTo>
                    <a:pt x="8378476" y="1184425"/>
                    <a:pt x="8335923" y="1127006"/>
                    <a:pt x="8292478" y="1069875"/>
                  </a:cubicBezTo>
                  <a:lnTo>
                    <a:pt x="8259620" y="1027123"/>
                  </a:lnTo>
                  <a:lnTo>
                    <a:pt x="8243416" y="1006130"/>
                  </a:lnTo>
                  <a:lnTo>
                    <a:pt x="8227110" y="985473"/>
                  </a:lnTo>
                  <a:cubicBezTo>
                    <a:pt x="8204890" y="957483"/>
                    <a:pt x="8182422" y="929684"/>
                    <a:pt x="8159604" y="902029"/>
                  </a:cubicBezTo>
                  <a:cubicBezTo>
                    <a:pt x="8114170" y="846671"/>
                    <a:pt x="8067494" y="792177"/>
                    <a:pt x="8020022" y="738209"/>
                  </a:cubicBezTo>
                  <a:lnTo>
                    <a:pt x="7984182" y="697901"/>
                  </a:lnTo>
                  <a:lnTo>
                    <a:pt x="7948043" y="657976"/>
                  </a:lnTo>
                  <a:cubicBezTo>
                    <a:pt x="7923636" y="631328"/>
                    <a:pt x="7899079" y="604823"/>
                    <a:pt x="7874324" y="578607"/>
                  </a:cubicBezTo>
                  <a:cubicBezTo>
                    <a:pt x="7824714" y="526221"/>
                    <a:pt x="7774608" y="474458"/>
                    <a:pt x="7723308" y="424085"/>
                  </a:cubicBezTo>
                  <a:cubicBezTo>
                    <a:pt x="7672157" y="373808"/>
                    <a:pt x="7619168" y="324153"/>
                    <a:pt x="7565532" y="275602"/>
                  </a:cubicBezTo>
                  <a:close/>
                  <a:moveTo>
                    <a:pt x="1832515" y="0"/>
                  </a:moveTo>
                  <a:lnTo>
                    <a:pt x="2158449" y="0"/>
                  </a:lnTo>
                  <a:lnTo>
                    <a:pt x="2108797" y="37845"/>
                  </a:lnTo>
                  <a:cubicBezTo>
                    <a:pt x="2052253" y="83168"/>
                    <a:pt x="1996914" y="129778"/>
                    <a:pt x="1942830" y="177587"/>
                  </a:cubicBezTo>
                  <a:cubicBezTo>
                    <a:pt x="1834563" y="273109"/>
                    <a:pt x="1731317" y="373472"/>
                    <a:pt x="1633191" y="477909"/>
                  </a:cubicBezTo>
                  <a:cubicBezTo>
                    <a:pt x="1240290" y="896038"/>
                    <a:pt x="927123" y="1375900"/>
                    <a:pt x="702686" y="1889935"/>
                  </a:cubicBezTo>
                  <a:cubicBezTo>
                    <a:pt x="646565" y="2018192"/>
                    <a:pt x="596210" y="2149182"/>
                    <a:pt x="551769" y="2281416"/>
                  </a:cubicBezTo>
                  <a:cubicBezTo>
                    <a:pt x="507429" y="2413700"/>
                    <a:pt x="469451" y="2547613"/>
                    <a:pt x="438383" y="2682772"/>
                  </a:cubicBezTo>
                  <a:cubicBezTo>
                    <a:pt x="423122" y="2750111"/>
                    <a:pt x="409203" y="2818553"/>
                    <a:pt x="397124" y="2887044"/>
                  </a:cubicBezTo>
                  <a:cubicBezTo>
                    <a:pt x="385144" y="2955581"/>
                    <a:pt x="374357" y="3024359"/>
                    <a:pt x="365658" y="3093424"/>
                  </a:cubicBezTo>
                  <a:cubicBezTo>
                    <a:pt x="347813" y="3231506"/>
                    <a:pt x="336727" y="3370260"/>
                    <a:pt x="332105" y="3509828"/>
                  </a:cubicBezTo>
                  <a:cubicBezTo>
                    <a:pt x="322311" y="3788822"/>
                    <a:pt x="339660" y="4068628"/>
                    <a:pt x="383653" y="4346327"/>
                  </a:cubicBezTo>
                  <a:cubicBezTo>
                    <a:pt x="394539" y="4415489"/>
                    <a:pt x="407464" y="4484267"/>
                    <a:pt x="422327" y="4552900"/>
                  </a:cubicBezTo>
                  <a:cubicBezTo>
                    <a:pt x="437041" y="4621534"/>
                    <a:pt x="453693" y="4689881"/>
                    <a:pt x="472184" y="4757939"/>
                  </a:cubicBezTo>
                  <a:cubicBezTo>
                    <a:pt x="490677" y="4825949"/>
                    <a:pt x="511007" y="4893673"/>
                    <a:pt x="533078" y="4960916"/>
                  </a:cubicBezTo>
                  <a:cubicBezTo>
                    <a:pt x="555249" y="5028208"/>
                    <a:pt x="578662" y="5095022"/>
                    <a:pt x="604710" y="5160875"/>
                  </a:cubicBezTo>
                  <a:cubicBezTo>
                    <a:pt x="707358" y="5425298"/>
                    <a:pt x="838443" y="5680902"/>
                    <a:pt x="996766" y="5920640"/>
                  </a:cubicBezTo>
                  <a:cubicBezTo>
                    <a:pt x="1154790" y="6160571"/>
                    <a:pt x="1340404" y="6384350"/>
                    <a:pt x="1549183" y="6586417"/>
                  </a:cubicBezTo>
                  <a:cubicBezTo>
                    <a:pt x="1601365" y="6636982"/>
                    <a:pt x="1654970" y="6686208"/>
                    <a:pt x="1709890" y="6734063"/>
                  </a:cubicBezTo>
                  <a:lnTo>
                    <a:pt x="1859761" y="6858000"/>
                  </a:lnTo>
                  <a:lnTo>
                    <a:pt x="1671798" y="6858000"/>
                  </a:lnTo>
                  <a:lnTo>
                    <a:pt x="1628044" y="6822717"/>
                  </a:lnTo>
                  <a:cubicBezTo>
                    <a:pt x="1570828" y="6774460"/>
                    <a:pt x="1514710" y="6724955"/>
                    <a:pt x="1459756" y="6674223"/>
                  </a:cubicBezTo>
                  <a:cubicBezTo>
                    <a:pt x="1019931" y="6268363"/>
                    <a:pt x="658296" y="5781216"/>
                    <a:pt x="402543" y="5241588"/>
                  </a:cubicBezTo>
                  <a:cubicBezTo>
                    <a:pt x="370231" y="5174103"/>
                    <a:pt x="340306" y="5105661"/>
                    <a:pt x="311923" y="5036741"/>
                  </a:cubicBezTo>
                  <a:cubicBezTo>
                    <a:pt x="283539" y="4967771"/>
                    <a:pt x="256895" y="4897986"/>
                    <a:pt x="232140" y="4827483"/>
                  </a:cubicBezTo>
                  <a:cubicBezTo>
                    <a:pt x="207334" y="4756981"/>
                    <a:pt x="184368" y="4685758"/>
                    <a:pt x="163392" y="4613913"/>
                  </a:cubicBezTo>
                  <a:cubicBezTo>
                    <a:pt x="142514" y="4542020"/>
                    <a:pt x="123624" y="4469360"/>
                    <a:pt x="106823" y="4396365"/>
                  </a:cubicBezTo>
                  <a:cubicBezTo>
                    <a:pt x="73120" y="4250902"/>
                    <a:pt x="47371" y="4103281"/>
                    <a:pt x="29326" y="3954702"/>
                  </a:cubicBezTo>
                  <a:cubicBezTo>
                    <a:pt x="20478" y="3880365"/>
                    <a:pt x="13320" y="3805789"/>
                    <a:pt x="8647" y="3730971"/>
                  </a:cubicBezTo>
                  <a:cubicBezTo>
                    <a:pt x="6311" y="3693587"/>
                    <a:pt x="4322" y="3656106"/>
                    <a:pt x="2880" y="3618674"/>
                  </a:cubicBezTo>
                  <a:cubicBezTo>
                    <a:pt x="1539" y="3581146"/>
                    <a:pt x="694" y="3543809"/>
                    <a:pt x="296" y="3506425"/>
                  </a:cubicBezTo>
                  <a:cubicBezTo>
                    <a:pt x="-1543" y="3356649"/>
                    <a:pt x="5217" y="3206200"/>
                    <a:pt x="20030" y="3056711"/>
                  </a:cubicBezTo>
                  <a:cubicBezTo>
                    <a:pt x="27686" y="2981942"/>
                    <a:pt x="36931" y="2907317"/>
                    <a:pt x="48664" y="2832980"/>
                  </a:cubicBezTo>
                  <a:cubicBezTo>
                    <a:pt x="60395" y="2758642"/>
                    <a:pt x="73716" y="2684784"/>
                    <a:pt x="89922" y="2610639"/>
                  </a:cubicBezTo>
                  <a:cubicBezTo>
                    <a:pt x="121736" y="2462826"/>
                    <a:pt x="162645" y="2317220"/>
                    <a:pt x="211163" y="2174343"/>
                  </a:cubicBezTo>
                  <a:cubicBezTo>
                    <a:pt x="259778" y="2031468"/>
                    <a:pt x="315601" y="1891517"/>
                    <a:pt x="379129" y="1754393"/>
                  </a:cubicBezTo>
                  <a:cubicBezTo>
                    <a:pt x="505540" y="1480433"/>
                    <a:pt x="660930" y="1219318"/>
                    <a:pt x="841424" y="976270"/>
                  </a:cubicBezTo>
                  <a:cubicBezTo>
                    <a:pt x="931498" y="854627"/>
                    <a:pt x="1028182" y="737777"/>
                    <a:pt x="1130234" y="625768"/>
                  </a:cubicBezTo>
                  <a:cubicBezTo>
                    <a:pt x="1232486" y="513855"/>
                    <a:pt x="1340157" y="407117"/>
                    <a:pt x="1452897" y="305748"/>
                  </a:cubicBezTo>
                  <a:cubicBezTo>
                    <a:pt x="1565736" y="204380"/>
                    <a:pt x="1683596" y="108665"/>
                    <a:pt x="1805682" y="18752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D3FC2AE7-C60C-4C48-BCAE-410BB6C3DF5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08320" y="36937"/>
              <a:ext cx="9767847" cy="6858000"/>
            </a:xfrm>
            <a:custGeom>
              <a:avLst/>
              <a:gdLst>
                <a:gd name="connsiteX0" fmla="*/ 7151367 w 9767847"/>
                <a:gd name="connsiteY0" fmla="*/ 0 h 6858000"/>
                <a:gd name="connsiteX1" fmla="*/ 7881247 w 9767847"/>
                <a:gd name="connsiteY1" fmla="*/ 0 h 6858000"/>
                <a:gd name="connsiteX2" fmla="*/ 7990553 w 9767847"/>
                <a:gd name="connsiteY2" fmla="*/ 81317 h 6858000"/>
                <a:gd name="connsiteX3" fmla="*/ 9767847 w 9767847"/>
                <a:gd name="connsiteY3" fmla="*/ 3649031 h 6858000"/>
                <a:gd name="connsiteX4" fmla="*/ 8652597 w 9767847"/>
                <a:gd name="connsiteY4" fmla="*/ 6590005 h 6858000"/>
                <a:gd name="connsiteX5" fmla="*/ 8395306 w 9767847"/>
                <a:gd name="connsiteY5" fmla="*/ 6858000 h 6858000"/>
                <a:gd name="connsiteX6" fmla="*/ 6762603 w 9767847"/>
                <a:gd name="connsiteY6" fmla="*/ 6858000 h 6858000"/>
                <a:gd name="connsiteX7" fmla="*/ 6765962 w 9767847"/>
                <a:gd name="connsiteY7" fmla="*/ 6854844 h 6858000"/>
                <a:gd name="connsiteX8" fmla="*/ 6804586 w 9767847"/>
                <a:gd name="connsiteY8" fmla="*/ 6817103 h 6858000"/>
                <a:gd name="connsiteX9" fmla="*/ 6881735 w 9767847"/>
                <a:gd name="connsiteY9" fmla="*/ 6741197 h 6858000"/>
                <a:gd name="connsiteX10" fmla="*/ 6958883 w 9767847"/>
                <a:gd name="connsiteY10" fmla="*/ 6664822 h 6858000"/>
                <a:gd name="connsiteX11" fmla="*/ 7267925 w 9767847"/>
                <a:gd name="connsiteY11" fmla="*/ 6355694 h 6858000"/>
                <a:gd name="connsiteX12" fmla="*/ 7424360 w 9767847"/>
                <a:gd name="connsiteY12" fmla="*/ 6200685 h 6858000"/>
                <a:gd name="connsiteX13" fmla="*/ 7504938 w 9767847"/>
                <a:gd name="connsiteY13" fmla="*/ 6122708 h 6858000"/>
                <a:gd name="connsiteX14" fmla="*/ 7546396 w 9767847"/>
                <a:gd name="connsiteY14" fmla="*/ 6083697 h 6858000"/>
                <a:gd name="connsiteX15" fmla="*/ 7588002 w 9767847"/>
                <a:gd name="connsiteY15" fmla="*/ 6045532 h 6858000"/>
                <a:gd name="connsiteX16" fmla="*/ 7631000 w 9767847"/>
                <a:gd name="connsiteY16" fmla="*/ 6006709 h 6858000"/>
                <a:gd name="connsiteX17" fmla="*/ 7675440 w 9767847"/>
                <a:gd name="connsiteY17" fmla="*/ 5968309 h 6858000"/>
                <a:gd name="connsiteX18" fmla="*/ 7720626 w 9767847"/>
                <a:gd name="connsiteY18" fmla="*/ 5930851 h 6858000"/>
                <a:gd name="connsiteX19" fmla="*/ 7766458 w 9767847"/>
                <a:gd name="connsiteY19" fmla="*/ 5894334 h 6858000"/>
                <a:gd name="connsiteX20" fmla="*/ 7955254 w 9767847"/>
                <a:gd name="connsiteY20" fmla="*/ 5756828 h 6858000"/>
                <a:gd name="connsiteX21" fmla="*/ 8352678 w 9767847"/>
                <a:gd name="connsiteY21" fmla="*/ 5517630 h 6858000"/>
                <a:gd name="connsiteX22" fmla="*/ 8451350 w 9767847"/>
                <a:gd name="connsiteY22" fmla="*/ 5465254 h 6858000"/>
                <a:gd name="connsiteX23" fmla="*/ 8548532 w 9767847"/>
                <a:gd name="connsiteY23" fmla="*/ 5413395 h 6858000"/>
                <a:gd name="connsiteX24" fmla="*/ 8729473 w 9767847"/>
                <a:gd name="connsiteY24" fmla="*/ 5309961 h 6858000"/>
                <a:gd name="connsiteX25" fmla="*/ 8770781 w 9767847"/>
                <a:gd name="connsiteY25" fmla="*/ 5283232 h 6858000"/>
                <a:gd name="connsiteX26" fmla="*/ 8790964 w 9767847"/>
                <a:gd name="connsiteY26" fmla="*/ 5269492 h 6858000"/>
                <a:gd name="connsiteX27" fmla="*/ 8810499 w 9767847"/>
                <a:gd name="connsiteY27" fmla="*/ 5255703 h 6858000"/>
                <a:gd name="connsiteX28" fmla="*/ 8883571 w 9767847"/>
                <a:gd name="connsiteY28" fmla="*/ 5198479 h 6858000"/>
                <a:gd name="connsiteX29" fmla="*/ 9006651 w 9767847"/>
                <a:gd name="connsiteY29" fmla="*/ 5070527 h 6858000"/>
                <a:gd name="connsiteX30" fmla="*/ 9033494 w 9767847"/>
                <a:gd name="connsiteY30" fmla="*/ 5034105 h 6858000"/>
                <a:gd name="connsiteX31" fmla="*/ 9040305 w 9767847"/>
                <a:gd name="connsiteY31" fmla="*/ 5024551 h 6858000"/>
                <a:gd name="connsiteX32" fmla="*/ 9046568 w 9767847"/>
                <a:gd name="connsiteY32" fmla="*/ 5015281 h 6858000"/>
                <a:gd name="connsiteX33" fmla="*/ 9058846 w 9767847"/>
                <a:gd name="connsiteY33" fmla="*/ 4996645 h 6858000"/>
                <a:gd name="connsiteX34" fmla="*/ 9104529 w 9767847"/>
                <a:gd name="connsiteY34" fmla="*/ 4918105 h 6858000"/>
                <a:gd name="connsiteX35" fmla="*/ 9181081 w 9767847"/>
                <a:gd name="connsiteY35" fmla="*/ 4744694 h 6858000"/>
                <a:gd name="connsiteX36" fmla="*/ 9240731 w 9767847"/>
                <a:gd name="connsiteY36" fmla="*/ 4557872 h 6858000"/>
                <a:gd name="connsiteX37" fmla="*/ 9265388 w 9767847"/>
                <a:gd name="connsiteY37" fmla="*/ 4461073 h 6858000"/>
                <a:gd name="connsiteX38" fmla="*/ 9276571 w 9767847"/>
                <a:gd name="connsiteY38" fmla="*/ 4411943 h 6858000"/>
                <a:gd name="connsiteX39" fmla="*/ 9281841 w 9767847"/>
                <a:gd name="connsiteY39" fmla="*/ 4387379 h 6858000"/>
                <a:gd name="connsiteX40" fmla="*/ 9286513 w 9767847"/>
                <a:gd name="connsiteY40" fmla="*/ 4364838 h 6858000"/>
                <a:gd name="connsiteX41" fmla="*/ 9296754 w 9767847"/>
                <a:gd name="connsiteY41" fmla="*/ 4312038 h 6858000"/>
                <a:gd name="connsiteX42" fmla="*/ 9301029 w 9767847"/>
                <a:gd name="connsiteY42" fmla="*/ 4289074 h 6858000"/>
                <a:gd name="connsiteX43" fmla="*/ 9302818 w 9767847"/>
                <a:gd name="connsiteY43" fmla="*/ 4278581 h 6858000"/>
                <a:gd name="connsiteX44" fmla="*/ 9304658 w 9767847"/>
                <a:gd name="connsiteY44" fmla="*/ 4266816 h 6858000"/>
                <a:gd name="connsiteX45" fmla="*/ 9312810 w 9767847"/>
                <a:gd name="connsiteY45" fmla="*/ 4215945 h 6858000"/>
                <a:gd name="connsiteX46" fmla="*/ 9316887 w 9767847"/>
                <a:gd name="connsiteY46" fmla="*/ 4190486 h 6858000"/>
                <a:gd name="connsiteX47" fmla="*/ 9318923 w 9767847"/>
                <a:gd name="connsiteY47" fmla="*/ 4177780 h 6858000"/>
                <a:gd name="connsiteX48" fmla="*/ 9320515 w 9767847"/>
                <a:gd name="connsiteY48" fmla="*/ 4164886 h 6858000"/>
                <a:gd name="connsiteX49" fmla="*/ 9332445 w 9767847"/>
                <a:gd name="connsiteY49" fmla="*/ 4064981 h 6858000"/>
                <a:gd name="connsiteX50" fmla="*/ 9336173 w 9767847"/>
                <a:gd name="connsiteY50" fmla="*/ 4018676 h 6858000"/>
                <a:gd name="connsiteX51" fmla="*/ 9340199 w 9767847"/>
                <a:gd name="connsiteY51" fmla="*/ 3965171 h 6858000"/>
                <a:gd name="connsiteX52" fmla="*/ 9347557 w 9767847"/>
                <a:gd name="connsiteY52" fmla="*/ 3765972 h 6858000"/>
                <a:gd name="connsiteX53" fmla="*/ 9346364 w 9767847"/>
                <a:gd name="connsiteY53" fmla="*/ 3664938 h 6858000"/>
                <a:gd name="connsiteX54" fmla="*/ 9344921 w 9767847"/>
                <a:gd name="connsiteY54" fmla="*/ 3615243 h 6858000"/>
                <a:gd name="connsiteX55" fmla="*/ 9344524 w 9767847"/>
                <a:gd name="connsiteY55" fmla="*/ 3603526 h 6858000"/>
                <a:gd name="connsiteX56" fmla="*/ 9343728 w 9767847"/>
                <a:gd name="connsiteY56" fmla="*/ 3590774 h 6858000"/>
                <a:gd name="connsiteX57" fmla="*/ 9342188 w 9767847"/>
                <a:gd name="connsiteY57" fmla="*/ 3565268 h 6858000"/>
                <a:gd name="connsiteX58" fmla="*/ 9339056 w 9767847"/>
                <a:gd name="connsiteY58" fmla="*/ 3514256 h 6858000"/>
                <a:gd name="connsiteX59" fmla="*/ 9334334 w 9767847"/>
                <a:gd name="connsiteY59" fmla="*/ 3463057 h 6858000"/>
                <a:gd name="connsiteX60" fmla="*/ 9329363 w 9767847"/>
                <a:gd name="connsiteY60" fmla="*/ 3411810 h 6858000"/>
                <a:gd name="connsiteX61" fmla="*/ 9328319 w 9767847"/>
                <a:gd name="connsiteY61" fmla="*/ 3400657 h 6858000"/>
                <a:gd name="connsiteX62" fmla="*/ 9327177 w 9767847"/>
                <a:gd name="connsiteY62" fmla="*/ 3390116 h 6858000"/>
                <a:gd name="connsiteX63" fmla="*/ 9324293 w 9767847"/>
                <a:gd name="connsiteY63" fmla="*/ 3366774 h 6858000"/>
                <a:gd name="connsiteX64" fmla="*/ 9320763 w 9767847"/>
                <a:gd name="connsiteY64" fmla="*/ 3340329 h 6858000"/>
                <a:gd name="connsiteX65" fmla="*/ 9317184 w 9767847"/>
                <a:gd name="connsiteY65" fmla="*/ 3311245 h 6858000"/>
                <a:gd name="connsiteX66" fmla="*/ 9311021 w 9767847"/>
                <a:gd name="connsiteY66" fmla="*/ 3266211 h 6858000"/>
                <a:gd name="connsiteX67" fmla="*/ 9302719 w 9767847"/>
                <a:gd name="connsiteY67" fmla="*/ 3215717 h 6858000"/>
                <a:gd name="connsiteX68" fmla="*/ 9293970 w 9767847"/>
                <a:gd name="connsiteY68" fmla="*/ 3165789 h 6858000"/>
                <a:gd name="connsiteX69" fmla="*/ 9252065 w 9767847"/>
                <a:gd name="connsiteY69" fmla="*/ 2967107 h 6858000"/>
                <a:gd name="connsiteX70" fmla="*/ 9227211 w 9767847"/>
                <a:gd name="connsiteY70" fmla="*/ 2868473 h 6858000"/>
                <a:gd name="connsiteX71" fmla="*/ 9220699 w 9767847"/>
                <a:gd name="connsiteY71" fmla="*/ 2844426 h 6858000"/>
                <a:gd name="connsiteX72" fmla="*/ 9213740 w 9767847"/>
                <a:gd name="connsiteY72" fmla="*/ 2820191 h 6858000"/>
                <a:gd name="connsiteX73" fmla="*/ 9199374 w 9767847"/>
                <a:gd name="connsiteY73" fmla="*/ 2771438 h 6858000"/>
                <a:gd name="connsiteX74" fmla="*/ 9061829 w 9767847"/>
                <a:gd name="connsiteY74" fmla="*/ 2385418 h 6858000"/>
                <a:gd name="connsiteX75" fmla="*/ 8978865 w 9767847"/>
                <a:gd name="connsiteY75" fmla="*/ 2196855 h 6858000"/>
                <a:gd name="connsiteX76" fmla="*/ 8956694 w 9767847"/>
                <a:gd name="connsiteY76" fmla="*/ 2150219 h 6858000"/>
                <a:gd name="connsiteX77" fmla="*/ 8934176 w 9767847"/>
                <a:gd name="connsiteY77" fmla="*/ 2103914 h 6858000"/>
                <a:gd name="connsiteX78" fmla="*/ 8887151 w 9767847"/>
                <a:gd name="connsiteY78" fmla="*/ 2011350 h 6858000"/>
                <a:gd name="connsiteX79" fmla="*/ 8787533 w 9767847"/>
                <a:gd name="connsiteY79" fmla="*/ 1828527 h 6858000"/>
                <a:gd name="connsiteX80" fmla="*/ 8761485 w 9767847"/>
                <a:gd name="connsiteY80" fmla="*/ 1783398 h 6858000"/>
                <a:gd name="connsiteX81" fmla="*/ 8734791 w 9767847"/>
                <a:gd name="connsiteY81" fmla="*/ 1737893 h 6858000"/>
                <a:gd name="connsiteX82" fmla="*/ 8680808 w 9767847"/>
                <a:gd name="connsiteY82" fmla="*/ 1648812 h 6858000"/>
                <a:gd name="connsiteX83" fmla="*/ 8567024 w 9767847"/>
                <a:gd name="connsiteY83" fmla="*/ 1472906 h 6858000"/>
                <a:gd name="connsiteX84" fmla="*/ 8537446 w 9767847"/>
                <a:gd name="connsiteY84" fmla="*/ 1429330 h 6858000"/>
                <a:gd name="connsiteX85" fmla="*/ 8507423 w 9767847"/>
                <a:gd name="connsiteY85" fmla="*/ 1385896 h 6858000"/>
                <a:gd name="connsiteX86" fmla="*/ 8446529 w 9767847"/>
                <a:gd name="connsiteY86" fmla="*/ 1300295 h 6858000"/>
                <a:gd name="connsiteX87" fmla="*/ 8319224 w 9767847"/>
                <a:gd name="connsiteY87" fmla="*/ 1131026 h 6858000"/>
                <a:gd name="connsiteX88" fmla="*/ 8286366 w 9767847"/>
                <a:gd name="connsiteY88" fmla="*/ 1089050 h 6858000"/>
                <a:gd name="connsiteX89" fmla="*/ 8270161 w 9767847"/>
                <a:gd name="connsiteY89" fmla="*/ 1068439 h 6858000"/>
                <a:gd name="connsiteX90" fmla="*/ 8253856 w 9767847"/>
                <a:gd name="connsiteY90" fmla="*/ 1048156 h 6858000"/>
                <a:gd name="connsiteX91" fmla="*/ 8186352 w 9767847"/>
                <a:gd name="connsiteY91" fmla="*/ 966275 h 6858000"/>
                <a:gd name="connsiteX92" fmla="*/ 8046768 w 9767847"/>
                <a:gd name="connsiteY92" fmla="*/ 805429 h 6858000"/>
                <a:gd name="connsiteX93" fmla="*/ 8010927 w 9767847"/>
                <a:gd name="connsiteY93" fmla="*/ 765853 h 6858000"/>
                <a:gd name="connsiteX94" fmla="*/ 7974788 w 9767847"/>
                <a:gd name="connsiteY94" fmla="*/ 726653 h 6858000"/>
                <a:gd name="connsiteX95" fmla="*/ 7901070 w 9767847"/>
                <a:gd name="connsiteY95" fmla="*/ 648724 h 6858000"/>
                <a:gd name="connsiteX96" fmla="*/ 7750054 w 9767847"/>
                <a:gd name="connsiteY96" fmla="*/ 497008 h 6858000"/>
                <a:gd name="connsiteX97" fmla="*/ 7592277 w 9767847"/>
                <a:gd name="connsiteY97" fmla="*/ 351221 h 6858000"/>
                <a:gd name="connsiteX98" fmla="*/ 7257734 w 9767847"/>
                <a:gd name="connsiteY98" fmla="*/ 76964 h 6858000"/>
                <a:gd name="connsiteX99" fmla="*/ 1886601 w 9767847"/>
                <a:gd name="connsiteY99" fmla="*/ 0 h 6858000"/>
                <a:gd name="connsiteX100" fmla="*/ 2292926 w 9767847"/>
                <a:gd name="connsiteY100" fmla="*/ 0 h 6858000"/>
                <a:gd name="connsiteX101" fmla="*/ 2135542 w 9767847"/>
                <a:gd name="connsiteY101" fmla="*/ 117781 h 6858000"/>
                <a:gd name="connsiteX102" fmla="*/ 1969576 w 9767847"/>
                <a:gd name="connsiteY102" fmla="*/ 254986 h 6858000"/>
                <a:gd name="connsiteX103" fmla="*/ 1659938 w 9767847"/>
                <a:gd name="connsiteY103" fmla="*/ 549855 h 6858000"/>
                <a:gd name="connsiteX104" fmla="*/ 729383 w 9767847"/>
                <a:gd name="connsiteY104" fmla="*/ 1936480 h 6858000"/>
                <a:gd name="connsiteX105" fmla="*/ 578465 w 9767847"/>
                <a:gd name="connsiteY105" fmla="*/ 2320807 h 6858000"/>
                <a:gd name="connsiteX106" fmla="*/ 465080 w 9767847"/>
                <a:gd name="connsiteY106" fmla="*/ 2714875 h 6858000"/>
                <a:gd name="connsiteX107" fmla="*/ 423820 w 9767847"/>
                <a:gd name="connsiteY107" fmla="*/ 2915436 h 6858000"/>
                <a:gd name="connsiteX108" fmla="*/ 392355 w 9767847"/>
                <a:gd name="connsiteY108" fmla="*/ 3118071 h 6858000"/>
                <a:gd name="connsiteX109" fmla="*/ 358801 w 9767847"/>
                <a:gd name="connsiteY109" fmla="*/ 3526915 h 6858000"/>
                <a:gd name="connsiteX110" fmla="*/ 410350 w 9767847"/>
                <a:gd name="connsiteY110" fmla="*/ 4348226 h 6858000"/>
                <a:gd name="connsiteX111" fmla="*/ 449022 w 9767847"/>
                <a:gd name="connsiteY111" fmla="*/ 4551049 h 6858000"/>
                <a:gd name="connsiteX112" fmla="*/ 498882 w 9767847"/>
                <a:gd name="connsiteY112" fmla="*/ 4752365 h 6858000"/>
                <a:gd name="connsiteX113" fmla="*/ 559775 w 9767847"/>
                <a:gd name="connsiteY113" fmla="*/ 4951657 h 6858000"/>
                <a:gd name="connsiteX114" fmla="*/ 631406 w 9767847"/>
                <a:gd name="connsiteY114" fmla="*/ 5147986 h 6858000"/>
                <a:gd name="connsiteX115" fmla="*/ 1023461 w 9767847"/>
                <a:gd name="connsiteY115" fmla="*/ 5893957 h 6858000"/>
                <a:gd name="connsiteX116" fmla="*/ 1575880 w 9767847"/>
                <a:gd name="connsiteY116" fmla="*/ 6547646 h 6858000"/>
                <a:gd name="connsiteX117" fmla="*/ 1905228 w 9767847"/>
                <a:gd name="connsiteY117" fmla="*/ 6829468 h 6858000"/>
                <a:gd name="connsiteX118" fmla="*/ 1944230 w 9767847"/>
                <a:gd name="connsiteY118" fmla="*/ 6858000 h 6858000"/>
                <a:gd name="connsiteX119" fmla="*/ 1372541 w 9767847"/>
                <a:gd name="connsiteY119" fmla="*/ 6858000 h 6858000"/>
                <a:gd name="connsiteX120" fmla="*/ 1115251 w 9767847"/>
                <a:gd name="connsiteY120" fmla="*/ 6590005 h 6858000"/>
                <a:gd name="connsiteX121" fmla="*/ 0 w 9767847"/>
                <a:gd name="connsiteY121" fmla="*/ 3649031 h 6858000"/>
                <a:gd name="connsiteX122" fmla="*/ 1777294 w 9767847"/>
                <a:gd name="connsiteY122" fmla="*/ 81317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</a:cxnLst>
              <a:rect l="l" t="t" r="r" b="b"/>
              <a:pathLst>
                <a:path w="9767847" h="6858000">
                  <a:moveTo>
                    <a:pt x="7151367" y="0"/>
                  </a:moveTo>
                  <a:lnTo>
                    <a:pt x="7881247" y="0"/>
                  </a:lnTo>
                  <a:lnTo>
                    <a:pt x="7990553" y="81317"/>
                  </a:lnTo>
                  <a:cubicBezTo>
                    <a:pt x="9075991" y="929334"/>
                    <a:pt x="9767847" y="2212695"/>
                    <a:pt x="9767847" y="3649031"/>
                  </a:cubicBezTo>
                  <a:cubicBezTo>
                    <a:pt x="9767847" y="4766182"/>
                    <a:pt x="9349317" y="5790792"/>
                    <a:pt x="8652597" y="6590005"/>
                  </a:cubicBezTo>
                  <a:lnTo>
                    <a:pt x="8395306" y="6858000"/>
                  </a:lnTo>
                  <a:lnTo>
                    <a:pt x="6762603" y="6858000"/>
                  </a:lnTo>
                  <a:lnTo>
                    <a:pt x="6765962" y="6854844"/>
                  </a:lnTo>
                  <a:cubicBezTo>
                    <a:pt x="6779036" y="6842703"/>
                    <a:pt x="6791663" y="6829621"/>
                    <a:pt x="6804586" y="6817103"/>
                  </a:cubicBezTo>
                  <a:lnTo>
                    <a:pt x="6881735" y="6741197"/>
                  </a:lnTo>
                  <a:cubicBezTo>
                    <a:pt x="6907435" y="6715881"/>
                    <a:pt x="6933134" y="6690798"/>
                    <a:pt x="6958883" y="6664822"/>
                  </a:cubicBezTo>
                  <a:lnTo>
                    <a:pt x="7267925" y="6355694"/>
                  </a:lnTo>
                  <a:lnTo>
                    <a:pt x="7424360" y="6200685"/>
                  </a:lnTo>
                  <a:cubicBezTo>
                    <a:pt x="7450754" y="6174802"/>
                    <a:pt x="7477598" y="6148731"/>
                    <a:pt x="7504938" y="6122708"/>
                  </a:cubicBezTo>
                  <a:lnTo>
                    <a:pt x="7546396" y="6083697"/>
                  </a:lnTo>
                  <a:cubicBezTo>
                    <a:pt x="7560264" y="6070803"/>
                    <a:pt x="7574780" y="6057532"/>
                    <a:pt x="7588002" y="6045532"/>
                  </a:cubicBezTo>
                  <a:lnTo>
                    <a:pt x="7631000" y="6006709"/>
                  </a:lnTo>
                  <a:lnTo>
                    <a:pt x="7675440" y="5968309"/>
                  </a:lnTo>
                  <a:cubicBezTo>
                    <a:pt x="7690404" y="5955698"/>
                    <a:pt x="7705564" y="5943321"/>
                    <a:pt x="7720626" y="5930851"/>
                  </a:cubicBezTo>
                  <a:cubicBezTo>
                    <a:pt x="7735738" y="5918427"/>
                    <a:pt x="7751197" y="5906521"/>
                    <a:pt x="7766458" y="5894334"/>
                  </a:cubicBezTo>
                  <a:cubicBezTo>
                    <a:pt x="7827949" y="5846192"/>
                    <a:pt x="7890979" y="5800499"/>
                    <a:pt x="7955254" y="5756828"/>
                  </a:cubicBezTo>
                  <a:cubicBezTo>
                    <a:pt x="8083800" y="5669534"/>
                    <a:pt x="8216872" y="5590336"/>
                    <a:pt x="8352678" y="5517630"/>
                  </a:cubicBezTo>
                  <a:lnTo>
                    <a:pt x="8451350" y="5465254"/>
                  </a:lnTo>
                  <a:lnTo>
                    <a:pt x="8548532" y="5413395"/>
                  </a:lnTo>
                  <a:cubicBezTo>
                    <a:pt x="8612110" y="5379090"/>
                    <a:pt x="8673251" y="5345208"/>
                    <a:pt x="8729473" y="5309961"/>
                  </a:cubicBezTo>
                  <a:cubicBezTo>
                    <a:pt x="8743591" y="5301115"/>
                    <a:pt x="8757161" y="5292361"/>
                    <a:pt x="8770781" y="5283232"/>
                  </a:cubicBezTo>
                  <a:cubicBezTo>
                    <a:pt x="8777591" y="5278667"/>
                    <a:pt x="8784451" y="5274103"/>
                    <a:pt x="8790964" y="5269492"/>
                  </a:cubicBezTo>
                  <a:cubicBezTo>
                    <a:pt x="8797574" y="5264879"/>
                    <a:pt x="8804235" y="5260314"/>
                    <a:pt x="8810499" y="5255703"/>
                  </a:cubicBezTo>
                  <a:cubicBezTo>
                    <a:pt x="8835999" y="5237303"/>
                    <a:pt x="8860407" y="5218291"/>
                    <a:pt x="8883571" y="5198479"/>
                  </a:cubicBezTo>
                  <a:cubicBezTo>
                    <a:pt x="8929900" y="5158856"/>
                    <a:pt x="8971258" y="5116315"/>
                    <a:pt x="9006651" y="5070527"/>
                  </a:cubicBezTo>
                  <a:cubicBezTo>
                    <a:pt x="9015351" y="5059328"/>
                    <a:pt x="9024398" y="5046857"/>
                    <a:pt x="9033494" y="5034105"/>
                  </a:cubicBezTo>
                  <a:lnTo>
                    <a:pt x="9040305" y="5024551"/>
                  </a:lnTo>
                  <a:lnTo>
                    <a:pt x="9046568" y="5015281"/>
                  </a:lnTo>
                  <a:cubicBezTo>
                    <a:pt x="9050743" y="5009163"/>
                    <a:pt x="9054819" y="5002952"/>
                    <a:pt x="9058846" y="4996645"/>
                  </a:cubicBezTo>
                  <a:cubicBezTo>
                    <a:pt x="9075002" y="4971517"/>
                    <a:pt x="9090212" y="4945305"/>
                    <a:pt x="9104529" y="4918105"/>
                  </a:cubicBezTo>
                  <a:cubicBezTo>
                    <a:pt x="9133211" y="4863752"/>
                    <a:pt x="9158313" y="4805447"/>
                    <a:pt x="9181081" y="4744694"/>
                  </a:cubicBezTo>
                  <a:cubicBezTo>
                    <a:pt x="9203748" y="4684178"/>
                    <a:pt x="9223383" y="4621778"/>
                    <a:pt x="9240731" y="4557872"/>
                  </a:cubicBezTo>
                  <a:cubicBezTo>
                    <a:pt x="9249481" y="4525966"/>
                    <a:pt x="9257682" y="4493684"/>
                    <a:pt x="9265388" y="4461073"/>
                  </a:cubicBezTo>
                  <a:cubicBezTo>
                    <a:pt x="9269215" y="4444744"/>
                    <a:pt x="9272943" y="4428367"/>
                    <a:pt x="9276571" y="4411943"/>
                  </a:cubicBezTo>
                  <a:lnTo>
                    <a:pt x="9281841" y="4387379"/>
                  </a:lnTo>
                  <a:lnTo>
                    <a:pt x="9286513" y="4364838"/>
                  </a:lnTo>
                  <a:lnTo>
                    <a:pt x="9296754" y="4312038"/>
                  </a:lnTo>
                  <a:lnTo>
                    <a:pt x="9301029" y="4289074"/>
                  </a:lnTo>
                  <a:lnTo>
                    <a:pt x="9302818" y="4278581"/>
                  </a:lnTo>
                  <a:lnTo>
                    <a:pt x="9304658" y="4266816"/>
                  </a:lnTo>
                  <a:lnTo>
                    <a:pt x="9312810" y="4215945"/>
                  </a:lnTo>
                  <a:lnTo>
                    <a:pt x="9316887" y="4190486"/>
                  </a:lnTo>
                  <a:lnTo>
                    <a:pt x="9318923" y="4177780"/>
                  </a:lnTo>
                  <a:cubicBezTo>
                    <a:pt x="9319570" y="4173546"/>
                    <a:pt x="9319969" y="4169169"/>
                    <a:pt x="9320515" y="4164886"/>
                  </a:cubicBezTo>
                  <a:lnTo>
                    <a:pt x="9332445" y="4064981"/>
                  </a:lnTo>
                  <a:cubicBezTo>
                    <a:pt x="9333836" y="4052370"/>
                    <a:pt x="9334880" y="4036888"/>
                    <a:pt x="9336173" y="4018676"/>
                  </a:cubicBezTo>
                  <a:lnTo>
                    <a:pt x="9340199" y="3965171"/>
                  </a:lnTo>
                  <a:cubicBezTo>
                    <a:pt x="9345071" y="3899806"/>
                    <a:pt x="9347358" y="3832983"/>
                    <a:pt x="9347557" y="3765972"/>
                  </a:cubicBezTo>
                  <a:cubicBezTo>
                    <a:pt x="9347656" y="3732420"/>
                    <a:pt x="9347209" y="3698773"/>
                    <a:pt x="9346364" y="3664938"/>
                  </a:cubicBezTo>
                  <a:lnTo>
                    <a:pt x="9344921" y="3615243"/>
                  </a:lnTo>
                  <a:lnTo>
                    <a:pt x="9344524" y="3603526"/>
                  </a:lnTo>
                  <a:lnTo>
                    <a:pt x="9343728" y="3590774"/>
                  </a:lnTo>
                  <a:lnTo>
                    <a:pt x="9342188" y="3565268"/>
                  </a:lnTo>
                  <a:lnTo>
                    <a:pt x="9339056" y="3514256"/>
                  </a:lnTo>
                  <a:cubicBezTo>
                    <a:pt x="9337914" y="3497221"/>
                    <a:pt x="9335874" y="3480138"/>
                    <a:pt x="9334334" y="3463057"/>
                  </a:cubicBezTo>
                  <a:lnTo>
                    <a:pt x="9329363" y="3411810"/>
                  </a:lnTo>
                  <a:lnTo>
                    <a:pt x="9328319" y="3400657"/>
                  </a:lnTo>
                  <a:lnTo>
                    <a:pt x="9327177" y="3390116"/>
                  </a:lnTo>
                  <a:lnTo>
                    <a:pt x="9324293" y="3366774"/>
                  </a:lnTo>
                  <a:lnTo>
                    <a:pt x="9320763" y="3340329"/>
                  </a:lnTo>
                  <a:lnTo>
                    <a:pt x="9317184" y="3311245"/>
                  </a:lnTo>
                  <a:cubicBezTo>
                    <a:pt x="9315594" y="3296893"/>
                    <a:pt x="9313506" y="3282306"/>
                    <a:pt x="9311021" y="3266211"/>
                  </a:cubicBezTo>
                  <a:lnTo>
                    <a:pt x="9302719" y="3215717"/>
                  </a:lnTo>
                  <a:cubicBezTo>
                    <a:pt x="9299936" y="3199059"/>
                    <a:pt x="9297003" y="3182400"/>
                    <a:pt x="9293970" y="3165789"/>
                  </a:cubicBezTo>
                  <a:cubicBezTo>
                    <a:pt x="9281891" y="3099295"/>
                    <a:pt x="9267674" y="3033084"/>
                    <a:pt x="9252065" y="2967107"/>
                  </a:cubicBezTo>
                  <a:cubicBezTo>
                    <a:pt x="9244261" y="2934167"/>
                    <a:pt x="9235959" y="2901273"/>
                    <a:pt x="9227211" y="2868473"/>
                  </a:cubicBezTo>
                  <a:lnTo>
                    <a:pt x="9220699" y="2844426"/>
                  </a:lnTo>
                  <a:lnTo>
                    <a:pt x="9213740" y="2820191"/>
                  </a:lnTo>
                  <a:cubicBezTo>
                    <a:pt x="9209216" y="2804049"/>
                    <a:pt x="9204345" y="2787768"/>
                    <a:pt x="9199374" y="2771438"/>
                  </a:cubicBezTo>
                  <a:cubicBezTo>
                    <a:pt x="9159855" y="2641086"/>
                    <a:pt x="9114272" y="2512099"/>
                    <a:pt x="9061829" y="2385418"/>
                  </a:cubicBezTo>
                  <a:cubicBezTo>
                    <a:pt x="9035582" y="2322077"/>
                    <a:pt x="9008043" y="2259160"/>
                    <a:pt x="8978865" y="2196855"/>
                  </a:cubicBezTo>
                  <a:lnTo>
                    <a:pt x="8956694" y="2150219"/>
                  </a:lnTo>
                  <a:lnTo>
                    <a:pt x="8934176" y="2103914"/>
                  </a:lnTo>
                  <a:cubicBezTo>
                    <a:pt x="8918915" y="2073091"/>
                    <a:pt x="8903157" y="2042032"/>
                    <a:pt x="8887151" y="2011350"/>
                  </a:cubicBezTo>
                  <a:cubicBezTo>
                    <a:pt x="8854988" y="1949891"/>
                    <a:pt x="8822082" y="1888810"/>
                    <a:pt x="8787533" y="1828527"/>
                  </a:cubicBezTo>
                  <a:lnTo>
                    <a:pt x="8761485" y="1783398"/>
                  </a:lnTo>
                  <a:lnTo>
                    <a:pt x="8734791" y="1737893"/>
                  </a:lnTo>
                  <a:cubicBezTo>
                    <a:pt x="8717047" y="1707823"/>
                    <a:pt x="8699200" y="1678363"/>
                    <a:pt x="8680808" y="1648812"/>
                  </a:cubicBezTo>
                  <a:cubicBezTo>
                    <a:pt x="8644322" y="1589658"/>
                    <a:pt x="8606194" y="1531118"/>
                    <a:pt x="8567024" y="1472906"/>
                  </a:cubicBezTo>
                  <a:lnTo>
                    <a:pt x="8537446" y="1429330"/>
                  </a:lnTo>
                  <a:lnTo>
                    <a:pt x="8507423" y="1385896"/>
                  </a:lnTo>
                  <a:cubicBezTo>
                    <a:pt x="8487390" y="1357284"/>
                    <a:pt x="8467158" y="1328719"/>
                    <a:pt x="8446529" y="1300295"/>
                  </a:cubicBezTo>
                  <a:cubicBezTo>
                    <a:pt x="8405271" y="1243496"/>
                    <a:pt x="8362718" y="1187120"/>
                    <a:pt x="8319224" y="1131026"/>
                  </a:cubicBezTo>
                  <a:lnTo>
                    <a:pt x="8286366" y="1089050"/>
                  </a:lnTo>
                  <a:lnTo>
                    <a:pt x="8270161" y="1068439"/>
                  </a:lnTo>
                  <a:lnTo>
                    <a:pt x="8253856" y="1048156"/>
                  </a:lnTo>
                  <a:cubicBezTo>
                    <a:pt x="8231636" y="1020675"/>
                    <a:pt x="8209117" y="993381"/>
                    <a:pt x="8186352" y="966275"/>
                  </a:cubicBezTo>
                  <a:cubicBezTo>
                    <a:pt x="8140917" y="911922"/>
                    <a:pt x="8094240" y="858417"/>
                    <a:pt x="8046768" y="805429"/>
                  </a:cubicBezTo>
                  <a:lnTo>
                    <a:pt x="8010927" y="765853"/>
                  </a:lnTo>
                  <a:lnTo>
                    <a:pt x="7974788" y="726653"/>
                  </a:lnTo>
                  <a:cubicBezTo>
                    <a:pt x="7950382" y="700489"/>
                    <a:pt x="7925824" y="674465"/>
                    <a:pt x="7901070" y="648724"/>
                  </a:cubicBezTo>
                  <a:cubicBezTo>
                    <a:pt x="7851510" y="597289"/>
                    <a:pt x="7801404" y="546514"/>
                    <a:pt x="7750054" y="497008"/>
                  </a:cubicBezTo>
                  <a:cubicBezTo>
                    <a:pt x="7698902" y="447644"/>
                    <a:pt x="7645913" y="398938"/>
                    <a:pt x="7592277" y="351221"/>
                  </a:cubicBezTo>
                  <a:cubicBezTo>
                    <a:pt x="7484856" y="255786"/>
                    <a:pt x="7373308" y="164304"/>
                    <a:pt x="7257734" y="76964"/>
                  </a:cubicBezTo>
                  <a:close/>
                  <a:moveTo>
                    <a:pt x="1886601" y="0"/>
                  </a:moveTo>
                  <a:lnTo>
                    <a:pt x="2292926" y="0"/>
                  </a:lnTo>
                  <a:lnTo>
                    <a:pt x="2135542" y="117781"/>
                  </a:lnTo>
                  <a:cubicBezTo>
                    <a:pt x="2078998" y="162280"/>
                    <a:pt x="2023659" y="208045"/>
                    <a:pt x="1969576" y="254986"/>
                  </a:cubicBezTo>
                  <a:cubicBezTo>
                    <a:pt x="1861309" y="348820"/>
                    <a:pt x="1758064" y="447314"/>
                    <a:pt x="1659938" y="549855"/>
                  </a:cubicBezTo>
                  <a:cubicBezTo>
                    <a:pt x="1266987" y="960346"/>
                    <a:pt x="953820" y="1431495"/>
                    <a:pt x="729383" y="1936480"/>
                  </a:cubicBezTo>
                  <a:cubicBezTo>
                    <a:pt x="673260" y="2062362"/>
                    <a:pt x="622855" y="2190972"/>
                    <a:pt x="578465" y="2320807"/>
                  </a:cubicBezTo>
                  <a:cubicBezTo>
                    <a:pt x="534125" y="2450687"/>
                    <a:pt x="496147" y="2582216"/>
                    <a:pt x="465080" y="2714875"/>
                  </a:cubicBezTo>
                  <a:cubicBezTo>
                    <a:pt x="449769" y="2780991"/>
                    <a:pt x="435850" y="2848191"/>
                    <a:pt x="423820" y="2915436"/>
                  </a:cubicBezTo>
                  <a:cubicBezTo>
                    <a:pt x="411840" y="2982731"/>
                    <a:pt x="401054" y="3050260"/>
                    <a:pt x="392355" y="3118071"/>
                  </a:cubicBezTo>
                  <a:cubicBezTo>
                    <a:pt x="374509" y="3253646"/>
                    <a:pt x="363424" y="3389880"/>
                    <a:pt x="358801" y="3526915"/>
                  </a:cubicBezTo>
                  <a:cubicBezTo>
                    <a:pt x="349009" y="3800843"/>
                    <a:pt x="366357" y="4075570"/>
                    <a:pt x="410350" y="4348226"/>
                  </a:cubicBezTo>
                  <a:cubicBezTo>
                    <a:pt x="421286" y="4416132"/>
                    <a:pt x="434209" y="4483660"/>
                    <a:pt x="449022" y="4551049"/>
                  </a:cubicBezTo>
                  <a:cubicBezTo>
                    <a:pt x="463737" y="4618436"/>
                    <a:pt x="480389" y="4685588"/>
                    <a:pt x="498882" y="4752365"/>
                  </a:cubicBezTo>
                  <a:cubicBezTo>
                    <a:pt x="517373" y="4819141"/>
                    <a:pt x="537704" y="4885635"/>
                    <a:pt x="559775" y="4951657"/>
                  </a:cubicBezTo>
                  <a:cubicBezTo>
                    <a:pt x="581946" y="5017775"/>
                    <a:pt x="605358" y="5083375"/>
                    <a:pt x="631406" y="5147986"/>
                  </a:cubicBezTo>
                  <a:cubicBezTo>
                    <a:pt x="734055" y="5407608"/>
                    <a:pt x="865188" y="5658570"/>
                    <a:pt x="1023461" y="5893957"/>
                  </a:cubicBezTo>
                  <a:cubicBezTo>
                    <a:pt x="1181487" y="6129578"/>
                    <a:pt x="1367051" y="6349247"/>
                    <a:pt x="1575880" y="6547646"/>
                  </a:cubicBezTo>
                  <a:cubicBezTo>
                    <a:pt x="1680269" y="6646916"/>
                    <a:pt x="1790338" y="6740939"/>
                    <a:pt x="1905228" y="6829468"/>
                  </a:cubicBezTo>
                  <a:lnTo>
                    <a:pt x="1944230" y="6858000"/>
                  </a:lnTo>
                  <a:lnTo>
                    <a:pt x="1372541" y="6858000"/>
                  </a:lnTo>
                  <a:lnTo>
                    <a:pt x="1115251" y="6590005"/>
                  </a:lnTo>
                  <a:cubicBezTo>
                    <a:pt x="418530" y="5790792"/>
                    <a:pt x="0" y="4766182"/>
                    <a:pt x="0" y="3649031"/>
                  </a:cubicBezTo>
                  <a:cubicBezTo>
                    <a:pt x="0" y="2212695"/>
                    <a:pt x="691856" y="929334"/>
                    <a:pt x="1777294" y="81317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40EA1593-6BC9-441E-8F3C-46DD50F810F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03402" y="36937"/>
              <a:ext cx="9767847" cy="6858000"/>
            </a:xfrm>
            <a:custGeom>
              <a:avLst/>
              <a:gdLst>
                <a:gd name="connsiteX0" fmla="*/ 7145704 w 9767847"/>
                <a:gd name="connsiteY0" fmla="*/ 0 h 6858000"/>
                <a:gd name="connsiteX1" fmla="*/ 7875738 w 9767847"/>
                <a:gd name="connsiteY1" fmla="*/ 0 h 6858000"/>
                <a:gd name="connsiteX2" fmla="*/ 7990553 w 9767847"/>
                <a:gd name="connsiteY2" fmla="*/ 85415 h 6858000"/>
                <a:gd name="connsiteX3" fmla="*/ 9767847 w 9767847"/>
                <a:gd name="connsiteY3" fmla="*/ 3653129 h 6858000"/>
                <a:gd name="connsiteX4" fmla="*/ 8652597 w 9767847"/>
                <a:gd name="connsiteY4" fmla="*/ 6594103 h 6858000"/>
                <a:gd name="connsiteX5" fmla="*/ 8399240 w 9767847"/>
                <a:gd name="connsiteY5" fmla="*/ 6858000 h 6858000"/>
                <a:gd name="connsiteX6" fmla="*/ 6766926 w 9767847"/>
                <a:gd name="connsiteY6" fmla="*/ 6858000 h 6858000"/>
                <a:gd name="connsiteX7" fmla="*/ 6804586 w 9767847"/>
                <a:gd name="connsiteY7" fmla="*/ 6821201 h 6858000"/>
                <a:gd name="connsiteX8" fmla="*/ 6881735 w 9767847"/>
                <a:gd name="connsiteY8" fmla="*/ 6745295 h 6858000"/>
                <a:gd name="connsiteX9" fmla="*/ 6958883 w 9767847"/>
                <a:gd name="connsiteY9" fmla="*/ 6668920 h 6858000"/>
                <a:gd name="connsiteX10" fmla="*/ 7267925 w 9767847"/>
                <a:gd name="connsiteY10" fmla="*/ 6359792 h 6858000"/>
                <a:gd name="connsiteX11" fmla="*/ 7424360 w 9767847"/>
                <a:gd name="connsiteY11" fmla="*/ 6204783 h 6858000"/>
                <a:gd name="connsiteX12" fmla="*/ 7504938 w 9767847"/>
                <a:gd name="connsiteY12" fmla="*/ 6126806 h 6858000"/>
                <a:gd name="connsiteX13" fmla="*/ 7546396 w 9767847"/>
                <a:gd name="connsiteY13" fmla="*/ 6087795 h 6858000"/>
                <a:gd name="connsiteX14" fmla="*/ 7588002 w 9767847"/>
                <a:gd name="connsiteY14" fmla="*/ 6049630 h 6858000"/>
                <a:gd name="connsiteX15" fmla="*/ 7631000 w 9767847"/>
                <a:gd name="connsiteY15" fmla="*/ 6010807 h 6858000"/>
                <a:gd name="connsiteX16" fmla="*/ 7675440 w 9767847"/>
                <a:gd name="connsiteY16" fmla="*/ 5972407 h 6858000"/>
                <a:gd name="connsiteX17" fmla="*/ 7720626 w 9767847"/>
                <a:gd name="connsiteY17" fmla="*/ 5934949 h 6858000"/>
                <a:gd name="connsiteX18" fmla="*/ 7766458 w 9767847"/>
                <a:gd name="connsiteY18" fmla="*/ 5898432 h 6858000"/>
                <a:gd name="connsiteX19" fmla="*/ 7955254 w 9767847"/>
                <a:gd name="connsiteY19" fmla="*/ 5760926 h 6858000"/>
                <a:gd name="connsiteX20" fmla="*/ 8352678 w 9767847"/>
                <a:gd name="connsiteY20" fmla="*/ 5521728 h 6858000"/>
                <a:gd name="connsiteX21" fmla="*/ 8451350 w 9767847"/>
                <a:gd name="connsiteY21" fmla="*/ 5469352 h 6858000"/>
                <a:gd name="connsiteX22" fmla="*/ 8548532 w 9767847"/>
                <a:gd name="connsiteY22" fmla="*/ 5417493 h 6858000"/>
                <a:gd name="connsiteX23" fmla="*/ 8729473 w 9767847"/>
                <a:gd name="connsiteY23" fmla="*/ 5314059 h 6858000"/>
                <a:gd name="connsiteX24" fmla="*/ 8770781 w 9767847"/>
                <a:gd name="connsiteY24" fmla="*/ 5287330 h 6858000"/>
                <a:gd name="connsiteX25" fmla="*/ 8790964 w 9767847"/>
                <a:gd name="connsiteY25" fmla="*/ 5273590 h 6858000"/>
                <a:gd name="connsiteX26" fmla="*/ 8810499 w 9767847"/>
                <a:gd name="connsiteY26" fmla="*/ 5259801 h 6858000"/>
                <a:gd name="connsiteX27" fmla="*/ 8883571 w 9767847"/>
                <a:gd name="connsiteY27" fmla="*/ 5202577 h 6858000"/>
                <a:gd name="connsiteX28" fmla="*/ 9006651 w 9767847"/>
                <a:gd name="connsiteY28" fmla="*/ 5074625 h 6858000"/>
                <a:gd name="connsiteX29" fmla="*/ 9033494 w 9767847"/>
                <a:gd name="connsiteY29" fmla="*/ 5038203 h 6858000"/>
                <a:gd name="connsiteX30" fmla="*/ 9040305 w 9767847"/>
                <a:gd name="connsiteY30" fmla="*/ 5028649 h 6858000"/>
                <a:gd name="connsiteX31" fmla="*/ 9046568 w 9767847"/>
                <a:gd name="connsiteY31" fmla="*/ 5019379 h 6858000"/>
                <a:gd name="connsiteX32" fmla="*/ 9058846 w 9767847"/>
                <a:gd name="connsiteY32" fmla="*/ 5000743 h 6858000"/>
                <a:gd name="connsiteX33" fmla="*/ 9104529 w 9767847"/>
                <a:gd name="connsiteY33" fmla="*/ 4922203 h 6858000"/>
                <a:gd name="connsiteX34" fmla="*/ 9181081 w 9767847"/>
                <a:gd name="connsiteY34" fmla="*/ 4748792 h 6858000"/>
                <a:gd name="connsiteX35" fmla="*/ 9240731 w 9767847"/>
                <a:gd name="connsiteY35" fmla="*/ 4561970 h 6858000"/>
                <a:gd name="connsiteX36" fmla="*/ 9265388 w 9767847"/>
                <a:gd name="connsiteY36" fmla="*/ 4465171 h 6858000"/>
                <a:gd name="connsiteX37" fmla="*/ 9276571 w 9767847"/>
                <a:gd name="connsiteY37" fmla="*/ 4416041 h 6858000"/>
                <a:gd name="connsiteX38" fmla="*/ 9281841 w 9767847"/>
                <a:gd name="connsiteY38" fmla="*/ 4391477 h 6858000"/>
                <a:gd name="connsiteX39" fmla="*/ 9286513 w 9767847"/>
                <a:gd name="connsiteY39" fmla="*/ 4368936 h 6858000"/>
                <a:gd name="connsiteX40" fmla="*/ 9296754 w 9767847"/>
                <a:gd name="connsiteY40" fmla="*/ 4316136 h 6858000"/>
                <a:gd name="connsiteX41" fmla="*/ 9301029 w 9767847"/>
                <a:gd name="connsiteY41" fmla="*/ 4293172 h 6858000"/>
                <a:gd name="connsiteX42" fmla="*/ 9302818 w 9767847"/>
                <a:gd name="connsiteY42" fmla="*/ 4282679 h 6858000"/>
                <a:gd name="connsiteX43" fmla="*/ 9304658 w 9767847"/>
                <a:gd name="connsiteY43" fmla="*/ 4270914 h 6858000"/>
                <a:gd name="connsiteX44" fmla="*/ 9312810 w 9767847"/>
                <a:gd name="connsiteY44" fmla="*/ 4220043 h 6858000"/>
                <a:gd name="connsiteX45" fmla="*/ 9316887 w 9767847"/>
                <a:gd name="connsiteY45" fmla="*/ 4194584 h 6858000"/>
                <a:gd name="connsiteX46" fmla="*/ 9318923 w 9767847"/>
                <a:gd name="connsiteY46" fmla="*/ 4181878 h 6858000"/>
                <a:gd name="connsiteX47" fmla="*/ 9320515 w 9767847"/>
                <a:gd name="connsiteY47" fmla="*/ 4168984 h 6858000"/>
                <a:gd name="connsiteX48" fmla="*/ 9332445 w 9767847"/>
                <a:gd name="connsiteY48" fmla="*/ 4069079 h 6858000"/>
                <a:gd name="connsiteX49" fmla="*/ 9336173 w 9767847"/>
                <a:gd name="connsiteY49" fmla="*/ 4022774 h 6858000"/>
                <a:gd name="connsiteX50" fmla="*/ 9340199 w 9767847"/>
                <a:gd name="connsiteY50" fmla="*/ 3969269 h 6858000"/>
                <a:gd name="connsiteX51" fmla="*/ 9347557 w 9767847"/>
                <a:gd name="connsiteY51" fmla="*/ 3770070 h 6858000"/>
                <a:gd name="connsiteX52" fmla="*/ 9346364 w 9767847"/>
                <a:gd name="connsiteY52" fmla="*/ 3669036 h 6858000"/>
                <a:gd name="connsiteX53" fmla="*/ 9344921 w 9767847"/>
                <a:gd name="connsiteY53" fmla="*/ 3619341 h 6858000"/>
                <a:gd name="connsiteX54" fmla="*/ 9344524 w 9767847"/>
                <a:gd name="connsiteY54" fmla="*/ 3607624 h 6858000"/>
                <a:gd name="connsiteX55" fmla="*/ 9343728 w 9767847"/>
                <a:gd name="connsiteY55" fmla="*/ 3594872 h 6858000"/>
                <a:gd name="connsiteX56" fmla="*/ 9342188 w 9767847"/>
                <a:gd name="connsiteY56" fmla="*/ 3569366 h 6858000"/>
                <a:gd name="connsiteX57" fmla="*/ 9339056 w 9767847"/>
                <a:gd name="connsiteY57" fmla="*/ 3518354 h 6858000"/>
                <a:gd name="connsiteX58" fmla="*/ 9334334 w 9767847"/>
                <a:gd name="connsiteY58" fmla="*/ 3467155 h 6858000"/>
                <a:gd name="connsiteX59" fmla="*/ 9329363 w 9767847"/>
                <a:gd name="connsiteY59" fmla="*/ 3415908 h 6858000"/>
                <a:gd name="connsiteX60" fmla="*/ 9328319 w 9767847"/>
                <a:gd name="connsiteY60" fmla="*/ 3404755 h 6858000"/>
                <a:gd name="connsiteX61" fmla="*/ 9327177 w 9767847"/>
                <a:gd name="connsiteY61" fmla="*/ 3394214 h 6858000"/>
                <a:gd name="connsiteX62" fmla="*/ 9324293 w 9767847"/>
                <a:gd name="connsiteY62" fmla="*/ 3370872 h 6858000"/>
                <a:gd name="connsiteX63" fmla="*/ 9320763 w 9767847"/>
                <a:gd name="connsiteY63" fmla="*/ 3344427 h 6858000"/>
                <a:gd name="connsiteX64" fmla="*/ 9317184 w 9767847"/>
                <a:gd name="connsiteY64" fmla="*/ 3315343 h 6858000"/>
                <a:gd name="connsiteX65" fmla="*/ 9311021 w 9767847"/>
                <a:gd name="connsiteY65" fmla="*/ 3270309 h 6858000"/>
                <a:gd name="connsiteX66" fmla="*/ 9302719 w 9767847"/>
                <a:gd name="connsiteY66" fmla="*/ 3219815 h 6858000"/>
                <a:gd name="connsiteX67" fmla="*/ 9293970 w 9767847"/>
                <a:gd name="connsiteY67" fmla="*/ 3169887 h 6858000"/>
                <a:gd name="connsiteX68" fmla="*/ 9252065 w 9767847"/>
                <a:gd name="connsiteY68" fmla="*/ 2971205 h 6858000"/>
                <a:gd name="connsiteX69" fmla="*/ 9227211 w 9767847"/>
                <a:gd name="connsiteY69" fmla="*/ 2872571 h 6858000"/>
                <a:gd name="connsiteX70" fmla="*/ 9220699 w 9767847"/>
                <a:gd name="connsiteY70" fmla="*/ 2848524 h 6858000"/>
                <a:gd name="connsiteX71" fmla="*/ 9213740 w 9767847"/>
                <a:gd name="connsiteY71" fmla="*/ 2824289 h 6858000"/>
                <a:gd name="connsiteX72" fmla="*/ 9199374 w 9767847"/>
                <a:gd name="connsiteY72" fmla="*/ 2775536 h 6858000"/>
                <a:gd name="connsiteX73" fmla="*/ 9061829 w 9767847"/>
                <a:gd name="connsiteY73" fmla="*/ 2389515 h 6858000"/>
                <a:gd name="connsiteX74" fmla="*/ 8978865 w 9767847"/>
                <a:gd name="connsiteY74" fmla="*/ 2200953 h 6858000"/>
                <a:gd name="connsiteX75" fmla="*/ 8956694 w 9767847"/>
                <a:gd name="connsiteY75" fmla="*/ 2154317 h 6858000"/>
                <a:gd name="connsiteX76" fmla="*/ 8934176 w 9767847"/>
                <a:gd name="connsiteY76" fmla="*/ 2108012 h 6858000"/>
                <a:gd name="connsiteX77" fmla="*/ 8887151 w 9767847"/>
                <a:gd name="connsiteY77" fmla="*/ 2015448 h 6858000"/>
                <a:gd name="connsiteX78" fmla="*/ 8787533 w 9767847"/>
                <a:gd name="connsiteY78" fmla="*/ 1832625 h 6858000"/>
                <a:gd name="connsiteX79" fmla="*/ 8761485 w 9767847"/>
                <a:gd name="connsiteY79" fmla="*/ 1787496 h 6858000"/>
                <a:gd name="connsiteX80" fmla="*/ 8734791 w 9767847"/>
                <a:gd name="connsiteY80" fmla="*/ 1741991 h 6858000"/>
                <a:gd name="connsiteX81" fmla="*/ 8680808 w 9767847"/>
                <a:gd name="connsiteY81" fmla="*/ 1652910 h 6858000"/>
                <a:gd name="connsiteX82" fmla="*/ 8567024 w 9767847"/>
                <a:gd name="connsiteY82" fmla="*/ 1477004 h 6858000"/>
                <a:gd name="connsiteX83" fmla="*/ 8537446 w 9767847"/>
                <a:gd name="connsiteY83" fmla="*/ 1433428 h 6858000"/>
                <a:gd name="connsiteX84" fmla="*/ 8507423 w 9767847"/>
                <a:gd name="connsiteY84" fmla="*/ 1389994 h 6858000"/>
                <a:gd name="connsiteX85" fmla="*/ 8446529 w 9767847"/>
                <a:gd name="connsiteY85" fmla="*/ 1304393 h 6858000"/>
                <a:gd name="connsiteX86" fmla="*/ 8319224 w 9767847"/>
                <a:gd name="connsiteY86" fmla="*/ 1135124 h 6858000"/>
                <a:gd name="connsiteX87" fmla="*/ 8286366 w 9767847"/>
                <a:gd name="connsiteY87" fmla="*/ 1093148 h 6858000"/>
                <a:gd name="connsiteX88" fmla="*/ 8270161 w 9767847"/>
                <a:gd name="connsiteY88" fmla="*/ 1072538 h 6858000"/>
                <a:gd name="connsiteX89" fmla="*/ 8253856 w 9767847"/>
                <a:gd name="connsiteY89" fmla="*/ 1052254 h 6858000"/>
                <a:gd name="connsiteX90" fmla="*/ 8186352 w 9767847"/>
                <a:gd name="connsiteY90" fmla="*/ 970373 h 6858000"/>
                <a:gd name="connsiteX91" fmla="*/ 8046768 w 9767847"/>
                <a:gd name="connsiteY91" fmla="*/ 809527 h 6858000"/>
                <a:gd name="connsiteX92" fmla="*/ 8010927 w 9767847"/>
                <a:gd name="connsiteY92" fmla="*/ 769951 h 6858000"/>
                <a:gd name="connsiteX93" fmla="*/ 7974788 w 9767847"/>
                <a:gd name="connsiteY93" fmla="*/ 730751 h 6858000"/>
                <a:gd name="connsiteX94" fmla="*/ 7901070 w 9767847"/>
                <a:gd name="connsiteY94" fmla="*/ 652823 h 6858000"/>
                <a:gd name="connsiteX95" fmla="*/ 7750054 w 9767847"/>
                <a:gd name="connsiteY95" fmla="*/ 501106 h 6858000"/>
                <a:gd name="connsiteX96" fmla="*/ 7592277 w 9767847"/>
                <a:gd name="connsiteY96" fmla="*/ 355319 h 6858000"/>
                <a:gd name="connsiteX97" fmla="*/ 7257734 w 9767847"/>
                <a:gd name="connsiteY97" fmla="*/ 81062 h 6858000"/>
                <a:gd name="connsiteX98" fmla="*/ 1892109 w 9767847"/>
                <a:gd name="connsiteY98" fmla="*/ 0 h 6858000"/>
                <a:gd name="connsiteX99" fmla="*/ 2298402 w 9767847"/>
                <a:gd name="connsiteY99" fmla="*/ 0 h 6858000"/>
                <a:gd name="connsiteX100" fmla="*/ 2135542 w 9767847"/>
                <a:gd name="connsiteY100" fmla="*/ 121879 h 6858000"/>
                <a:gd name="connsiteX101" fmla="*/ 1969576 w 9767847"/>
                <a:gd name="connsiteY101" fmla="*/ 259084 h 6858000"/>
                <a:gd name="connsiteX102" fmla="*/ 1659938 w 9767847"/>
                <a:gd name="connsiteY102" fmla="*/ 553953 h 6858000"/>
                <a:gd name="connsiteX103" fmla="*/ 729383 w 9767847"/>
                <a:gd name="connsiteY103" fmla="*/ 1940578 h 6858000"/>
                <a:gd name="connsiteX104" fmla="*/ 578465 w 9767847"/>
                <a:gd name="connsiteY104" fmla="*/ 2324905 h 6858000"/>
                <a:gd name="connsiteX105" fmla="*/ 465080 w 9767847"/>
                <a:gd name="connsiteY105" fmla="*/ 2718973 h 6858000"/>
                <a:gd name="connsiteX106" fmla="*/ 423820 w 9767847"/>
                <a:gd name="connsiteY106" fmla="*/ 2919535 h 6858000"/>
                <a:gd name="connsiteX107" fmla="*/ 392355 w 9767847"/>
                <a:gd name="connsiteY107" fmla="*/ 3122169 h 6858000"/>
                <a:gd name="connsiteX108" fmla="*/ 358801 w 9767847"/>
                <a:gd name="connsiteY108" fmla="*/ 3531013 h 6858000"/>
                <a:gd name="connsiteX109" fmla="*/ 410350 w 9767847"/>
                <a:gd name="connsiteY109" fmla="*/ 4352324 h 6858000"/>
                <a:gd name="connsiteX110" fmla="*/ 449022 w 9767847"/>
                <a:gd name="connsiteY110" fmla="*/ 4555147 h 6858000"/>
                <a:gd name="connsiteX111" fmla="*/ 498882 w 9767847"/>
                <a:gd name="connsiteY111" fmla="*/ 4756463 h 6858000"/>
                <a:gd name="connsiteX112" fmla="*/ 559775 w 9767847"/>
                <a:gd name="connsiteY112" fmla="*/ 4955755 h 6858000"/>
                <a:gd name="connsiteX113" fmla="*/ 631406 w 9767847"/>
                <a:gd name="connsiteY113" fmla="*/ 5152084 h 6858000"/>
                <a:gd name="connsiteX114" fmla="*/ 1023461 w 9767847"/>
                <a:gd name="connsiteY114" fmla="*/ 5898055 h 6858000"/>
                <a:gd name="connsiteX115" fmla="*/ 1575880 w 9767847"/>
                <a:gd name="connsiteY115" fmla="*/ 6551744 h 6858000"/>
                <a:gd name="connsiteX116" fmla="*/ 1905228 w 9767847"/>
                <a:gd name="connsiteY116" fmla="*/ 6833566 h 6858000"/>
                <a:gd name="connsiteX117" fmla="*/ 1938629 w 9767847"/>
                <a:gd name="connsiteY117" fmla="*/ 6858000 h 6858000"/>
                <a:gd name="connsiteX118" fmla="*/ 1368607 w 9767847"/>
                <a:gd name="connsiteY118" fmla="*/ 6858000 h 6858000"/>
                <a:gd name="connsiteX119" fmla="*/ 1115251 w 9767847"/>
                <a:gd name="connsiteY119" fmla="*/ 6594103 h 6858000"/>
                <a:gd name="connsiteX120" fmla="*/ 0 w 9767847"/>
                <a:gd name="connsiteY120" fmla="*/ 3653129 h 6858000"/>
                <a:gd name="connsiteX121" fmla="*/ 1777294 w 9767847"/>
                <a:gd name="connsiteY121" fmla="*/ 85415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</a:cxnLst>
              <a:rect l="l" t="t" r="r" b="b"/>
              <a:pathLst>
                <a:path w="9767847" h="6858000">
                  <a:moveTo>
                    <a:pt x="7145704" y="0"/>
                  </a:moveTo>
                  <a:lnTo>
                    <a:pt x="7875738" y="0"/>
                  </a:lnTo>
                  <a:lnTo>
                    <a:pt x="7990553" y="85415"/>
                  </a:lnTo>
                  <a:cubicBezTo>
                    <a:pt x="9075991" y="933432"/>
                    <a:pt x="9767847" y="2216793"/>
                    <a:pt x="9767847" y="3653129"/>
                  </a:cubicBezTo>
                  <a:cubicBezTo>
                    <a:pt x="9767847" y="4770280"/>
                    <a:pt x="9349317" y="5794890"/>
                    <a:pt x="8652597" y="6594103"/>
                  </a:cubicBezTo>
                  <a:lnTo>
                    <a:pt x="8399240" y="6858000"/>
                  </a:lnTo>
                  <a:lnTo>
                    <a:pt x="6766926" y="6858000"/>
                  </a:lnTo>
                  <a:lnTo>
                    <a:pt x="6804586" y="6821201"/>
                  </a:lnTo>
                  <a:lnTo>
                    <a:pt x="6881735" y="6745295"/>
                  </a:lnTo>
                  <a:cubicBezTo>
                    <a:pt x="6907435" y="6719979"/>
                    <a:pt x="6933134" y="6694896"/>
                    <a:pt x="6958883" y="6668920"/>
                  </a:cubicBezTo>
                  <a:lnTo>
                    <a:pt x="7267925" y="6359792"/>
                  </a:lnTo>
                  <a:lnTo>
                    <a:pt x="7424360" y="6204783"/>
                  </a:lnTo>
                  <a:cubicBezTo>
                    <a:pt x="7450754" y="6178900"/>
                    <a:pt x="7477598" y="6152829"/>
                    <a:pt x="7504938" y="6126806"/>
                  </a:cubicBezTo>
                  <a:lnTo>
                    <a:pt x="7546396" y="6087795"/>
                  </a:lnTo>
                  <a:cubicBezTo>
                    <a:pt x="7560264" y="6074901"/>
                    <a:pt x="7574780" y="6061630"/>
                    <a:pt x="7588002" y="6049630"/>
                  </a:cubicBezTo>
                  <a:lnTo>
                    <a:pt x="7631000" y="6010807"/>
                  </a:lnTo>
                  <a:lnTo>
                    <a:pt x="7675440" y="5972407"/>
                  </a:lnTo>
                  <a:cubicBezTo>
                    <a:pt x="7690404" y="5959796"/>
                    <a:pt x="7705564" y="5947419"/>
                    <a:pt x="7720626" y="5934949"/>
                  </a:cubicBezTo>
                  <a:cubicBezTo>
                    <a:pt x="7735738" y="5922525"/>
                    <a:pt x="7751197" y="5910619"/>
                    <a:pt x="7766458" y="5898432"/>
                  </a:cubicBezTo>
                  <a:cubicBezTo>
                    <a:pt x="7827949" y="5850290"/>
                    <a:pt x="7890979" y="5804597"/>
                    <a:pt x="7955254" y="5760926"/>
                  </a:cubicBezTo>
                  <a:cubicBezTo>
                    <a:pt x="8083800" y="5673632"/>
                    <a:pt x="8216872" y="5594434"/>
                    <a:pt x="8352678" y="5521728"/>
                  </a:cubicBezTo>
                  <a:lnTo>
                    <a:pt x="8451350" y="5469352"/>
                  </a:lnTo>
                  <a:lnTo>
                    <a:pt x="8548532" y="5417493"/>
                  </a:lnTo>
                  <a:cubicBezTo>
                    <a:pt x="8612110" y="5383188"/>
                    <a:pt x="8673251" y="5349306"/>
                    <a:pt x="8729473" y="5314059"/>
                  </a:cubicBezTo>
                  <a:cubicBezTo>
                    <a:pt x="8743591" y="5305213"/>
                    <a:pt x="8757161" y="5296459"/>
                    <a:pt x="8770781" y="5287330"/>
                  </a:cubicBezTo>
                  <a:cubicBezTo>
                    <a:pt x="8777591" y="5282765"/>
                    <a:pt x="8784451" y="5278201"/>
                    <a:pt x="8790964" y="5273590"/>
                  </a:cubicBezTo>
                  <a:cubicBezTo>
                    <a:pt x="8797574" y="5268977"/>
                    <a:pt x="8804235" y="5264412"/>
                    <a:pt x="8810499" y="5259801"/>
                  </a:cubicBezTo>
                  <a:cubicBezTo>
                    <a:pt x="8835999" y="5241401"/>
                    <a:pt x="8860407" y="5222389"/>
                    <a:pt x="8883571" y="5202577"/>
                  </a:cubicBezTo>
                  <a:cubicBezTo>
                    <a:pt x="8929900" y="5162954"/>
                    <a:pt x="8971258" y="5120413"/>
                    <a:pt x="9006651" y="5074625"/>
                  </a:cubicBezTo>
                  <a:cubicBezTo>
                    <a:pt x="9015351" y="5063426"/>
                    <a:pt x="9024398" y="5050955"/>
                    <a:pt x="9033494" y="5038203"/>
                  </a:cubicBezTo>
                  <a:lnTo>
                    <a:pt x="9040305" y="5028649"/>
                  </a:lnTo>
                  <a:lnTo>
                    <a:pt x="9046568" y="5019379"/>
                  </a:lnTo>
                  <a:cubicBezTo>
                    <a:pt x="9050743" y="5013261"/>
                    <a:pt x="9054819" y="5007050"/>
                    <a:pt x="9058846" y="5000743"/>
                  </a:cubicBezTo>
                  <a:cubicBezTo>
                    <a:pt x="9075002" y="4975615"/>
                    <a:pt x="9090212" y="4949403"/>
                    <a:pt x="9104529" y="4922203"/>
                  </a:cubicBezTo>
                  <a:cubicBezTo>
                    <a:pt x="9133211" y="4867850"/>
                    <a:pt x="9158313" y="4809545"/>
                    <a:pt x="9181081" y="4748792"/>
                  </a:cubicBezTo>
                  <a:cubicBezTo>
                    <a:pt x="9203748" y="4688276"/>
                    <a:pt x="9223383" y="4625876"/>
                    <a:pt x="9240731" y="4561970"/>
                  </a:cubicBezTo>
                  <a:cubicBezTo>
                    <a:pt x="9249481" y="4530064"/>
                    <a:pt x="9257682" y="4497782"/>
                    <a:pt x="9265388" y="4465171"/>
                  </a:cubicBezTo>
                  <a:cubicBezTo>
                    <a:pt x="9269215" y="4448842"/>
                    <a:pt x="9272943" y="4432465"/>
                    <a:pt x="9276571" y="4416041"/>
                  </a:cubicBezTo>
                  <a:lnTo>
                    <a:pt x="9281841" y="4391477"/>
                  </a:lnTo>
                  <a:lnTo>
                    <a:pt x="9286513" y="4368936"/>
                  </a:lnTo>
                  <a:lnTo>
                    <a:pt x="9296754" y="4316136"/>
                  </a:lnTo>
                  <a:lnTo>
                    <a:pt x="9301029" y="4293172"/>
                  </a:lnTo>
                  <a:lnTo>
                    <a:pt x="9302818" y="4282679"/>
                  </a:lnTo>
                  <a:lnTo>
                    <a:pt x="9304658" y="4270914"/>
                  </a:lnTo>
                  <a:lnTo>
                    <a:pt x="9312810" y="4220043"/>
                  </a:lnTo>
                  <a:lnTo>
                    <a:pt x="9316887" y="4194584"/>
                  </a:lnTo>
                  <a:lnTo>
                    <a:pt x="9318923" y="4181878"/>
                  </a:lnTo>
                  <a:cubicBezTo>
                    <a:pt x="9319570" y="4177644"/>
                    <a:pt x="9319969" y="4173267"/>
                    <a:pt x="9320515" y="4168984"/>
                  </a:cubicBezTo>
                  <a:lnTo>
                    <a:pt x="9332445" y="4069079"/>
                  </a:lnTo>
                  <a:cubicBezTo>
                    <a:pt x="9333836" y="4056468"/>
                    <a:pt x="9334880" y="4040986"/>
                    <a:pt x="9336173" y="4022774"/>
                  </a:cubicBezTo>
                  <a:lnTo>
                    <a:pt x="9340199" y="3969269"/>
                  </a:lnTo>
                  <a:cubicBezTo>
                    <a:pt x="9345071" y="3903904"/>
                    <a:pt x="9347358" y="3837081"/>
                    <a:pt x="9347557" y="3770070"/>
                  </a:cubicBezTo>
                  <a:cubicBezTo>
                    <a:pt x="9347656" y="3736518"/>
                    <a:pt x="9347209" y="3702871"/>
                    <a:pt x="9346364" y="3669036"/>
                  </a:cubicBezTo>
                  <a:lnTo>
                    <a:pt x="9344921" y="3619341"/>
                  </a:lnTo>
                  <a:lnTo>
                    <a:pt x="9344524" y="3607624"/>
                  </a:lnTo>
                  <a:lnTo>
                    <a:pt x="9343728" y="3594872"/>
                  </a:lnTo>
                  <a:lnTo>
                    <a:pt x="9342188" y="3569366"/>
                  </a:lnTo>
                  <a:lnTo>
                    <a:pt x="9339056" y="3518354"/>
                  </a:lnTo>
                  <a:cubicBezTo>
                    <a:pt x="9337914" y="3501319"/>
                    <a:pt x="9335874" y="3484236"/>
                    <a:pt x="9334334" y="3467155"/>
                  </a:cubicBezTo>
                  <a:lnTo>
                    <a:pt x="9329363" y="3415908"/>
                  </a:lnTo>
                  <a:lnTo>
                    <a:pt x="9328319" y="3404755"/>
                  </a:lnTo>
                  <a:lnTo>
                    <a:pt x="9327177" y="3394214"/>
                  </a:lnTo>
                  <a:lnTo>
                    <a:pt x="9324293" y="3370872"/>
                  </a:lnTo>
                  <a:lnTo>
                    <a:pt x="9320763" y="3344427"/>
                  </a:lnTo>
                  <a:lnTo>
                    <a:pt x="9317184" y="3315343"/>
                  </a:lnTo>
                  <a:cubicBezTo>
                    <a:pt x="9315594" y="3300991"/>
                    <a:pt x="9313506" y="3286404"/>
                    <a:pt x="9311021" y="3270309"/>
                  </a:cubicBezTo>
                  <a:lnTo>
                    <a:pt x="9302719" y="3219815"/>
                  </a:lnTo>
                  <a:cubicBezTo>
                    <a:pt x="9299936" y="3203157"/>
                    <a:pt x="9297003" y="3186498"/>
                    <a:pt x="9293970" y="3169887"/>
                  </a:cubicBezTo>
                  <a:cubicBezTo>
                    <a:pt x="9281891" y="3103393"/>
                    <a:pt x="9267674" y="3037182"/>
                    <a:pt x="9252065" y="2971205"/>
                  </a:cubicBezTo>
                  <a:cubicBezTo>
                    <a:pt x="9244261" y="2938265"/>
                    <a:pt x="9235959" y="2905371"/>
                    <a:pt x="9227211" y="2872571"/>
                  </a:cubicBezTo>
                  <a:lnTo>
                    <a:pt x="9220699" y="2848524"/>
                  </a:lnTo>
                  <a:lnTo>
                    <a:pt x="9213740" y="2824289"/>
                  </a:lnTo>
                  <a:cubicBezTo>
                    <a:pt x="9209216" y="2808147"/>
                    <a:pt x="9204345" y="2791866"/>
                    <a:pt x="9199374" y="2775536"/>
                  </a:cubicBezTo>
                  <a:cubicBezTo>
                    <a:pt x="9159855" y="2645184"/>
                    <a:pt x="9114272" y="2516197"/>
                    <a:pt x="9061829" y="2389515"/>
                  </a:cubicBezTo>
                  <a:cubicBezTo>
                    <a:pt x="9035582" y="2326175"/>
                    <a:pt x="9008043" y="2263258"/>
                    <a:pt x="8978865" y="2200953"/>
                  </a:cubicBezTo>
                  <a:lnTo>
                    <a:pt x="8956694" y="2154317"/>
                  </a:lnTo>
                  <a:lnTo>
                    <a:pt x="8934176" y="2108012"/>
                  </a:lnTo>
                  <a:cubicBezTo>
                    <a:pt x="8918915" y="2077189"/>
                    <a:pt x="8903157" y="2046130"/>
                    <a:pt x="8887151" y="2015448"/>
                  </a:cubicBezTo>
                  <a:cubicBezTo>
                    <a:pt x="8854988" y="1953989"/>
                    <a:pt x="8822082" y="1892908"/>
                    <a:pt x="8787533" y="1832625"/>
                  </a:cubicBezTo>
                  <a:lnTo>
                    <a:pt x="8761485" y="1787496"/>
                  </a:lnTo>
                  <a:lnTo>
                    <a:pt x="8734791" y="1741991"/>
                  </a:lnTo>
                  <a:cubicBezTo>
                    <a:pt x="8717047" y="1711921"/>
                    <a:pt x="8699200" y="1682461"/>
                    <a:pt x="8680808" y="1652910"/>
                  </a:cubicBezTo>
                  <a:cubicBezTo>
                    <a:pt x="8644322" y="1593756"/>
                    <a:pt x="8606194" y="1535216"/>
                    <a:pt x="8567024" y="1477004"/>
                  </a:cubicBezTo>
                  <a:lnTo>
                    <a:pt x="8537446" y="1433428"/>
                  </a:lnTo>
                  <a:lnTo>
                    <a:pt x="8507423" y="1389994"/>
                  </a:lnTo>
                  <a:cubicBezTo>
                    <a:pt x="8487390" y="1361382"/>
                    <a:pt x="8467158" y="1332817"/>
                    <a:pt x="8446529" y="1304393"/>
                  </a:cubicBezTo>
                  <a:cubicBezTo>
                    <a:pt x="8405271" y="1247595"/>
                    <a:pt x="8362718" y="1191218"/>
                    <a:pt x="8319224" y="1135124"/>
                  </a:cubicBezTo>
                  <a:lnTo>
                    <a:pt x="8286366" y="1093148"/>
                  </a:lnTo>
                  <a:lnTo>
                    <a:pt x="8270161" y="1072538"/>
                  </a:lnTo>
                  <a:lnTo>
                    <a:pt x="8253856" y="1052254"/>
                  </a:lnTo>
                  <a:cubicBezTo>
                    <a:pt x="8231636" y="1024773"/>
                    <a:pt x="8209117" y="997479"/>
                    <a:pt x="8186352" y="970373"/>
                  </a:cubicBezTo>
                  <a:cubicBezTo>
                    <a:pt x="8140917" y="916020"/>
                    <a:pt x="8094240" y="862515"/>
                    <a:pt x="8046768" y="809527"/>
                  </a:cubicBezTo>
                  <a:lnTo>
                    <a:pt x="8010927" y="769951"/>
                  </a:lnTo>
                  <a:lnTo>
                    <a:pt x="7974788" y="730751"/>
                  </a:lnTo>
                  <a:cubicBezTo>
                    <a:pt x="7950382" y="704587"/>
                    <a:pt x="7925824" y="678563"/>
                    <a:pt x="7901070" y="652823"/>
                  </a:cubicBezTo>
                  <a:cubicBezTo>
                    <a:pt x="7851510" y="601387"/>
                    <a:pt x="7801404" y="550612"/>
                    <a:pt x="7750054" y="501106"/>
                  </a:cubicBezTo>
                  <a:cubicBezTo>
                    <a:pt x="7698902" y="451742"/>
                    <a:pt x="7645913" y="403036"/>
                    <a:pt x="7592277" y="355319"/>
                  </a:cubicBezTo>
                  <a:cubicBezTo>
                    <a:pt x="7484856" y="259884"/>
                    <a:pt x="7373308" y="168402"/>
                    <a:pt x="7257734" y="81062"/>
                  </a:cubicBezTo>
                  <a:close/>
                  <a:moveTo>
                    <a:pt x="1892109" y="0"/>
                  </a:moveTo>
                  <a:lnTo>
                    <a:pt x="2298402" y="0"/>
                  </a:lnTo>
                  <a:lnTo>
                    <a:pt x="2135542" y="121879"/>
                  </a:lnTo>
                  <a:cubicBezTo>
                    <a:pt x="2078998" y="166378"/>
                    <a:pt x="2023659" y="212143"/>
                    <a:pt x="1969576" y="259084"/>
                  </a:cubicBezTo>
                  <a:cubicBezTo>
                    <a:pt x="1861309" y="352918"/>
                    <a:pt x="1758064" y="451412"/>
                    <a:pt x="1659938" y="553953"/>
                  </a:cubicBezTo>
                  <a:cubicBezTo>
                    <a:pt x="1266987" y="964444"/>
                    <a:pt x="953820" y="1435593"/>
                    <a:pt x="729383" y="1940578"/>
                  </a:cubicBezTo>
                  <a:cubicBezTo>
                    <a:pt x="673260" y="2066459"/>
                    <a:pt x="622855" y="2195070"/>
                    <a:pt x="578465" y="2324905"/>
                  </a:cubicBezTo>
                  <a:cubicBezTo>
                    <a:pt x="534125" y="2454785"/>
                    <a:pt x="496147" y="2586314"/>
                    <a:pt x="465080" y="2718973"/>
                  </a:cubicBezTo>
                  <a:cubicBezTo>
                    <a:pt x="449769" y="2785089"/>
                    <a:pt x="435850" y="2852289"/>
                    <a:pt x="423820" y="2919535"/>
                  </a:cubicBezTo>
                  <a:cubicBezTo>
                    <a:pt x="411840" y="2986829"/>
                    <a:pt x="401054" y="3054358"/>
                    <a:pt x="392355" y="3122169"/>
                  </a:cubicBezTo>
                  <a:cubicBezTo>
                    <a:pt x="374509" y="3257744"/>
                    <a:pt x="363424" y="3393978"/>
                    <a:pt x="358801" y="3531013"/>
                  </a:cubicBezTo>
                  <a:cubicBezTo>
                    <a:pt x="349009" y="3804941"/>
                    <a:pt x="366357" y="4079668"/>
                    <a:pt x="410350" y="4352324"/>
                  </a:cubicBezTo>
                  <a:cubicBezTo>
                    <a:pt x="421286" y="4420230"/>
                    <a:pt x="434209" y="4487758"/>
                    <a:pt x="449022" y="4555147"/>
                  </a:cubicBezTo>
                  <a:cubicBezTo>
                    <a:pt x="463737" y="4622534"/>
                    <a:pt x="480389" y="4689686"/>
                    <a:pt x="498882" y="4756463"/>
                  </a:cubicBezTo>
                  <a:cubicBezTo>
                    <a:pt x="517373" y="4823239"/>
                    <a:pt x="537704" y="4889733"/>
                    <a:pt x="559775" y="4955755"/>
                  </a:cubicBezTo>
                  <a:cubicBezTo>
                    <a:pt x="581946" y="5021873"/>
                    <a:pt x="605358" y="5087473"/>
                    <a:pt x="631406" y="5152084"/>
                  </a:cubicBezTo>
                  <a:cubicBezTo>
                    <a:pt x="734055" y="5411706"/>
                    <a:pt x="865188" y="5662668"/>
                    <a:pt x="1023461" y="5898055"/>
                  </a:cubicBezTo>
                  <a:cubicBezTo>
                    <a:pt x="1181487" y="6133676"/>
                    <a:pt x="1367051" y="6353345"/>
                    <a:pt x="1575880" y="6551744"/>
                  </a:cubicBezTo>
                  <a:cubicBezTo>
                    <a:pt x="1680269" y="6651014"/>
                    <a:pt x="1790338" y="6745037"/>
                    <a:pt x="1905228" y="6833566"/>
                  </a:cubicBezTo>
                  <a:lnTo>
                    <a:pt x="1938629" y="6858000"/>
                  </a:lnTo>
                  <a:lnTo>
                    <a:pt x="1368607" y="6858000"/>
                  </a:lnTo>
                  <a:lnTo>
                    <a:pt x="1115251" y="6594103"/>
                  </a:lnTo>
                  <a:cubicBezTo>
                    <a:pt x="418530" y="5794890"/>
                    <a:pt x="0" y="4770280"/>
                    <a:pt x="0" y="3653129"/>
                  </a:cubicBezTo>
                  <a:cubicBezTo>
                    <a:pt x="0" y="2216793"/>
                    <a:pt x="691856" y="933432"/>
                    <a:pt x="1777294" y="85415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>
                <a:solidFill>
                  <a:schemeClr val="lt1"/>
                </a:solidFill>
              </a:endParaRPr>
            </a:p>
          </p:txBody>
        </p:sp>
      </p:grpSp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31772" y="1849000"/>
            <a:ext cx="7280223" cy="1203293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marL="13335" algn="ctr">
              <a:lnSpc>
                <a:spcPct val="90000"/>
              </a:lnSpc>
              <a:spcBef>
                <a:spcPct val="0"/>
              </a:spcBef>
            </a:pPr>
            <a:r>
              <a:rPr lang="en-US" sz="3900" kern="1200" dirty="0">
                <a:latin typeface="Gill Sans MT" panose="020B0502020104020203" pitchFamily="34" charset="0"/>
                <a:cs typeface="+mj-cs"/>
              </a:rPr>
              <a:t>THANK YOU FOR YOUR ATTENTION</a:t>
            </a:r>
            <a:endParaRPr lang="en-US" dirty="0">
              <a:latin typeface="Gill Sans MT" panose="020B0502020104020203" pitchFamily="34" charset="0"/>
              <a:cs typeface="+mj-cs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2528141" y="3601102"/>
            <a:ext cx="4087487" cy="511559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marR="5080" algn="ctr">
              <a:lnSpc>
                <a:spcPct val="90000"/>
              </a:lnSpc>
              <a:spcBef>
                <a:spcPts val="1000"/>
              </a:spcBef>
            </a:pPr>
            <a:r>
              <a:rPr lang="en-US" sz="2000" spc="90" dirty="0">
                <a:latin typeface="Gill Sans MT" panose="020B0502020104020203" pitchFamily="34" charset="0"/>
                <a:ea typeface="Calibri"/>
                <a:cs typeface="Calibri"/>
              </a:rPr>
              <a:t>Any Questions?</a:t>
            </a:r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17147D5D-F01F-4164-BD81-D10DC6F23E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5356" y="2140"/>
            <a:ext cx="2087566" cy="1804834"/>
            <a:chOff x="-305" y="-4155"/>
            <a:chExt cx="2514948" cy="2174333"/>
          </a:xfrm>
        </p:grpSpPr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F24C7412-3E2D-4708-8DC3-425A457A101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14948" cy="2170178"/>
            </a:xfrm>
            <a:custGeom>
              <a:avLst/>
              <a:gdLst>
                <a:gd name="connsiteX0" fmla="*/ 2466091 w 2514948"/>
                <a:gd name="connsiteY0" fmla="*/ 0 h 2170178"/>
                <a:gd name="connsiteX1" fmla="*/ 2514948 w 2514948"/>
                <a:gd name="connsiteY1" fmla="*/ 0 h 2170178"/>
                <a:gd name="connsiteX2" fmla="*/ 2512286 w 2514948"/>
                <a:gd name="connsiteY2" fmla="*/ 12375 h 2170178"/>
                <a:gd name="connsiteX3" fmla="*/ 2394961 w 2514948"/>
                <a:gd name="connsiteY3" fmla="*/ 368660 h 2170178"/>
                <a:gd name="connsiteX4" fmla="*/ 2289734 w 2514948"/>
                <a:gd name="connsiteY4" fmla="*/ 598078 h 2170178"/>
                <a:gd name="connsiteX5" fmla="*/ 2163747 w 2514948"/>
                <a:gd name="connsiteY5" fmla="*/ 819078 h 2170178"/>
                <a:gd name="connsiteX6" fmla="*/ 1852241 w 2514948"/>
                <a:gd name="connsiteY6" fmla="*/ 1228932 h 2170178"/>
                <a:gd name="connsiteX7" fmla="*/ 1668235 w 2514948"/>
                <a:gd name="connsiteY7" fmla="*/ 1413844 h 2170178"/>
                <a:gd name="connsiteX8" fmla="*/ 1619510 w 2514948"/>
                <a:gd name="connsiteY8" fmla="*/ 1457722 h 2170178"/>
                <a:gd name="connsiteX9" fmla="*/ 1569835 w 2514948"/>
                <a:gd name="connsiteY9" fmla="*/ 1500704 h 2170178"/>
                <a:gd name="connsiteX10" fmla="*/ 1467169 w 2514948"/>
                <a:gd name="connsiteY10" fmla="*/ 1583266 h 2170178"/>
                <a:gd name="connsiteX11" fmla="*/ 1018393 w 2514948"/>
                <a:gd name="connsiteY11" fmla="*/ 1867576 h 2170178"/>
                <a:gd name="connsiteX12" fmla="*/ 255857 w 2514948"/>
                <a:gd name="connsiteY12" fmla="*/ 2133049 h 2170178"/>
                <a:gd name="connsiteX13" fmla="*/ 0 w 2514948"/>
                <a:gd name="connsiteY13" fmla="*/ 2170178 h 2170178"/>
                <a:gd name="connsiteX14" fmla="*/ 0 w 2514948"/>
                <a:gd name="connsiteY14" fmla="*/ 1940056 h 2170178"/>
                <a:gd name="connsiteX15" fmla="*/ 201609 w 2514948"/>
                <a:gd name="connsiteY15" fmla="*/ 1902856 h 2170178"/>
                <a:gd name="connsiteX16" fmla="*/ 440974 w 2514948"/>
                <a:gd name="connsiteY16" fmla="*/ 1838472 h 2170178"/>
                <a:gd name="connsiteX17" fmla="*/ 674558 w 2514948"/>
                <a:gd name="connsiteY17" fmla="*/ 1756359 h 2170178"/>
                <a:gd name="connsiteX18" fmla="*/ 901222 w 2514948"/>
                <a:gd name="connsiteY18" fmla="*/ 1657142 h 2170178"/>
                <a:gd name="connsiteX19" fmla="*/ 1330943 w 2514948"/>
                <a:gd name="connsiteY19" fmla="*/ 1413396 h 2170178"/>
                <a:gd name="connsiteX20" fmla="*/ 1432566 w 2514948"/>
                <a:gd name="connsiteY20" fmla="*/ 1343193 h 2170178"/>
                <a:gd name="connsiteX21" fmla="*/ 1482527 w 2514948"/>
                <a:gd name="connsiteY21" fmla="*/ 1306926 h 2170178"/>
                <a:gd name="connsiteX22" fmla="*/ 1531821 w 2514948"/>
                <a:gd name="connsiteY22" fmla="*/ 1269765 h 2170178"/>
                <a:gd name="connsiteX23" fmla="*/ 1721986 w 2514948"/>
                <a:gd name="connsiteY23" fmla="*/ 1112073 h 2170178"/>
                <a:gd name="connsiteX24" fmla="*/ 2061460 w 2514948"/>
                <a:gd name="connsiteY24" fmla="*/ 754336 h 2170178"/>
                <a:gd name="connsiteX25" fmla="*/ 2206218 w 2514948"/>
                <a:gd name="connsiteY25" fmla="*/ 554827 h 2170178"/>
                <a:gd name="connsiteX26" fmla="*/ 2329455 w 2514948"/>
                <a:gd name="connsiteY26" fmla="*/ 341886 h 2170178"/>
                <a:gd name="connsiteX27" fmla="*/ 2356757 w 2514948"/>
                <a:gd name="connsiteY27" fmla="*/ 286815 h 2170178"/>
                <a:gd name="connsiteX28" fmla="*/ 2370030 w 2514948"/>
                <a:gd name="connsiteY28" fmla="*/ 259056 h 2170178"/>
                <a:gd name="connsiteX29" fmla="*/ 2382637 w 2514948"/>
                <a:gd name="connsiteY29" fmla="*/ 231028 h 2170178"/>
                <a:gd name="connsiteX30" fmla="*/ 2406716 w 2514948"/>
                <a:gd name="connsiteY30" fmla="*/ 174525 h 2170178"/>
                <a:gd name="connsiteX31" fmla="*/ 2429278 w 2514948"/>
                <a:gd name="connsiteY31" fmla="*/ 117393 h 21701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2514948" h="2170178">
                  <a:moveTo>
                    <a:pt x="2466091" y="0"/>
                  </a:moveTo>
                  <a:lnTo>
                    <a:pt x="2514948" y="0"/>
                  </a:lnTo>
                  <a:lnTo>
                    <a:pt x="2512286" y="12375"/>
                  </a:lnTo>
                  <a:cubicBezTo>
                    <a:pt x="2481760" y="133161"/>
                    <a:pt x="2442526" y="252239"/>
                    <a:pt x="2394961" y="368660"/>
                  </a:cubicBezTo>
                  <a:cubicBezTo>
                    <a:pt x="2363109" y="446208"/>
                    <a:pt x="2328603" y="523039"/>
                    <a:pt x="2289734" y="598078"/>
                  </a:cubicBezTo>
                  <a:cubicBezTo>
                    <a:pt x="2251436" y="673387"/>
                    <a:pt x="2209251" y="747083"/>
                    <a:pt x="2163747" y="819078"/>
                  </a:cubicBezTo>
                  <a:cubicBezTo>
                    <a:pt x="2072646" y="962979"/>
                    <a:pt x="1968652" y="1100611"/>
                    <a:pt x="1852241" y="1228932"/>
                  </a:cubicBezTo>
                  <a:cubicBezTo>
                    <a:pt x="1793748" y="1292868"/>
                    <a:pt x="1732698" y="1354923"/>
                    <a:pt x="1668235" y="1413844"/>
                  </a:cubicBezTo>
                  <a:cubicBezTo>
                    <a:pt x="1652214" y="1428709"/>
                    <a:pt x="1636100" y="1443395"/>
                    <a:pt x="1619510" y="1457722"/>
                  </a:cubicBezTo>
                  <a:cubicBezTo>
                    <a:pt x="1603015" y="1472140"/>
                    <a:pt x="1586805" y="1486825"/>
                    <a:pt x="1569835" y="1500704"/>
                  </a:cubicBezTo>
                  <a:cubicBezTo>
                    <a:pt x="1536276" y="1528911"/>
                    <a:pt x="1501865" y="1556223"/>
                    <a:pt x="1467169" y="1583266"/>
                  </a:cubicBezTo>
                  <a:cubicBezTo>
                    <a:pt x="1327719" y="1690722"/>
                    <a:pt x="1177085" y="1785910"/>
                    <a:pt x="1018393" y="1867576"/>
                  </a:cubicBezTo>
                  <a:cubicBezTo>
                    <a:pt x="780425" y="1990142"/>
                    <a:pt x="522567" y="2080875"/>
                    <a:pt x="255857" y="2133049"/>
                  </a:cubicBezTo>
                  <a:lnTo>
                    <a:pt x="0" y="2170178"/>
                  </a:lnTo>
                  <a:lnTo>
                    <a:pt x="0" y="1940056"/>
                  </a:lnTo>
                  <a:lnTo>
                    <a:pt x="201609" y="1902856"/>
                  </a:lnTo>
                  <a:cubicBezTo>
                    <a:pt x="282186" y="1884231"/>
                    <a:pt x="362102" y="1863008"/>
                    <a:pt x="440974" y="1838472"/>
                  </a:cubicBezTo>
                  <a:cubicBezTo>
                    <a:pt x="519848" y="1814027"/>
                    <a:pt x="597771" y="1786627"/>
                    <a:pt x="674558" y="1756359"/>
                  </a:cubicBezTo>
                  <a:cubicBezTo>
                    <a:pt x="751250" y="1726003"/>
                    <a:pt x="826900" y="1692870"/>
                    <a:pt x="901222" y="1657142"/>
                  </a:cubicBezTo>
                  <a:cubicBezTo>
                    <a:pt x="1049865" y="1585774"/>
                    <a:pt x="1193581" y="1504376"/>
                    <a:pt x="1330943" y="1413396"/>
                  </a:cubicBezTo>
                  <a:cubicBezTo>
                    <a:pt x="1365165" y="1390563"/>
                    <a:pt x="1399293" y="1367370"/>
                    <a:pt x="1432566" y="1343193"/>
                  </a:cubicBezTo>
                  <a:cubicBezTo>
                    <a:pt x="1449441" y="1331373"/>
                    <a:pt x="1465936" y="1319104"/>
                    <a:pt x="1482527" y="1306926"/>
                  </a:cubicBezTo>
                  <a:cubicBezTo>
                    <a:pt x="1499210" y="1294837"/>
                    <a:pt x="1515611" y="1282391"/>
                    <a:pt x="1531821" y="1269765"/>
                  </a:cubicBezTo>
                  <a:cubicBezTo>
                    <a:pt x="1596947" y="1219350"/>
                    <a:pt x="1660652" y="1167055"/>
                    <a:pt x="1721986" y="1112073"/>
                  </a:cubicBezTo>
                  <a:cubicBezTo>
                    <a:pt x="1844940" y="1002469"/>
                    <a:pt x="1958983" y="882926"/>
                    <a:pt x="2061460" y="754336"/>
                  </a:cubicBezTo>
                  <a:cubicBezTo>
                    <a:pt x="2112652" y="690042"/>
                    <a:pt x="2161094" y="623510"/>
                    <a:pt x="2206218" y="554827"/>
                  </a:cubicBezTo>
                  <a:cubicBezTo>
                    <a:pt x="2250583" y="485787"/>
                    <a:pt x="2292484" y="415046"/>
                    <a:pt x="2329455" y="341886"/>
                  </a:cubicBezTo>
                  <a:cubicBezTo>
                    <a:pt x="2339030" y="323709"/>
                    <a:pt x="2347941" y="305261"/>
                    <a:pt x="2356757" y="286815"/>
                  </a:cubicBezTo>
                  <a:lnTo>
                    <a:pt x="2370030" y="259056"/>
                  </a:lnTo>
                  <a:lnTo>
                    <a:pt x="2382637" y="231028"/>
                  </a:lnTo>
                  <a:cubicBezTo>
                    <a:pt x="2390885" y="212312"/>
                    <a:pt x="2399227" y="193598"/>
                    <a:pt x="2406716" y="174525"/>
                  </a:cubicBezTo>
                  <a:cubicBezTo>
                    <a:pt x="2414206" y="155452"/>
                    <a:pt x="2422453" y="136646"/>
                    <a:pt x="2429278" y="11739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71483A6A-CB0B-4469-B09D-C9451F9B079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-4155"/>
              <a:ext cx="2493062" cy="1947896"/>
            </a:xfrm>
            <a:custGeom>
              <a:avLst/>
              <a:gdLst>
                <a:gd name="connsiteX0" fmla="*/ 1896911 w 2493062"/>
                <a:gd name="connsiteY0" fmla="*/ 0 h 1947896"/>
                <a:gd name="connsiteX1" fmla="*/ 2493062 w 2493062"/>
                <a:gd name="connsiteY1" fmla="*/ 0 h 1947896"/>
                <a:gd name="connsiteX2" fmla="*/ 2435315 w 2493062"/>
                <a:gd name="connsiteY2" fmla="*/ 178165 h 1947896"/>
                <a:gd name="connsiteX3" fmla="*/ 93066 w 2493062"/>
                <a:gd name="connsiteY3" fmla="*/ 1935859 h 1947896"/>
                <a:gd name="connsiteX4" fmla="*/ 0 w 2493062"/>
                <a:gd name="connsiteY4" fmla="*/ 1947896 h 1947896"/>
                <a:gd name="connsiteX5" fmla="*/ 0 w 2493062"/>
                <a:gd name="connsiteY5" fmla="*/ 1404756 h 1947896"/>
                <a:gd name="connsiteX6" fmla="*/ 17392 w 2493062"/>
                <a:gd name="connsiteY6" fmla="*/ 1402364 h 1947896"/>
                <a:gd name="connsiteX7" fmla="*/ 464249 w 2493062"/>
                <a:gd name="connsiteY7" fmla="*/ 1281208 h 1947896"/>
                <a:gd name="connsiteX8" fmla="*/ 1260556 w 2493062"/>
                <a:gd name="connsiteY8" fmla="*/ 833835 h 1947896"/>
                <a:gd name="connsiteX9" fmla="*/ 1807924 w 2493062"/>
                <a:gd name="connsiteY9" fmla="*/ 193222 h 1947896"/>
                <a:gd name="connsiteX10" fmla="*/ 1874357 w 2493062"/>
                <a:gd name="connsiteY10" fmla="*/ 58333 h 19478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3062" h="1947896">
                  <a:moveTo>
                    <a:pt x="1896911" y="0"/>
                  </a:moveTo>
                  <a:lnTo>
                    <a:pt x="2493062" y="0"/>
                  </a:lnTo>
                  <a:lnTo>
                    <a:pt x="2435315" y="178165"/>
                  </a:lnTo>
                  <a:cubicBezTo>
                    <a:pt x="2088122" y="1071812"/>
                    <a:pt x="1129732" y="1758033"/>
                    <a:pt x="93066" y="1935859"/>
                  </a:cubicBezTo>
                  <a:lnTo>
                    <a:pt x="0" y="1947896"/>
                  </a:lnTo>
                  <a:lnTo>
                    <a:pt x="0" y="1404756"/>
                  </a:lnTo>
                  <a:lnTo>
                    <a:pt x="17392" y="1402364"/>
                  </a:lnTo>
                  <a:cubicBezTo>
                    <a:pt x="167719" y="1375030"/>
                    <a:pt x="318070" y="1334398"/>
                    <a:pt x="464249" y="1281208"/>
                  </a:cubicBezTo>
                  <a:cubicBezTo>
                    <a:pt x="753480" y="1176081"/>
                    <a:pt x="1028869" y="1021346"/>
                    <a:pt x="1260556" y="833835"/>
                  </a:cubicBezTo>
                  <a:cubicBezTo>
                    <a:pt x="1491960" y="646594"/>
                    <a:pt x="1681177" y="425056"/>
                    <a:pt x="1807924" y="193222"/>
                  </a:cubicBezTo>
                  <a:cubicBezTo>
                    <a:pt x="1832328" y="148578"/>
                    <a:pt x="1854477" y="103599"/>
                    <a:pt x="1874357" y="5833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9A935E9D-EB55-46F3-BCCB-9CB918E8705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01089" cy="1972702"/>
            </a:xfrm>
            <a:custGeom>
              <a:avLst/>
              <a:gdLst>
                <a:gd name="connsiteX0" fmla="*/ 2318728 w 2501089"/>
                <a:gd name="connsiteY0" fmla="*/ 0 h 1972702"/>
                <a:gd name="connsiteX1" fmla="*/ 2501089 w 2501089"/>
                <a:gd name="connsiteY1" fmla="*/ 0 h 1972702"/>
                <a:gd name="connsiteX2" fmla="*/ 2453909 w 2501089"/>
                <a:gd name="connsiteY2" fmla="*/ 167837 h 1972702"/>
                <a:gd name="connsiteX3" fmla="*/ 2361125 w 2501089"/>
                <a:gd name="connsiteY3" fmla="*/ 392084 h 1972702"/>
                <a:gd name="connsiteX4" fmla="*/ 1768255 w 2501089"/>
                <a:gd name="connsiteY4" fmla="*/ 1167644 h 1972702"/>
                <a:gd name="connsiteX5" fmla="*/ 1375125 w 2501089"/>
                <a:gd name="connsiteY5" fmla="*/ 1471474 h 1972702"/>
                <a:gd name="connsiteX6" fmla="*/ 935735 w 2501089"/>
                <a:gd name="connsiteY6" fmla="*/ 1712713 h 1972702"/>
                <a:gd name="connsiteX7" fmla="*/ 212353 w 2501089"/>
                <a:gd name="connsiteY7" fmla="*/ 1940294 h 1972702"/>
                <a:gd name="connsiteX8" fmla="*/ 0 w 2501089"/>
                <a:gd name="connsiteY8" fmla="*/ 1972702 h 1972702"/>
                <a:gd name="connsiteX9" fmla="*/ 0 w 2501089"/>
                <a:gd name="connsiteY9" fmla="*/ 1732181 h 1972702"/>
                <a:gd name="connsiteX10" fmla="*/ 161195 w 2501089"/>
                <a:gd name="connsiteY10" fmla="*/ 1706590 h 1972702"/>
                <a:gd name="connsiteX11" fmla="*/ 388463 w 2501089"/>
                <a:gd name="connsiteY11" fmla="*/ 1652268 h 1972702"/>
                <a:gd name="connsiteX12" fmla="*/ 826716 w 2501089"/>
                <a:gd name="connsiteY12" fmla="*/ 1493950 h 1972702"/>
                <a:gd name="connsiteX13" fmla="*/ 1609847 w 2501089"/>
                <a:gd name="connsiteY13" fmla="*/ 1007535 h 1972702"/>
                <a:gd name="connsiteX14" fmla="*/ 1929982 w 2501089"/>
                <a:gd name="connsiteY14" fmla="*/ 682930 h 1972702"/>
                <a:gd name="connsiteX15" fmla="*/ 2183093 w 2501089"/>
                <a:gd name="connsiteY15" fmla="*/ 310149 h 1972702"/>
                <a:gd name="connsiteX16" fmla="*/ 2280286 w 2501089"/>
                <a:gd name="connsiteY16" fmla="*/ 108435 h 1972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501089" h="1972702">
                  <a:moveTo>
                    <a:pt x="2318728" y="0"/>
                  </a:moveTo>
                  <a:lnTo>
                    <a:pt x="2501089" y="0"/>
                  </a:lnTo>
                  <a:lnTo>
                    <a:pt x="2453909" y="167837"/>
                  </a:lnTo>
                  <a:cubicBezTo>
                    <a:pt x="2427555" y="244153"/>
                    <a:pt x="2396627" y="319103"/>
                    <a:pt x="2361125" y="392084"/>
                  </a:cubicBezTo>
                  <a:cubicBezTo>
                    <a:pt x="2218453" y="684005"/>
                    <a:pt x="2011698" y="945211"/>
                    <a:pt x="1768255" y="1167644"/>
                  </a:cubicBezTo>
                  <a:cubicBezTo>
                    <a:pt x="1646250" y="1278860"/>
                    <a:pt x="1514385" y="1380316"/>
                    <a:pt x="1375125" y="1471474"/>
                  </a:cubicBezTo>
                  <a:cubicBezTo>
                    <a:pt x="1235677" y="1562542"/>
                    <a:pt x="1088928" y="1643672"/>
                    <a:pt x="935735" y="1712713"/>
                  </a:cubicBezTo>
                  <a:cubicBezTo>
                    <a:pt x="705659" y="1815533"/>
                    <a:pt x="462359" y="1892212"/>
                    <a:pt x="212353" y="1940294"/>
                  </a:cubicBezTo>
                  <a:lnTo>
                    <a:pt x="0" y="1972702"/>
                  </a:lnTo>
                  <a:lnTo>
                    <a:pt x="0" y="1732181"/>
                  </a:lnTo>
                  <a:lnTo>
                    <a:pt x="161195" y="1706590"/>
                  </a:lnTo>
                  <a:cubicBezTo>
                    <a:pt x="237638" y="1691378"/>
                    <a:pt x="313477" y="1673222"/>
                    <a:pt x="388463" y="1652268"/>
                  </a:cubicBezTo>
                  <a:cubicBezTo>
                    <a:pt x="538529" y="1610539"/>
                    <a:pt x="684898" y="1556543"/>
                    <a:pt x="826716" y="1493950"/>
                  </a:cubicBezTo>
                  <a:cubicBezTo>
                    <a:pt x="1111207" y="1370107"/>
                    <a:pt x="1376832" y="1205881"/>
                    <a:pt x="1609847" y="1007535"/>
                  </a:cubicBezTo>
                  <a:cubicBezTo>
                    <a:pt x="1725975" y="908049"/>
                    <a:pt x="1833571" y="799519"/>
                    <a:pt x="1929982" y="682930"/>
                  </a:cubicBezTo>
                  <a:cubicBezTo>
                    <a:pt x="2026581" y="566520"/>
                    <a:pt x="2111806" y="441692"/>
                    <a:pt x="2183093" y="310149"/>
                  </a:cubicBezTo>
                  <a:cubicBezTo>
                    <a:pt x="2218738" y="244422"/>
                    <a:pt x="2251396" y="177150"/>
                    <a:pt x="2280286" y="10843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800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8EDC5655-C7D7-4936-91EA-E188A96DC6C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2491105" cy="1943661"/>
            </a:xfrm>
            <a:custGeom>
              <a:avLst/>
              <a:gdLst>
                <a:gd name="connsiteX0" fmla="*/ 1995408 w 2491105"/>
                <a:gd name="connsiteY0" fmla="*/ 0 h 1943661"/>
                <a:gd name="connsiteX1" fmla="*/ 2491105 w 2491105"/>
                <a:gd name="connsiteY1" fmla="*/ 0 h 1943661"/>
                <a:gd name="connsiteX2" fmla="*/ 2434705 w 2491105"/>
                <a:gd name="connsiteY2" fmla="*/ 174009 h 1943661"/>
                <a:gd name="connsiteX3" fmla="*/ 92457 w 2491105"/>
                <a:gd name="connsiteY3" fmla="*/ 1931703 h 1943661"/>
                <a:gd name="connsiteX4" fmla="*/ 0 w 2491105"/>
                <a:gd name="connsiteY4" fmla="*/ 1943661 h 1943661"/>
                <a:gd name="connsiteX5" fmla="*/ 0 w 2491105"/>
                <a:gd name="connsiteY5" fmla="*/ 1491489 h 1943661"/>
                <a:gd name="connsiteX6" fmla="*/ 34107 w 2491105"/>
                <a:gd name="connsiteY6" fmla="*/ 1486836 h 1943661"/>
                <a:gd name="connsiteX7" fmla="*/ 497577 w 2491105"/>
                <a:gd name="connsiteY7" fmla="*/ 1360598 h 1943661"/>
                <a:gd name="connsiteX8" fmla="*/ 1321566 w 2491105"/>
                <a:gd name="connsiteY8" fmla="*/ 897645 h 1943661"/>
                <a:gd name="connsiteX9" fmla="*/ 1891495 w 2491105"/>
                <a:gd name="connsiteY9" fmla="*/ 230078 h 1943661"/>
                <a:gd name="connsiteX10" fmla="*/ 1961469 w 2491105"/>
                <a:gd name="connsiteY10" fmla="*/ 87885 h 1943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1105" h="1943661">
                  <a:moveTo>
                    <a:pt x="1995408" y="0"/>
                  </a:moveTo>
                  <a:lnTo>
                    <a:pt x="2491105" y="0"/>
                  </a:lnTo>
                  <a:lnTo>
                    <a:pt x="2434705" y="174009"/>
                  </a:lnTo>
                  <a:cubicBezTo>
                    <a:pt x="2087512" y="1067655"/>
                    <a:pt x="1129122" y="1753877"/>
                    <a:pt x="92457" y="1931703"/>
                  </a:cubicBezTo>
                  <a:lnTo>
                    <a:pt x="0" y="1943661"/>
                  </a:lnTo>
                  <a:lnTo>
                    <a:pt x="0" y="1491489"/>
                  </a:lnTo>
                  <a:lnTo>
                    <a:pt x="34107" y="1486836"/>
                  </a:lnTo>
                  <a:cubicBezTo>
                    <a:pt x="189055" y="1458696"/>
                    <a:pt x="343908" y="1416565"/>
                    <a:pt x="497577" y="1360598"/>
                  </a:cubicBezTo>
                  <a:cubicBezTo>
                    <a:pt x="796856" y="1251889"/>
                    <a:pt x="1081725" y="1091781"/>
                    <a:pt x="1321566" y="897645"/>
                  </a:cubicBezTo>
                  <a:cubicBezTo>
                    <a:pt x="1565577" y="700195"/>
                    <a:pt x="1757355" y="475523"/>
                    <a:pt x="1891495" y="230078"/>
                  </a:cubicBezTo>
                  <a:cubicBezTo>
                    <a:pt x="1917197" y="183033"/>
                    <a:pt x="1940526" y="135619"/>
                    <a:pt x="1961469" y="8788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6D0E248E-80AB-4B35-BA8D-F940FCB443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10800000">
            <a:off x="7062939" y="3342501"/>
            <a:ext cx="2087566" cy="1804834"/>
            <a:chOff x="-305" y="-4155"/>
            <a:chExt cx="2514948" cy="2174333"/>
          </a:xfrm>
        </p:grpSpPr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F9E91B0A-66E8-4298-BAC6-004DBE49197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14948" cy="2170178"/>
            </a:xfrm>
            <a:custGeom>
              <a:avLst/>
              <a:gdLst>
                <a:gd name="connsiteX0" fmla="*/ 2466091 w 2514948"/>
                <a:gd name="connsiteY0" fmla="*/ 0 h 2170178"/>
                <a:gd name="connsiteX1" fmla="*/ 2514948 w 2514948"/>
                <a:gd name="connsiteY1" fmla="*/ 0 h 2170178"/>
                <a:gd name="connsiteX2" fmla="*/ 2512286 w 2514948"/>
                <a:gd name="connsiteY2" fmla="*/ 12375 h 2170178"/>
                <a:gd name="connsiteX3" fmla="*/ 2394961 w 2514948"/>
                <a:gd name="connsiteY3" fmla="*/ 368660 h 2170178"/>
                <a:gd name="connsiteX4" fmla="*/ 2289734 w 2514948"/>
                <a:gd name="connsiteY4" fmla="*/ 598078 h 2170178"/>
                <a:gd name="connsiteX5" fmla="*/ 2163747 w 2514948"/>
                <a:gd name="connsiteY5" fmla="*/ 819078 h 2170178"/>
                <a:gd name="connsiteX6" fmla="*/ 1852241 w 2514948"/>
                <a:gd name="connsiteY6" fmla="*/ 1228932 h 2170178"/>
                <a:gd name="connsiteX7" fmla="*/ 1668235 w 2514948"/>
                <a:gd name="connsiteY7" fmla="*/ 1413844 h 2170178"/>
                <a:gd name="connsiteX8" fmla="*/ 1619510 w 2514948"/>
                <a:gd name="connsiteY8" fmla="*/ 1457722 h 2170178"/>
                <a:gd name="connsiteX9" fmla="*/ 1569835 w 2514948"/>
                <a:gd name="connsiteY9" fmla="*/ 1500704 h 2170178"/>
                <a:gd name="connsiteX10" fmla="*/ 1467169 w 2514948"/>
                <a:gd name="connsiteY10" fmla="*/ 1583266 h 2170178"/>
                <a:gd name="connsiteX11" fmla="*/ 1018393 w 2514948"/>
                <a:gd name="connsiteY11" fmla="*/ 1867576 h 2170178"/>
                <a:gd name="connsiteX12" fmla="*/ 255857 w 2514948"/>
                <a:gd name="connsiteY12" fmla="*/ 2133049 h 2170178"/>
                <a:gd name="connsiteX13" fmla="*/ 0 w 2514948"/>
                <a:gd name="connsiteY13" fmla="*/ 2170178 h 2170178"/>
                <a:gd name="connsiteX14" fmla="*/ 0 w 2514948"/>
                <a:gd name="connsiteY14" fmla="*/ 1940056 h 2170178"/>
                <a:gd name="connsiteX15" fmla="*/ 201609 w 2514948"/>
                <a:gd name="connsiteY15" fmla="*/ 1902856 h 2170178"/>
                <a:gd name="connsiteX16" fmla="*/ 440974 w 2514948"/>
                <a:gd name="connsiteY16" fmla="*/ 1838472 h 2170178"/>
                <a:gd name="connsiteX17" fmla="*/ 674558 w 2514948"/>
                <a:gd name="connsiteY17" fmla="*/ 1756359 h 2170178"/>
                <a:gd name="connsiteX18" fmla="*/ 901222 w 2514948"/>
                <a:gd name="connsiteY18" fmla="*/ 1657142 h 2170178"/>
                <a:gd name="connsiteX19" fmla="*/ 1330943 w 2514948"/>
                <a:gd name="connsiteY19" fmla="*/ 1413396 h 2170178"/>
                <a:gd name="connsiteX20" fmla="*/ 1432566 w 2514948"/>
                <a:gd name="connsiteY20" fmla="*/ 1343193 h 2170178"/>
                <a:gd name="connsiteX21" fmla="*/ 1482527 w 2514948"/>
                <a:gd name="connsiteY21" fmla="*/ 1306926 h 2170178"/>
                <a:gd name="connsiteX22" fmla="*/ 1531821 w 2514948"/>
                <a:gd name="connsiteY22" fmla="*/ 1269765 h 2170178"/>
                <a:gd name="connsiteX23" fmla="*/ 1721986 w 2514948"/>
                <a:gd name="connsiteY23" fmla="*/ 1112073 h 2170178"/>
                <a:gd name="connsiteX24" fmla="*/ 2061460 w 2514948"/>
                <a:gd name="connsiteY24" fmla="*/ 754336 h 2170178"/>
                <a:gd name="connsiteX25" fmla="*/ 2206218 w 2514948"/>
                <a:gd name="connsiteY25" fmla="*/ 554827 h 2170178"/>
                <a:gd name="connsiteX26" fmla="*/ 2329455 w 2514948"/>
                <a:gd name="connsiteY26" fmla="*/ 341886 h 2170178"/>
                <a:gd name="connsiteX27" fmla="*/ 2356757 w 2514948"/>
                <a:gd name="connsiteY27" fmla="*/ 286815 h 2170178"/>
                <a:gd name="connsiteX28" fmla="*/ 2370030 w 2514948"/>
                <a:gd name="connsiteY28" fmla="*/ 259056 h 2170178"/>
                <a:gd name="connsiteX29" fmla="*/ 2382637 w 2514948"/>
                <a:gd name="connsiteY29" fmla="*/ 231028 h 2170178"/>
                <a:gd name="connsiteX30" fmla="*/ 2406716 w 2514948"/>
                <a:gd name="connsiteY30" fmla="*/ 174525 h 2170178"/>
                <a:gd name="connsiteX31" fmla="*/ 2429278 w 2514948"/>
                <a:gd name="connsiteY31" fmla="*/ 117393 h 21701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2514948" h="2170178">
                  <a:moveTo>
                    <a:pt x="2466091" y="0"/>
                  </a:moveTo>
                  <a:lnTo>
                    <a:pt x="2514948" y="0"/>
                  </a:lnTo>
                  <a:lnTo>
                    <a:pt x="2512286" y="12375"/>
                  </a:lnTo>
                  <a:cubicBezTo>
                    <a:pt x="2481760" y="133161"/>
                    <a:pt x="2442526" y="252239"/>
                    <a:pt x="2394961" y="368660"/>
                  </a:cubicBezTo>
                  <a:cubicBezTo>
                    <a:pt x="2363109" y="446208"/>
                    <a:pt x="2328603" y="523039"/>
                    <a:pt x="2289734" y="598078"/>
                  </a:cubicBezTo>
                  <a:cubicBezTo>
                    <a:pt x="2251436" y="673387"/>
                    <a:pt x="2209251" y="747083"/>
                    <a:pt x="2163747" y="819078"/>
                  </a:cubicBezTo>
                  <a:cubicBezTo>
                    <a:pt x="2072646" y="962979"/>
                    <a:pt x="1968652" y="1100611"/>
                    <a:pt x="1852241" y="1228932"/>
                  </a:cubicBezTo>
                  <a:cubicBezTo>
                    <a:pt x="1793748" y="1292868"/>
                    <a:pt x="1732698" y="1354923"/>
                    <a:pt x="1668235" y="1413844"/>
                  </a:cubicBezTo>
                  <a:cubicBezTo>
                    <a:pt x="1652214" y="1428709"/>
                    <a:pt x="1636100" y="1443395"/>
                    <a:pt x="1619510" y="1457722"/>
                  </a:cubicBezTo>
                  <a:cubicBezTo>
                    <a:pt x="1603015" y="1472140"/>
                    <a:pt x="1586805" y="1486825"/>
                    <a:pt x="1569835" y="1500704"/>
                  </a:cubicBezTo>
                  <a:cubicBezTo>
                    <a:pt x="1536276" y="1528911"/>
                    <a:pt x="1501865" y="1556223"/>
                    <a:pt x="1467169" y="1583266"/>
                  </a:cubicBezTo>
                  <a:cubicBezTo>
                    <a:pt x="1327719" y="1690722"/>
                    <a:pt x="1177085" y="1785910"/>
                    <a:pt x="1018393" y="1867576"/>
                  </a:cubicBezTo>
                  <a:cubicBezTo>
                    <a:pt x="780425" y="1990142"/>
                    <a:pt x="522567" y="2080875"/>
                    <a:pt x="255857" y="2133049"/>
                  </a:cubicBezTo>
                  <a:lnTo>
                    <a:pt x="0" y="2170178"/>
                  </a:lnTo>
                  <a:lnTo>
                    <a:pt x="0" y="1940056"/>
                  </a:lnTo>
                  <a:lnTo>
                    <a:pt x="201609" y="1902856"/>
                  </a:lnTo>
                  <a:cubicBezTo>
                    <a:pt x="282186" y="1884231"/>
                    <a:pt x="362102" y="1863008"/>
                    <a:pt x="440974" y="1838472"/>
                  </a:cubicBezTo>
                  <a:cubicBezTo>
                    <a:pt x="519848" y="1814027"/>
                    <a:pt x="597771" y="1786627"/>
                    <a:pt x="674558" y="1756359"/>
                  </a:cubicBezTo>
                  <a:cubicBezTo>
                    <a:pt x="751250" y="1726003"/>
                    <a:pt x="826900" y="1692870"/>
                    <a:pt x="901222" y="1657142"/>
                  </a:cubicBezTo>
                  <a:cubicBezTo>
                    <a:pt x="1049865" y="1585774"/>
                    <a:pt x="1193581" y="1504376"/>
                    <a:pt x="1330943" y="1413396"/>
                  </a:cubicBezTo>
                  <a:cubicBezTo>
                    <a:pt x="1365165" y="1390563"/>
                    <a:pt x="1399293" y="1367370"/>
                    <a:pt x="1432566" y="1343193"/>
                  </a:cubicBezTo>
                  <a:cubicBezTo>
                    <a:pt x="1449441" y="1331373"/>
                    <a:pt x="1465936" y="1319104"/>
                    <a:pt x="1482527" y="1306926"/>
                  </a:cubicBezTo>
                  <a:cubicBezTo>
                    <a:pt x="1499210" y="1294837"/>
                    <a:pt x="1515611" y="1282391"/>
                    <a:pt x="1531821" y="1269765"/>
                  </a:cubicBezTo>
                  <a:cubicBezTo>
                    <a:pt x="1596947" y="1219350"/>
                    <a:pt x="1660652" y="1167055"/>
                    <a:pt x="1721986" y="1112073"/>
                  </a:cubicBezTo>
                  <a:cubicBezTo>
                    <a:pt x="1844940" y="1002469"/>
                    <a:pt x="1958983" y="882926"/>
                    <a:pt x="2061460" y="754336"/>
                  </a:cubicBezTo>
                  <a:cubicBezTo>
                    <a:pt x="2112652" y="690042"/>
                    <a:pt x="2161094" y="623510"/>
                    <a:pt x="2206218" y="554827"/>
                  </a:cubicBezTo>
                  <a:cubicBezTo>
                    <a:pt x="2250583" y="485787"/>
                    <a:pt x="2292484" y="415046"/>
                    <a:pt x="2329455" y="341886"/>
                  </a:cubicBezTo>
                  <a:cubicBezTo>
                    <a:pt x="2339030" y="323709"/>
                    <a:pt x="2347941" y="305261"/>
                    <a:pt x="2356757" y="286815"/>
                  </a:cubicBezTo>
                  <a:lnTo>
                    <a:pt x="2370030" y="259056"/>
                  </a:lnTo>
                  <a:lnTo>
                    <a:pt x="2382637" y="231028"/>
                  </a:lnTo>
                  <a:cubicBezTo>
                    <a:pt x="2390885" y="212312"/>
                    <a:pt x="2399227" y="193598"/>
                    <a:pt x="2406716" y="174525"/>
                  </a:cubicBezTo>
                  <a:cubicBezTo>
                    <a:pt x="2414206" y="155452"/>
                    <a:pt x="2422453" y="136646"/>
                    <a:pt x="2429278" y="11739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0A629C66-36BD-487E-B1CD-ED026D77890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-4155"/>
              <a:ext cx="2493062" cy="1947896"/>
            </a:xfrm>
            <a:custGeom>
              <a:avLst/>
              <a:gdLst>
                <a:gd name="connsiteX0" fmla="*/ 1896911 w 2493062"/>
                <a:gd name="connsiteY0" fmla="*/ 0 h 1947896"/>
                <a:gd name="connsiteX1" fmla="*/ 2493062 w 2493062"/>
                <a:gd name="connsiteY1" fmla="*/ 0 h 1947896"/>
                <a:gd name="connsiteX2" fmla="*/ 2435315 w 2493062"/>
                <a:gd name="connsiteY2" fmla="*/ 178165 h 1947896"/>
                <a:gd name="connsiteX3" fmla="*/ 93066 w 2493062"/>
                <a:gd name="connsiteY3" fmla="*/ 1935859 h 1947896"/>
                <a:gd name="connsiteX4" fmla="*/ 0 w 2493062"/>
                <a:gd name="connsiteY4" fmla="*/ 1947896 h 1947896"/>
                <a:gd name="connsiteX5" fmla="*/ 0 w 2493062"/>
                <a:gd name="connsiteY5" fmla="*/ 1404756 h 1947896"/>
                <a:gd name="connsiteX6" fmla="*/ 17392 w 2493062"/>
                <a:gd name="connsiteY6" fmla="*/ 1402364 h 1947896"/>
                <a:gd name="connsiteX7" fmla="*/ 464249 w 2493062"/>
                <a:gd name="connsiteY7" fmla="*/ 1281208 h 1947896"/>
                <a:gd name="connsiteX8" fmla="*/ 1260556 w 2493062"/>
                <a:gd name="connsiteY8" fmla="*/ 833835 h 1947896"/>
                <a:gd name="connsiteX9" fmla="*/ 1807924 w 2493062"/>
                <a:gd name="connsiteY9" fmla="*/ 193222 h 1947896"/>
                <a:gd name="connsiteX10" fmla="*/ 1874357 w 2493062"/>
                <a:gd name="connsiteY10" fmla="*/ 58333 h 19478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3062" h="1947896">
                  <a:moveTo>
                    <a:pt x="1896911" y="0"/>
                  </a:moveTo>
                  <a:lnTo>
                    <a:pt x="2493062" y="0"/>
                  </a:lnTo>
                  <a:lnTo>
                    <a:pt x="2435315" y="178165"/>
                  </a:lnTo>
                  <a:cubicBezTo>
                    <a:pt x="2088122" y="1071812"/>
                    <a:pt x="1129732" y="1758033"/>
                    <a:pt x="93066" y="1935859"/>
                  </a:cubicBezTo>
                  <a:lnTo>
                    <a:pt x="0" y="1947896"/>
                  </a:lnTo>
                  <a:lnTo>
                    <a:pt x="0" y="1404756"/>
                  </a:lnTo>
                  <a:lnTo>
                    <a:pt x="17392" y="1402364"/>
                  </a:lnTo>
                  <a:cubicBezTo>
                    <a:pt x="167719" y="1375030"/>
                    <a:pt x="318070" y="1334398"/>
                    <a:pt x="464249" y="1281208"/>
                  </a:cubicBezTo>
                  <a:cubicBezTo>
                    <a:pt x="753480" y="1176081"/>
                    <a:pt x="1028869" y="1021346"/>
                    <a:pt x="1260556" y="833835"/>
                  </a:cubicBezTo>
                  <a:cubicBezTo>
                    <a:pt x="1491960" y="646594"/>
                    <a:pt x="1681177" y="425056"/>
                    <a:pt x="1807924" y="193222"/>
                  </a:cubicBezTo>
                  <a:cubicBezTo>
                    <a:pt x="1832328" y="148578"/>
                    <a:pt x="1854477" y="103599"/>
                    <a:pt x="1874357" y="5833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A6BC2D2C-3D7D-4224-81BC-22C094C9FBE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01089" cy="1972702"/>
            </a:xfrm>
            <a:custGeom>
              <a:avLst/>
              <a:gdLst>
                <a:gd name="connsiteX0" fmla="*/ 2318728 w 2501089"/>
                <a:gd name="connsiteY0" fmla="*/ 0 h 1972702"/>
                <a:gd name="connsiteX1" fmla="*/ 2501089 w 2501089"/>
                <a:gd name="connsiteY1" fmla="*/ 0 h 1972702"/>
                <a:gd name="connsiteX2" fmla="*/ 2453909 w 2501089"/>
                <a:gd name="connsiteY2" fmla="*/ 167837 h 1972702"/>
                <a:gd name="connsiteX3" fmla="*/ 2361125 w 2501089"/>
                <a:gd name="connsiteY3" fmla="*/ 392084 h 1972702"/>
                <a:gd name="connsiteX4" fmla="*/ 1768255 w 2501089"/>
                <a:gd name="connsiteY4" fmla="*/ 1167644 h 1972702"/>
                <a:gd name="connsiteX5" fmla="*/ 1375125 w 2501089"/>
                <a:gd name="connsiteY5" fmla="*/ 1471474 h 1972702"/>
                <a:gd name="connsiteX6" fmla="*/ 935735 w 2501089"/>
                <a:gd name="connsiteY6" fmla="*/ 1712713 h 1972702"/>
                <a:gd name="connsiteX7" fmla="*/ 212353 w 2501089"/>
                <a:gd name="connsiteY7" fmla="*/ 1940294 h 1972702"/>
                <a:gd name="connsiteX8" fmla="*/ 0 w 2501089"/>
                <a:gd name="connsiteY8" fmla="*/ 1972702 h 1972702"/>
                <a:gd name="connsiteX9" fmla="*/ 0 w 2501089"/>
                <a:gd name="connsiteY9" fmla="*/ 1732181 h 1972702"/>
                <a:gd name="connsiteX10" fmla="*/ 161195 w 2501089"/>
                <a:gd name="connsiteY10" fmla="*/ 1706590 h 1972702"/>
                <a:gd name="connsiteX11" fmla="*/ 388463 w 2501089"/>
                <a:gd name="connsiteY11" fmla="*/ 1652268 h 1972702"/>
                <a:gd name="connsiteX12" fmla="*/ 826716 w 2501089"/>
                <a:gd name="connsiteY12" fmla="*/ 1493950 h 1972702"/>
                <a:gd name="connsiteX13" fmla="*/ 1609847 w 2501089"/>
                <a:gd name="connsiteY13" fmla="*/ 1007535 h 1972702"/>
                <a:gd name="connsiteX14" fmla="*/ 1929982 w 2501089"/>
                <a:gd name="connsiteY14" fmla="*/ 682930 h 1972702"/>
                <a:gd name="connsiteX15" fmla="*/ 2183093 w 2501089"/>
                <a:gd name="connsiteY15" fmla="*/ 310149 h 1972702"/>
                <a:gd name="connsiteX16" fmla="*/ 2280286 w 2501089"/>
                <a:gd name="connsiteY16" fmla="*/ 108435 h 1972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501089" h="1972702">
                  <a:moveTo>
                    <a:pt x="2318728" y="0"/>
                  </a:moveTo>
                  <a:lnTo>
                    <a:pt x="2501089" y="0"/>
                  </a:lnTo>
                  <a:lnTo>
                    <a:pt x="2453909" y="167837"/>
                  </a:lnTo>
                  <a:cubicBezTo>
                    <a:pt x="2427555" y="244153"/>
                    <a:pt x="2396627" y="319103"/>
                    <a:pt x="2361125" y="392084"/>
                  </a:cubicBezTo>
                  <a:cubicBezTo>
                    <a:pt x="2218453" y="684005"/>
                    <a:pt x="2011698" y="945211"/>
                    <a:pt x="1768255" y="1167644"/>
                  </a:cubicBezTo>
                  <a:cubicBezTo>
                    <a:pt x="1646250" y="1278860"/>
                    <a:pt x="1514385" y="1380316"/>
                    <a:pt x="1375125" y="1471474"/>
                  </a:cubicBezTo>
                  <a:cubicBezTo>
                    <a:pt x="1235677" y="1562542"/>
                    <a:pt x="1088928" y="1643672"/>
                    <a:pt x="935735" y="1712713"/>
                  </a:cubicBezTo>
                  <a:cubicBezTo>
                    <a:pt x="705659" y="1815533"/>
                    <a:pt x="462359" y="1892212"/>
                    <a:pt x="212353" y="1940294"/>
                  </a:cubicBezTo>
                  <a:lnTo>
                    <a:pt x="0" y="1972702"/>
                  </a:lnTo>
                  <a:lnTo>
                    <a:pt x="0" y="1732181"/>
                  </a:lnTo>
                  <a:lnTo>
                    <a:pt x="161195" y="1706590"/>
                  </a:lnTo>
                  <a:cubicBezTo>
                    <a:pt x="237638" y="1691378"/>
                    <a:pt x="313477" y="1673222"/>
                    <a:pt x="388463" y="1652268"/>
                  </a:cubicBezTo>
                  <a:cubicBezTo>
                    <a:pt x="538529" y="1610539"/>
                    <a:pt x="684898" y="1556543"/>
                    <a:pt x="826716" y="1493950"/>
                  </a:cubicBezTo>
                  <a:cubicBezTo>
                    <a:pt x="1111207" y="1370107"/>
                    <a:pt x="1376832" y="1205881"/>
                    <a:pt x="1609847" y="1007535"/>
                  </a:cubicBezTo>
                  <a:cubicBezTo>
                    <a:pt x="1725975" y="908049"/>
                    <a:pt x="1833571" y="799519"/>
                    <a:pt x="1929982" y="682930"/>
                  </a:cubicBezTo>
                  <a:cubicBezTo>
                    <a:pt x="2026581" y="566520"/>
                    <a:pt x="2111806" y="441692"/>
                    <a:pt x="2183093" y="310149"/>
                  </a:cubicBezTo>
                  <a:cubicBezTo>
                    <a:pt x="2218738" y="244422"/>
                    <a:pt x="2251396" y="177150"/>
                    <a:pt x="2280286" y="10843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800"/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53BDF903-22C5-4312-8776-C2ABC3EDC03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2491105" cy="1943661"/>
            </a:xfrm>
            <a:custGeom>
              <a:avLst/>
              <a:gdLst>
                <a:gd name="connsiteX0" fmla="*/ 1995408 w 2491105"/>
                <a:gd name="connsiteY0" fmla="*/ 0 h 1943661"/>
                <a:gd name="connsiteX1" fmla="*/ 2491105 w 2491105"/>
                <a:gd name="connsiteY1" fmla="*/ 0 h 1943661"/>
                <a:gd name="connsiteX2" fmla="*/ 2434705 w 2491105"/>
                <a:gd name="connsiteY2" fmla="*/ 174009 h 1943661"/>
                <a:gd name="connsiteX3" fmla="*/ 92457 w 2491105"/>
                <a:gd name="connsiteY3" fmla="*/ 1931703 h 1943661"/>
                <a:gd name="connsiteX4" fmla="*/ 0 w 2491105"/>
                <a:gd name="connsiteY4" fmla="*/ 1943661 h 1943661"/>
                <a:gd name="connsiteX5" fmla="*/ 0 w 2491105"/>
                <a:gd name="connsiteY5" fmla="*/ 1491489 h 1943661"/>
                <a:gd name="connsiteX6" fmla="*/ 34107 w 2491105"/>
                <a:gd name="connsiteY6" fmla="*/ 1486836 h 1943661"/>
                <a:gd name="connsiteX7" fmla="*/ 497577 w 2491105"/>
                <a:gd name="connsiteY7" fmla="*/ 1360598 h 1943661"/>
                <a:gd name="connsiteX8" fmla="*/ 1321566 w 2491105"/>
                <a:gd name="connsiteY8" fmla="*/ 897645 h 1943661"/>
                <a:gd name="connsiteX9" fmla="*/ 1891495 w 2491105"/>
                <a:gd name="connsiteY9" fmla="*/ 230078 h 1943661"/>
                <a:gd name="connsiteX10" fmla="*/ 1961469 w 2491105"/>
                <a:gd name="connsiteY10" fmla="*/ 87885 h 1943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1105" h="1943661">
                  <a:moveTo>
                    <a:pt x="1995408" y="0"/>
                  </a:moveTo>
                  <a:lnTo>
                    <a:pt x="2491105" y="0"/>
                  </a:lnTo>
                  <a:lnTo>
                    <a:pt x="2434705" y="174009"/>
                  </a:lnTo>
                  <a:cubicBezTo>
                    <a:pt x="2087512" y="1067655"/>
                    <a:pt x="1129122" y="1753877"/>
                    <a:pt x="92457" y="1931703"/>
                  </a:cubicBezTo>
                  <a:lnTo>
                    <a:pt x="0" y="1943661"/>
                  </a:lnTo>
                  <a:lnTo>
                    <a:pt x="0" y="1491489"/>
                  </a:lnTo>
                  <a:lnTo>
                    <a:pt x="34107" y="1486836"/>
                  </a:lnTo>
                  <a:cubicBezTo>
                    <a:pt x="189055" y="1458696"/>
                    <a:pt x="343908" y="1416565"/>
                    <a:pt x="497577" y="1360598"/>
                  </a:cubicBezTo>
                  <a:cubicBezTo>
                    <a:pt x="796856" y="1251889"/>
                    <a:pt x="1081725" y="1091781"/>
                    <a:pt x="1321566" y="897645"/>
                  </a:cubicBezTo>
                  <a:cubicBezTo>
                    <a:pt x="1565577" y="700195"/>
                    <a:pt x="1757355" y="475523"/>
                    <a:pt x="1891495" y="230078"/>
                  </a:cubicBezTo>
                  <a:cubicBezTo>
                    <a:pt x="1917197" y="183033"/>
                    <a:pt x="1940526" y="135619"/>
                    <a:pt x="1961469" y="8788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5E501437-FB88-7A2A-3F59-139A1089EF71}"/>
              </a:ext>
            </a:extLst>
          </p:cNvPr>
          <p:cNvSpPr txBox="1"/>
          <p:nvPr/>
        </p:nvSpPr>
        <p:spPr>
          <a:xfrm>
            <a:off x="7422076" y="4667641"/>
            <a:ext cx="14013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>
                <a:latin typeface="Gill Sans MT" panose="020B0502020104020203" pitchFamily="34" charset="0"/>
              </a:rPr>
              <a:t>Samuel Piron</a:t>
            </a:r>
            <a:endParaRPr lang="en-US" dirty="0">
              <a:latin typeface="Gill Sans MT" panose="020B05020201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58DA097-A460-FC34-9717-992B1047E122}"/>
              </a:ext>
            </a:extLst>
          </p:cNvPr>
          <p:cNvSpPr txBox="1"/>
          <p:nvPr/>
        </p:nvSpPr>
        <p:spPr>
          <a:xfrm>
            <a:off x="2012367" y="810578"/>
            <a:ext cx="5249258" cy="98488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t-IT" sz="2800" dirty="0">
                <a:latin typeface="Gill Sans MT" panose="020B0502020104020203" pitchFamily="34" charset="0"/>
              </a:rPr>
              <a:t>Gut Brain 2025 Challenge</a:t>
            </a:r>
          </a:p>
          <a:p>
            <a:pPr algn="ctr"/>
            <a:r>
              <a:rPr lang="it-IT" sz="3000" dirty="0">
                <a:latin typeface="Gill Sans MT" panose="020B0502020104020203" pitchFamily="34" charset="0"/>
                <a:ea typeface="Calibri"/>
                <a:cs typeface="Calibri"/>
              </a:rPr>
              <a:t>ADVANCED TEXT ANALYTICS</a:t>
            </a:r>
            <a:endParaRPr lang="en-US" sz="3000" dirty="0">
              <a:latin typeface="Gill Sans MT" panose="020B05020201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E92F572-E8F0-896E-85A5-0BF386CC3D85}"/>
              </a:ext>
            </a:extLst>
          </p:cNvPr>
          <p:cNvSpPr txBox="1"/>
          <p:nvPr/>
        </p:nvSpPr>
        <p:spPr>
          <a:xfrm>
            <a:off x="4026060" y="2909653"/>
            <a:ext cx="12362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>
                <a:latin typeface="Gill Sans MT" panose="020B0502020104020203" pitchFamily="34" charset="0"/>
              </a:rPr>
              <a:t>10/04/2025</a:t>
            </a:r>
            <a:endParaRPr lang="en-US" dirty="0">
              <a:latin typeface="Gill Sans MT" panose="020B05020201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8646119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 Boardroom</Template>
  <TotalTime>0</TotalTime>
  <Words>2229</Words>
  <Application>Microsoft Office PowerPoint</Application>
  <PresentationFormat>On-screen Show (16:9)</PresentationFormat>
  <Paragraphs>418</Paragraphs>
  <Slides>36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44" baseType="lpstr">
      <vt:lpstr>Aptos</vt:lpstr>
      <vt:lpstr>Arial</vt:lpstr>
      <vt:lpstr>Arial MT</vt:lpstr>
      <vt:lpstr>Arial,Sans-Serif</vt:lpstr>
      <vt:lpstr>Calibri</vt:lpstr>
      <vt:lpstr>Gill Sans MT</vt:lpstr>
      <vt:lpstr>Inter</vt:lpstr>
      <vt:lpstr>Office Theme</vt:lpstr>
      <vt:lpstr>GutBrain Task 6 Challenge:  NER &amp; RE models ADVANCED TEXT ANALYTICS Prof. Giorgio Maria di Nunzio  SAMUEL PIRON  10/04/2025 </vt:lpstr>
      <vt:lpstr>OVERVIEW</vt:lpstr>
      <vt:lpstr>1. Introduction</vt:lpstr>
      <vt:lpstr>PowerPoint Presentation</vt:lpstr>
      <vt:lpstr>PowerPoint Presentation</vt:lpstr>
      <vt:lpstr>2. Data Overview</vt:lpstr>
      <vt:lpstr>PowerPoint Presentation</vt:lpstr>
      <vt:lpstr>3. NER Model</vt:lpstr>
      <vt:lpstr>NER MODEL – GliNER (I)</vt:lpstr>
      <vt:lpstr>NER Model – GliNER (II)</vt:lpstr>
      <vt:lpstr>NER Model – GliNER (III)</vt:lpstr>
      <vt:lpstr>NER Model - Implementation</vt:lpstr>
      <vt:lpstr>NER Model – Train Pipeline (I)</vt:lpstr>
      <vt:lpstr>NER Model – Train Pipeline (II)</vt:lpstr>
      <vt:lpstr>NER Model – Train Pipeline (III)</vt:lpstr>
      <vt:lpstr>4. Data Augmentation</vt:lpstr>
      <vt:lpstr>Data Augmentation</vt:lpstr>
      <vt:lpstr>Data Augmentation -  Implementation (I)</vt:lpstr>
      <vt:lpstr>Data Augmentation -  Implementation (II)</vt:lpstr>
      <vt:lpstr>Data Augmentation -  Implementation (II)</vt:lpstr>
      <vt:lpstr>5. RE Model</vt:lpstr>
      <vt:lpstr>RE Model – Implementation (I)</vt:lpstr>
      <vt:lpstr>RE Model – Implementation (II)</vt:lpstr>
      <vt:lpstr>RE Model – Train Pipeline (III)</vt:lpstr>
      <vt:lpstr>RE Model – Key Points</vt:lpstr>
      <vt:lpstr>4. Model Evaluation</vt:lpstr>
      <vt:lpstr>Evaluation Metrics</vt:lpstr>
      <vt:lpstr>NER Model - Evaluation</vt:lpstr>
      <vt:lpstr>Binary Tag-Based Relation Extraction</vt:lpstr>
      <vt:lpstr>Ternary Tag-Based RE</vt:lpstr>
      <vt:lpstr>Ternary Mention-Based RE</vt:lpstr>
      <vt:lpstr>5. Conclusions and Future Work</vt:lpstr>
      <vt:lpstr>Conclusions &amp; Future Work</vt:lpstr>
      <vt:lpstr>Code, Runs &amp; Devices used for Training</vt:lpstr>
      <vt:lpstr>Bibliography</vt:lpstr>
      <vt:lpstr>THANK YOU FOR YOUR ATTENTION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filippo franceschini</dc:creator>
  <cp:lastModifiedBy>Samuel Piron</cp:lastModifiedBy>
  <cp:revision>264</cp:revision>
  <dcterms:created xsi:type="dcterms:W3CDTF">2024-11-19T14:57:57Z</dcterms:created>
  <dcterms:modified xsi:type="dcterms:W3CDTF">2025-04-09T18:52:24Z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2023-11-14T00:00:00Z</vt:filetime>
  </property>
  <property fmtid="{D5CDD505-2E9C-101B-9397-08002B2CF9AE}" pid="3" name="Creator">
    <vt:lpwstr>PDFium</vt:lpwstr>
  </property>
  <property fmtid="{D5CDD505-2E9C-101B-9397-08002B2CF9AE}" pid="4" name="LastSaved">
    <vt:filetime>2023-11-14T00:00:00Z</vt:filetime>
  </property>
</Properties>
</file>